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2000" y="444500"/>
            <a:ext cx="1524000" cy="228600"/>
          </a:xfrm>
          <a:prstGeom prst="roundRect">
            <a:avLst/>
          </a:prstGeom>
          <a:solidFill>
            <a:srgbClr val="EEF3F8"/>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482600"/>
            <a:ext cx="1333500" cy="177800"/>
          </a:xfrm>
          <a:prstGeom prst="rect">
            <a:avLst/>
          </a:prstGeom>
          <a:noFill/>
        </p:spPr>
        <p:txBody>
          <a:bodyPr wrap="square" anchor="t" lIns="25400" rIns="25400" tIns="0" bIns="0">
            <a:noAutofit/>
          </a:bodyPr>
          <a:lstStyle/>
          <a:p>
            <a:pPr algn="l">
              <a:lnSpc>
                <a:spcPct val="100000"/>
              </a:lnSpc>
            </a:pPr>
            <a:r>
              <a:rPr sz="1300" b="1">
                <a:solidFill>
                  <a:srgbClr val="60758D"/>
                </a:solidFill>
                <a:latin typeface="Arial"/>
              </a:rPr>
              <a:t>KIRKLAND AI × EMMANEIGH</a:t>
            </a:r>
          </a:p>
        </p:txBody>
      </p:sp>
      <p:sp>
        <p:nvSpPr>
          <p:cNvPr id="7" name="TextBox 6"/>
          <p:cNvSpPr txBox="1"/>
          <p:nvPr/>
        </p:nvSpPr>
        <p:spPr>
          <a:xfrm>
            <a:off x="762000" y="952500"/>
            <a:ext cx="4826000" cy="1270000"/>
          </a:xfrm>
          <a:prstGeom prst="rect">
            <a:avLst/>
          </a:prstGeom>
          <a:noFill/>
        </p:spPr>
        <p:txBody>
          <a:bodyPr wrap="square" anchor="t" lIns="25400" rIns="25400" tIns="0" bIns="0">
            <a:noAutofit/>
          </a:bodyPr>
          <a:lstStyle/>
          <a:p>
            <a:pPr algn="l">
              <a:lnSpc>
                <a:spcPct val="94000"/>
              </a:lnSpc>
            </a:pPr>
            <a:r>
              <a:rPr sz="4200" b="1">
                <a:solidFill>
                  <a:srgbClr val="17314F"/>
                </a:solidFill>
                <a:latin typeface="Arial Narrow"/>
              </a:rPr>
              <a:t>The model can reason.</a:t>
            </a:r>
          </a:p>
          <a:p>
            <a:pPr algn="l">
              <a:lnSpc>
                <a:spcPct val="94000"/>
              </a:lnSpc>
            </a:pPr>
            <a:r>
              <a:rPr sz="4200" b="1">
                <a:solidFill>
                  <a:srgbClr val="17314F"/>
                </a:solidFill>
                <a:latin typeface="Arial Narrow"/>
              </a:rPr>
              <a:t>EmmaNeigh makes it execute.</a:t>
            </a:r>
          </a:p>
        </p:txBody>
      </p:sp>
      <p:sp>
        <p:nvSpPr>
          <p:cNvPr id="8" name="TextBox 7"/>
          <p:cNvSpPr txBox="1"/>
          <p:nvPr/>
        </p:nvSpPr>
        <p:spPr>
          <a:xfrm>
            <a:off x="762000" y="2336800"/>
            <a:ext cx="4953000" cy="609600"/>
          </a:xfrm>
          <a:prstGeom prst="rect">
            <a:avLst/>
          </a:prstGeom>
          <a:noFill/>
        </p:spPr>
        <p:txBody>
          <a:bodyPr wrap="square" anchor="t" lIns="25400" rIns="25400" tIns="0" bIns="0">
            <a:noAutofit/>
          </a:bodyPr>
          <a:lstStyle/>
          <a:p>
            <a:pPr algn="l">
              <a:lnSpc>
                <a:spcPct val="100000"/>
              </a:lnSpc>
            </a:pPr>
            <a:r>
              <a:rPr sz="2000" b="1">
                <a:solidFill>
                  <a:srgbClr val="60758D"/>
                </a:solidFill>
                <a:latin typeface="Arial"/>
              </a:rPr>
              <a:t>A model-agnostic execution layer for matter administration, paralegal workflows, and document operations across the legal stack.</a:t>
            </a:r>
          </a:p>
        </p:txBody>
      </p:sp>
      <p:sp>
        <p:nvSpPr>
          <p:cNvPr id="9" name="Rounded Rectangle 8"/>
          <p:cNvSpPr/>
          <p:nvPr/>
        </p:nvSpPr>
        <p:spPr>
          <a:xfrm>
            <a:off x="6572250" y="749300"/>
            <a:ext cx="4730750" cy="45974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21500" y="990599"/>
            <a:ext cx="2032000" cy="292100"/>
          </a:xfrm>
          <a:prstGeom prst="rect">
            <a:avLst/>
          </a:prstGeom>
          <a:noFill/>
        </p:spPr>
        <p:txBody>
          <a:bodyPr wrap="square" anchor="t" lIns="25400" rIns="25400" tIns="0" bIns="0">
            <a:noAutofit/>
          </a:bodyPr>
          <a:lstStyle/>
          <a:p>
            <a:pPr algn="l">
              <a:lnSpc>
                <a:spcPct val="100000"/>
              </a:lnSpc>
            </a:pPr>
            <a:r>
              <a:rPr sz="2400" b="1">
                <a:solidFill>
                  <a:srgbClr val="17314F"/>
                </a:solidFill>
                <a:latin typeface="Arial Narrow"/>
              </a:rPr>
              <a:t>Execution layer</a:t>
            </a:r>
          </a:p>
        </p:txBody>
      </p:sp>
      <p:sp>
        <p:nvSpPr>
          <p:cNvPr id="11" name="TextBox 10"/>
          <p:cNvSpPr txBox="1"/>
          <p:nvPr/>
        </p:nvSpPr>
        <p:spPr>
          <a:xfrm>
            <a:off x="6921500" y="1397000"/>
            <a:ext cx="3937000" cy="711200"/>
          </a:xfrm>
          <a:prstGeom prst="rect">
            <a:avLst/>
          </a:prstGeom>
          <a:noFill/>
        </p:spPr>
        <p:txBody>
          <a:bodyPr wrap="square" anchor="t" lIns="25400" rIns="25400" tIns="0" bIns="0">
            <a:noAutofit/>
          </a:bodyPr>
          <a:lstStyle/>
          <a:p>
            <a:pPr algn="l">
              <a:lnSpc>
                <a:spcPct val="106000"/>
              </a:lnSpc>
            </a:pPr>
            <a:r>
              <a:rPr sz="1800" b="1">
                <a:solidFill>
                  <a:srgbClr val="39506B"/>
                </a:solidFill>
                <a:latin typeface="Arial"/>
              </a:rPr>
              <a:t>EmmaNeigh sits between the model and the operating stack. It turns intent into executable commands and routes the work across the tools lawyers already use.</a:t>
            </a:r>
          </a:p>
        </p:txBody>
      </p:sp>
      <p:sp>
        <p:nvSpPr>
          <p:cNvPr id="12" name="Rounded Rectangle 11"/>
          <p:cNvSpPr/>
          <p:nvPr/>
        </p:nvSpPr>
        <p:spPr>
          <a:xfrm>
            <a:off x="6921500" y="2324100"/>
            <a:ext cx="1143000" cy="3048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arvey.png"/>
          <p:cNvPicPr>
            <a:picLocks noChangeAspect="1"/>
          </p:cNvPicPr>
          <p:nvPr/>
        </p:nvPicPr>
        <p:blipFill>
          <a:blip r:embed="rId2"/>
          <a:stretch>
            <a:fillRect/>
          </a:stretch>
        </p:blipFill>
        <p:spPr>
          <a:xfrm>
            <a:off x="6997700" y="2362200"/>
            <a:ext cx="228600" cy="228600"/>
          </a:xfrm>
          <a:prstGeom prst="rect">
            <a:avLst/>
          </a:prstGeom>
        </p:spPr>
      </p:pic>
      <p:sp>
        <p:nvSpPr>
          <p:cNvPr id="14" name="TextBox 13"/>
          <p:cNvSpPr txBox="1"/>
          <p:nvPr/>
        </p:nvSpPr>
        <p:spPr>
          <a:xfrm>
            <a:off x="7289800" y="2355850"/>
            <a:ext cx="736600" cy="241300"/>
          </a:xfrm>
          <a:prstGeom prst="rect">
            <a:avLst/>
          </a:prstGeom>
          <a:noFill/>
        </p:spPr>
        <p:txBody>
          <a:bodyPr wrap="none" anchor="ctr" lIns="25400" rIns="25400" tIns="12700" bIns="12700">
            <a:noAutofit/>
          </a:bodyPr>
          <a:lstStyle/>
          <a:p>
            <a:pPr algn="l">
              <a:lnSpc>
                <a:spcPct val="100000"/>
              </a:lnSpc>
            </a:pPr>
            <a:r>
              <a:rPr sz="1500" b="1">
                <a:solidFill>
                  <a:srgbClr val="17314F"/>
                </a:solidFill>
                <a:latin typeface="Arial"/>
              </a:rPr>
              <a:t>Harvey</a:t>
            </a:r>
          </a:p>
        </p:txBody>
      </p:sp>
      <p:sp>
        <p:nvSpPr>
          <p:cNvPr id="15" name="Rounded Rectangle 14"/>
          <p:cNvSpPr/>
          <p:nvPr/>
        </p:nvSpPr>
        <p:spPr>
          <a:xfrm>
            <a:off x="8191500" y="2324100"/>
            <a:ext cx="1574800" cy="3048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400" y="2355850"/>
            <a:ext cx="1397000" cy="2413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Firm-approved model</a:t>
            </a:r>
          </a:p>
        </p:txBody>
      </p:sp>
      <p:sp>
        <p:nvSpPr>
          <p:cNvPr id="17" name="Rounded Rectangle 16"/>
          <p:cNvSpPr/>
          <p:nvPr/>
        </p:nvSpPr>
        <p:spPr>
          <a:xfrm>
            <a:off x="9880600" y="2324100"/>
            <a:ext cx="952500" cy="3048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9500" y="2355850"/>
            <a:ext cx="774700" cy="2413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Open model</a:t>
            </a:r>
          </a:p>
        </p:txBody>
      </p:sp>
      <p:sp>
        <p:nvSpPr>
          <p:cNvPr id="19" name="Rounded Rectangle 18"/>
          <p:cNvSpPr/>
          <p:nvPr/>
        </p:nvSpPr>
        <p:spPr>
          <a:xfrm>
            <a:off x="6921500" y="2692400"/>
            <a:ext cx="1727200" cy="3048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10400" y="2724150"/>
            <a:ext cx="1549400" cy="241300"/>
          </a:xfrm>
          <a:prstGeom prst="rect">
            <a:avLst/>
          </a:prstGeom>
          <a:noFill/>
        </p:spPr>
        <p:txBody>
          <a:bodyPr wrap="none" anchor="ctr" lIns="25400" rIns="25400" tIns="12700" bIns="12700">
            <a:noAutofit/>
          </a:bodyPr>
          <a:lstStyle/>
          <a:p>
            <a:pPr algn="l">
              <a:lnSpc>
                <a:spcPct val="100000"/>
              </a:lnSpc>
            </a:pPr>
            <a:r>
              <a:rPr sz="1300" b="1">
                <a:solidFill>
                  <a:srgbClr val="17314F"/>
                </a:solidFill>
                <a:latin typeface="Arial"/>
              </a:rPr>
              <a:t>Future internal model</a:t>
            </a:r>
          </a:p>
        </p:txBody>
      </p:sp>
      <p:sp>
        <p:nvSpPr>
          <p:cNvPr id="21" name="Rounded Rectangle 20"/>
          <p:cNvSpPr/>
          <p:nvPr/>
        </p:nvSpPr>
        <p:spPr>
          <a:xfrm>
            <a:off x="8775700" y="2692400"/>
            <a:ext cx="1714500" cy="3048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4600" y="2724150"/>
            <a:ext cx="1536700" cy="241300"/>
          </a:xfrm>
          <a:prstGeom prst="rect">
            <a:avLst/>
          </a:prstGeom>
          <a:noFill/>
        </p:spPr>
        <p:txBody>
          <a:bodyPr wrap="none" anchor="ctr" lIns="25400" rIns="25400" tIns="12700" bIns="12700">
            <a:noAutofit/>
          </a:bodyPr>
          <a:lstStyle/>
          <a:p>
            <a:pPr algn="l">
              <a:lnSpc>
                <a:spcPct val="100000"/>
              </a:lnSpc>
            </a:pPr>
            <a:r>
              <a:rPr sz="1300" b="1">
                <a:solidFill>
                  <a:srgbClr val="17314F"/>
                </a:solidFill>
                <a:latin typeface="Arial"/>
              </a:rPr>
              <a:t>Managed remote model</a:t>
            </a:r>
          </a:p>
        </p:txBody>
      </p:sp>
      <p:sp>
        <p:nvSpPr>
          <p:cNvPr id="23" name="Rounded Rectangle 22"/>
          <p:cNvSpPr/>
          <p:nvPr/>
        </p:nvSpPr>
        <p:spPr>
          <a:xfrm>
            <a:off x="6921500" y="3390900"/>
            <a:ext cx="3937000" cy="520700"/>
          </a:xfrm>
          <a:prstGeom prst="roundRect">
            <a:avLst/>
          </a:prstGeom>
          <a:solidFill>
            <a:srgbClr val="EDF5FF"/>
          </a:solidFill>
          <a:ln w="19050">
            <a:solidFill>
              <a:srgbClr val="90B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7400" y="3492500"/>
            <a:ext cx="2921000" cy="228600"/>
          </a:xfrm>
          <a:prstGeom prst="rect">
            <a:avLst/>
          </a:prstGeom>
          <a:noFill/>
        </p:spPr>
        <p:txBody>
          <a:bodyPr wrap="square" anchor="t" lIns="25400" rIns="25400" tIns="0" bIns="0">
            <a:noAutofit/>
          </a:bodyPr>
          <a:lstStyle/>
          <a:p>
            <a:pPr algn="l">
              <a:lnSpc>
                <a:spcPct val="100000"/>
              </a:lnSpc>
            </a:pPr>
            <a:r>
              <a:rPr sz="2000" b="1">
                <a:solidFill>
                  <a:srgbClr val="17314F"/>
                </a:solidFill>
                <a:latin typeface="Arial Narrow"/>
              </a:rPr>
              <a:t>EmmaNeigh execution fabric</a:t>
            </a:r>
          </a:p>
        </p:txBody>
      </p:sp>
      <p:sp>
        <p:nvSpPr>
          <p:cNvPr id="25" name="Rounded Rectangle 24"/>
          <p:cNvSpPr/>
          <p:nvPr/>
        </p:nvSpPr>
        <p:spPr>
          <a:xfrm>
            <a:off x="6921500" y="4254500"/>
            <a:ext cx="120650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outlook.png"/>
          <p:cNvPicPr>
            <a:picLocks noChangeAspect="1"/>
          </p:cNvPicPr>
          <p:nvPr/>
        </p:nvPicPr>
        <p:blipFill>
          <a:blip r:embed="rId3"/>
          <a:stretch>
            <a:fillRect/>
          </a:stretch>
        </p:blipFill>
        <p:spPr>
          <a:xfrm>
            <a:off x="6997700" y="4292600"/>
            <a:ext cx="215900" cy="215900"/>
          </a:xfrm>
          <a:prstGeom prst="rect">
            <a:avLst/>
          </a:prstGeom>
        </p:spPr>
      </p:pic>
      <p:sp>
        <p:nvSpPr>
          <p:cNvPr id="27" name="TextBox 26"/>
          <p:cNvSpPr txBox="1"/>
          <p:nvPr/>
        </p:nvSpPr>
        <p:spPr>
          <a:xfrm>
            <a:off x="7277100" y="4286250"/>
            <a:ext cx="81280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Outlook</a:t>
            </a:r>
          </a:p>
        </p:txBody>
      </p:sp>
      <p:sp>
        <p:nvSpPr>
          <p:cNvPr id="28" name="Rounded Rectangle 27"/>
          <p:cNvSpPr/>
          <p:nvPr/>
        </p:nvSpPr>
        <p:spPr>
          <a:xfrm>
            <a:off x="8223250" y="4254500"/>
            <a:ext cx="95250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word.png"/>
          <p:cNvPicPr>
            <a:picLocks noChangeAspect="1"/>
          </p:cNvPicPr>
          <p:nvPr/>
        </p:nvPicPr>
        <p:blipFill>
          <a:blip r:embed="rId4"/>
          <a:stretch>
            <a:fillRect/>
          </a:stretch>
        </p:blipFill>
        <p:spPr>
          <a:xfrm>
            <a:off x="8299450" y="4292600"/>
            <a:ext cx="215900" cy="215900"/>
          </a:xfrm>
          <a:prstGeom prst="rect">
            <a:avLst/>
          </a:prstGeom>
        </p:spPr>
      </p:pic>
      <p:sp>
        <p:nvSpPr>
          <p:cNvPr id="30" name="TextBox 29"/>
          <p:cNvSpPr txBox="1"/>
          <p:nvPr/>
        </p:nvSpPr>
        <p:spPr>
          <a:xfrm>
            <a:off x="8578850" y="4286250"/>
            <a:ext cx="55880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Word</a:t>
            </a:r>
          </a:p>
        </p:txBody>
      </p:sp>
      <p:sp>
        <p:nvSpPr>
          <p:cNvPr id="31" name="Rounded Rectangle 30"/>
          <p:cNvSpPr/>
          <p:nvPr/>
        </p:nvSpPr>
        <p:spPr>
          <a:xfrm>
            <a:off x="9271000" y="4254500"/>
            <a:ext cx="111125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obe.png"/>
          <p:cNvPicPr>
            <a:picLocks noChangeAspect="1"/>
          </p:cNvPicPr>
          <p:nvPr/>
        </p:nvPicPr>
        <p:blipFill>
          <a:blip r:embed="rId5"/>
          <a:stretch>
            <a:fillRect/>
          </a:stretch>
        </p:blipFill>
        <p:spPr>
          <a:xfrm>
            <a:off x="9347200" y="4292600"/>
            <a:ext cx="215900" cy="215900"/>
          </a:xfrm>
          <a:prstGeom prst="rect">
            <a:avLst/>
          </a:prstGeom>
        </p:spPr>
      </p:pic>
      <p:sp>
        <p:nvSpPr>
          <p:cNvPr id="33" name="TextBox 32"/>
          <p:cNvSpPr txBox="1"/>
          <p:nvPr/>
        </p:nvSpPr>
        <p:spPr>
          <a:xfrm>
            <a:off x="9626600" y="4286250"/>
            <a:ext cx="71755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Adobe</a:t>
            </a:r>
          </a:p>
        </p:txBody>
      </p:sp>
      <p:sp>
        <p:nvSpPr>
          <p:cNvPr id="34" name="Rounded Rectangle 33"/>
          <p:cNvSpPr/>
          <p:nvPr/>
        </p:nvSpPr>
        <p:spPr>
          <a:xfrm>
            <a:off x="6921500" y="4635500"/>
            <a:ext cx="127000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docusign.png"/>
          <p:cNvPicPr>
            <a:picLocks noChangeAspect="1"/>
          </p:cNvPicPr>
          <p:nvPr/>
        </p:nvPicPr>
        <p:blipFill>
          <a:blip r:embed="rId6"/>
          <a:stretch>
            <a:fillRect/>
          </a:stretch>
        </p:blipFill>
        <p:spPr>
          <a:xfrm>
            <a:off x="6997700" y="4673600"/>
            <a:ext cx="215900" cy="215900"/>
          </a:xfrm>
          <a:prstGeom prst="rect">
            <a:avLst/>
          </a:prstGeom>
        </p:spPr>
      </p:pic>
      <p:sp>
        <p:nvSpPr>
          <p:cNvPr id="36" name="TextBox 35"/>
          <p:cNvSpPr txBox="1"/>
          <p:nvPr/>
        </p:nvSpPr>
        <p:spPr>
          <a:xfrm>
            <a:off x="7277100" y="4667250"/>
            <a:ext cx="87630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DocuSign</a:t>
            </a:r>
          </a:p>
        </p:txBody>
      </p:sp>
      <p:sp>
        <p:nvSpPr>
          <p:cNvPr id="37" name="Rounded Rectangle 36"/>
          <p:cNvSpPr/>
          <p:nvPr/>
        </p:nvSpPr>
        <p:spPr>
          <a:xfrm>
            <a:off x="8286750" y="4635500"/>
            <a:ext cx="95250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itera_favicon.png"/>
          <p:cNvPicPr>
            <a:picLocks noChangeAspect="1"/>
          </p:cNvPicPr>
          <p:nvPr/>
        </p:nvPicPr>
        <p:blipFill>
          <a:blip r:embed="rId7"/>
          <a:stretch>
            <a:fillRect/>
          </a:stretch>
        </p:blipFill>
        <p:spPr>
          <a:xfrm>
            <a:off x="8362950" y="4673600"/>
            <a:ext cx="215900" cy="215900"/>
          </a:xfrm>
          <a:prstGeom prst="rect">
            <a:avLst/>
          </a:prstGeom>
        </p:spPr>
      </p:pic>
      <p:sp>
        <p:nvSpPr>
          <p:cNvPr id="39" name="TextBox 38"/>
          <p:cNvSpPr txBox="1"/>
          <p:nvPr/>
        </p:nvSpPr>
        <p:spPr>
          <a:xfrm>
            <a:off x="8642350" y="4667250"/>
            <a:ext cx="55880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Litera</a:t>
            </a:r>
          </a:p>
        </p:txBody>
      </p:sp>
      <p:sp>
        <p:nvSpPr>
          <p:cNvPr id="40" name="Rounded Rectangle 39"/>
          <p:cNvSpPr/>
          <p:nvPr/>
        </p:nvSpPr>
        <p:spPr>
          <a:xfrm>
            <a:off x="9334500" y="4635500"/>
            <a:ext cx="1365250" cy="2921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nage.png"/>
          <p:cNvPicPr>
            <a:picLocks noChangeAspect="1"/>
          </p:cNvPicPr>
          <p:nvPr/>
        </p:nvPicPr>
        <p:blipFill>
          <a:blip r:embed="rId8"/>
          <a:stretch>
            <a:fillRect/>
          </a:stretch>
        </p:blipFill>
        <p:spPr>
          <a:xfrm>
            <a:off x="9410700" y="4740330"/>
            <a:ext cx="215900" cy="82438"/>
          </a:xfrm>
          <a:prstGeom prst="rect">
            <a:avLst/>
          </a:prstGeom>
        </p:spPr>
      </p:pic>
      <p:sp>
        <p:nvSpPr>
          <p:cNvPr id="42" name="TextBox 41"/>
          <p:cNvSpPr txBox="1"/>
          <p:nvPr/>
        </p:nvSpPr>
        <p:spPr>
          <a:xfrm>
            <a:off x="9690100" y="4667250"/>
            <a:ext cx="971550" cy="2286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iManage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The bottleneck is execution across the</a:t>
            </a:r>
          </a:p>
          <a:p>
            <a:pPr algn="l">
              <a:lnSpc>
                <a:spcPct val="95000"/>
              </a:lnSpc>
            </a:pPr>
            <a:r>
              <a:rPr sz="3600" b="1">
                <a:solidFill>
                  <a:srgbClr val="17314F"/>
                </a:solidFill>
                <a:latin typeface="Arial Narrow"/>
              </a:rPr>
              <a:t>desktop stack.</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Cloud AI can answer questions. The actual work still lives across local files, desktop applications, and firm systems.</a:t>
            </a:r>
          </a:p>
        </p:txBody>
      </p:sp>
      <p:sp>
        <p:nvSpPr>
          <p:cNvPr id="7" name="TextBox 6"/>
          <p:cNvSpPr txBox="1"/>
          <p:nvPr/>
        </p:nvSpPr>
        <p:spPr>
          <a:xfrm>
            <a:off x="762000" y="1905000"/>
            <a:ext cx="1778000" cy="177800"/>
          </a:xfrm>
          <a:prstGeom prst="rect">
            <a:avLst/>
          </a:prstGeom>
          <a:noFill/>
        </p:spPr>
        <p:txBody>
          <a:bodyPr wrap="square" anchor="t" lIns="25400" rIns="25400" tIns="0" bIns="0">
            <a:noAutofit/>
          </a:bodyPr>
          <a:lstStyle/>
          <a:p>
            <a:pPr algn="l">
              <a:lnSpc>
                <a:spcPct val="100000"/>
              </a:lnSpc>
            </a:pPr>
            <a:r>
              <a:rPr sz="1300" b="1">
                <a:solidFill>
                  <a:srgbClr val="60758D"/>
                </a:solidFill>
                <a:latin typeface="Arial"/>
              </a:rPr>
              <a:t>Representative matter stack</a:t>
            </a:r>
          </a:p>
        </p:txBody>
      </p:sp>
      <p:sp>
        <p:nvSpPr>
          <p:cNvPr id="8" name="Rounded Rectangle 7"/>
          <p:cNvSpPr/>
          <p:nvPr/>
        </p:nvSpPr>
        <p:spPr>
          <a:xfrm>
            <a:off x="762000" y="21336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utlook.png"/>
          <p:cNvPicPr>
            <a:picLocks noChangeAspect="1"/>
          </p:cNvPicPr>
          <p:nvPr/>
        </p:nvPicPr>
        <p:blipFill>
          <a:blip r:embed="rId2"/>
          <a:stretch>
            <a:fillRect/>
          </a:stretch>
        </p:blipFill>
        <p:spPr>
          <a:xfrm>
            <a:off x="876300" y="2247900"/>
            <a:ext cx="177800" cy="177800"/>
          </a:xfrm>
          <a:prstGeom prst="rect">
            <a:avLst/>
          </a:prstGeom>
        </p:spPr>
      </p:pic>
      <p:sp>
        <p:nvSpPr>
          <p:cNvPr id="10" name="TextBox 9"/>
          <p:cNvSpPr txBox="1"/>
          <p:nvPr/>
        </p:nvSpPr>
        <p:spPr>
          <a:xfrm>
            <a:off x="1117600" y="22352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Outlook</a:t>
            </a:r>
          </a:p>
        </p:txBody>
      </p:sp>
      <p:sp>
        <p:nvSpPr>
          <p:cNvPr id="11" name="Rectangle 10"/>
          <p:cNvSpPr/>
          <p:nvPr/>
        </p:nvSpPr>
        <p:spPr>
          <a:xfrm>
            <a:off x="876300" y="2463800"/>
            <a:ext cx="635000" cy="3175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6300" y="25781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Search matter traffic, save attachments, confirm who sent what</a:t>
            </a:r>
          </a:p>
        </p:txBody>
      </p:sp>
      <p:sp>
        <p:nvSpPr>
          <p:cNvPr id="13" name="Rounded Rectangle 12"/>
          <p:cNvSpPr/>
          <p:nvPr/>
        </p:nvSpPr>
        <p:spPr>
          <a:xfrm>
            <a:off x="2603500" y="21336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tera_favicon.png"/>
          <p:cNvPicPr>
            <a:picLocks noChangeAspect="1"/>
          </p:cNvPicPr>
          <p:nvPr/>
        </p:nvPicPr>
        <p:blipFill>
          <a:blip r:embed="rId3"/>
          <a:stretch>
            <a:fillRect/>
          </a:stretch>
        </p:blipFill>
        <p:spPr>
          <a:xfrm>
            <a:off x="2717800" y="2247900"/>
            <a:ext cx="177800" cy="177800"/>
          </a:xfrm>
          <a:prstGeom prst="rect">
            <a:avLst/>
          </a:prstGeom>
        </p:spPr>
      </p:pic>
      <p:sp>
        <p:nvSpPr>
          <p:cNvPr id="15" name="TextBox 14"/>
          <p:cNvSpPr txBox="1"/>
          <p:nvPr/>
        </p:nvSpPr>
        <p:spPr>
          <a:xfrm>
            <a:off x="2959100" y="22352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Litera</a:t>
            </a:r>
          </a:p>
        </p:txBody>
      </p:sp>
      <p:sp>
        <p:nvSpPr>
          <p:cNvPr id="16" name="Rectangle 15"/>
          <p:cNvSpPr/>
          <p:nvPr/>
        </p:nvSpPr>
        <p:spPr>
          <a:xfrm>
            <a:off x="2717800" y="2463800"/>
            <a:ext cx="635000" cy="3175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7800" y="25781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Run redlines and produce comparison output</a:t>
            </a:r>
          </a:p>
        </p:txBody>
      </p:sp>
      <p:sp>
        <p:nvSpPr>
          <p:cNvPr id="18" name="Rounded Rectangle 17"/>
          <p:cNvSpPr/>
          <p:nvPr/>
        </p:nvSpPr>
        <p:spPr>
          <a:xfrm>
            <a:off x="4445000" y="21336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nage.png"/>
          <p:cNvPicPr>
            <a:picLocks noChangeAspect="1"/>
          </p:cNvPicPr>
          <p:nvPr/>
        </p:nvPicPr>
        <p:blipFill>
          <a:blip r:embed="rId4"/>
          <a:stretch>
            <a:fillRect/>
          </a:stretch>
        </p:blipFill>
        <p:spPr>
          <a:xfrm>
            <a:off x="4559300" y="2302854"/>
            <a:ext cx="177800" cy="67890"/>
          </a:xfrm>
          <a:prstGeom prst="rect">
            <a:avLst/>
          </a:prstGeom>
        </p:spPr>
      </p:pic>
      <p:sp>
        <p:nvSpPr>
          <p:cNvPr id="20" name="TextBox 19"/>
          <p:cNvSpPr txBox="1"/>
          <p:nvPr/>
        </p:nvSpPr>
        <p:spPr>
          <a:xfrm>
            <a:off x="4800600" y="22352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iManage</a:t>
            </a:r>
          </a:p>
        </p:txBody>
      </p:sp>
      <p:sp>
        <p:nvSpPr>
          <p:cNvPr id="21" name="Rectangle 20"/>
          <p:cNvSpPr/>
          <p:nvPr/>
        </p:nvSpPr>
        <p:spPr>
          <a:xfrm>
            <a:off x="4559300" y="2463800"/>
            <a:ext cx="635000" cy="31750"/>
          </a:xfrm>
          <a:prstGeom prst="rect">
            <a:avLst/>
          </a:prstGeom>
          <a:solidFill>
            <a:srgbClr val="128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9300" y="25781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Browse, save, version, and organize matter files</a:t>
            </a:r>
          </a:p>
        </p:txBody>
      </p:sp>
      <p:sp>
        <p:nvSpPr>
          <p:cNvPr id="23" name="Rounded Rectangle 22"/>
          <p:cNvSpPr/>
          <p:nvPr/>
        </p:nvSpPr>
        <p:spPr>
          <a:xfrm>
            <a:off x="762000" y="33020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obe.png"/>
          <p:cNvPicPr>
            <a:picLocks noChangeAspect="1"/>
          </p:cNvPicPr>
          <p:nvPr/>
        </p:nvPicPr>
        <p:blipFill>
          <a:blip r:embed="rId5"/>
          <a:stretch>
            <a:fillRect/>
          </a:stretch>
        </p:blipFill>
        <p:spPr>
          <a:xfrm>
            <a:off x="876300" y="3416300"/>
            <a:ext cx="177800" cy="177800"/>
          </a:xfrm>
          <a:prstGeom prst="rect">
            <a:avLst/>
          </a:prstGeom>
        </p:spPr>
      </p:pic>
      <p:sp>
        <p:nvSpPr>
          <p:cNvPr id="25" name="TextBox 24"/>
          <p:cNvSpPr txBox="1"/>
          <p:nvPr/>
        </p:nvSpPr>
        <p:spPr>
          <a:xfrm>
            <a:off x="1117600" y="34036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Adobe</a:t>
            </a:r>
          </a:p>
        </p:txBody>
      </p:sp>
      <p:sp>
        <p:nvSpPr>
          <p:cNvPr id="26" name="Rectangle 25"/>
          <p:cNvSpPr/>
          <p:nvPr/>
        </p:nvSpPr>
        <p:spPr>
          <a:xfrm>
            <a:off x="876300" y="3632200"/>
            <a:ext cx="635000" cy="3175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6300" y="37465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Clean PDFs, remove pages, combine sets, and prep signature materials</a:t>
            </a:r>
          </a:p>
        </p:txBody>
      </p:sp>
      <p:sp>
        <p:nvSpPr>
          <p:cNvPr id="28" name="Rounded Rectangle 27"/>
          <p:cNvSpPr/>
          <p:nvPr/>
        </p:nvSpPr>
        <p:spPr>
          <a:xfrm>
            <a:off x="2603500" y="33020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docusign.png"/>
          <p:cNvPicPr>
            <a:picLocks noChangeAspect="1"/>
          </p:cNvPicPr>
          <p:nvPr/>
        </p:nvPicPr>
        <p:blipFill>
          <a:blip r:embed="rId6"/>
          <a:stretch>
            <a:fillRect/>
          </a:stretch>
        </p:blipFill>
        <p:spPr>
          <a:xfrm>
            <a:off x="2717800" y="3416300"/>
            <a:ext cx="177800" cy="177800"/>
          </a:xfrm>
          <a:prstGeom prst="rect">
            <a:avLst/>
          </a:prstGeom>
        </p:spPr>
      </p:pic>
      <p:sp>
        <p:nvSpPr>
          <p:cNvPr id="30" name="TextBox 29"/>
          <p:cNvSpPr txBox="1"/>
          <p:nvPr/>
        </p:nvSpPr>
        <p:spPr>
          <a:xfrm>
            <a:off x="2959100" y="34036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DocuSign</a:t>
            </a:r>
          </a:p>
        </p:txBody>
      </p:sp>
      <p:sp>
        <p:nvSpPr>
          <p:cNvPr id="31" name="Rectangle 30"/>
          <p:cNvSpPr/>
          <p:nvPr/>
        </p:nvSpPr>
        <p:spPr>
          <a:xfrm>
            <a:off x="2717800" y="3632200"/>
            <a:ext cx="635000" cy="3175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17800" y="37465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Circulate signature pages and rebuild executed versions</a:t>
            </a:r>
          </a:p>
        </p:txBody>
      </p:sp>
      <p:sp>
        <p:nvSpPr>
          <p:cNvPr id="33" name="Rounded Rectangle 32"/>
          <p:cNvSpPr/>
          <p:nvPr/>
        </p:nvSpPr>
        <p:spPr>
          <a:xfrm>
            <a:off x="4445000" y="3302000"/>
            <a:ext cx="1651000" cy="10668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word.png"/>
          <p:cNvPicPr>
            <a:picLocks noChangeAspect="1"/>
          </p:cNvPicPr>
          <p:nvPr/>
        </p:nvPicPr>
        <p:blipFill>
          <a:blip r:embed="rId7"/>
          <a:stretch>
            <a:fillRect/>
          </a:stretch>
        </p:blipFill>
        <p:spPr>
          <a:xfrm>
            <a:off x="4559300" y="3416300"/>
            <a:ext cx="177800" cy="177800"/>
          </a:xfrm>
          <a:prstGeom prst="rect">
            <a:avLst/>
          </a:prstGeom>
        </p:spPr>
      </p:pic>
      <p:sp>
        <p:nvSpPr>
          <p:cNvPr id="35" name="TextBox 34"/>
          <p:cNvSpPr txBox="1"/>
          <p:nvPr/>
        </p:nvSpPr>
        <p:spPr>
          <a:xfrm>
            <a:off x="4800600" y="3403600"/>
            <a:ext cx="1181100" cy="190500"/>
          </a:xfrm>
          <a:prstGeom prst="rect">
            <a:avLst/>
          </a:prstGeom>
          <a:noFill/>
        </p:spPr>
        <p:txBody>
          <a:bodyPr wrap="square" anchor="t" lIns="25400" rIns="25400" tIns="0" bIns="0">
            <a:noAutofit/>
          </a:bodyPr>
          <a:lstStyle/>
          <a:p>
            <a:pPr algn="l">
              <a:lnSpc>
                <a:spcPct val="100000"/>
              </a:lnSpc>
            </a:pPr>
            <a:r>
              <a:rPr sz="1700" b="1">
                <a:solidFill>
                  <a:srgbClr val="17314F"/>
                </a:solidFill>
                <a:latin typeface="Arial"/>
              </a:rPr>
              <a:t>Word</a:t>
            </a:r>
          </a:p>
        </p:txBody>
      </p:sp>
      <p:sp>
        <p:nvSpPr>
          <p:cNvPr id="36" name="Rectangle 35"/>
          <p:cNvSpPr/>
          <p:nvPr/>
        </p:nvSpPr>
        <p:spPr>
          <a:xfrm>
            <a:off x="4559300" y="3632200"/>
            <a:ext cx="635000" cy="31750"/>
          </a:xfrm>
          <a:prstGeom prst="rect">
            <a:avLst/>
          </a:prstGeom>
          <a:solidFill>
            <a:srgbClr val="6B8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59300" y="3746500"/>
            <a:ext cx="1422400" cy="508000"/>
          </a:xfrm>
          <a:prstGeom prst="rect">
            <a:avLst/>
          </a:prstGeom>
          <a:noFill/>
        </p:spPr>
        <p:txBody>
          <a:bodyPr wrap="square" anchor="t" lIns="25400" rIns="25400" tIns="0" bIns="0">
            <a:noAutofit/>
          </a:bodyPr>
          <a:lstStyle/>
          <a:p>
            <a:pPr algn="l">
              <a:lnSpc>
                <a:spcPct val="100000"/>
              </a:lnSpc>
            </a:pPr>
            <a:r>
              <a:rPr sz="1300" b="1">
                <a:solidFill>
                  <a:srgbClr val="4D6581"/>
                </a:solidFill>
                <a:latin typeface="Arial"/>
              </a:rPr>
              <a:t>Prepare clean documents and convert deliverables</a:t>
            </a:r>
          </a:p>
        </p:txBody>
      </p:sp>
      <p:sp>
        <p:nvSpPr>
          <p:cNvPr id="38" name="Rounded Rectangle 37"/>
          <p:cNvSpPr/>
          <p:nvPr/>
        </p:nvSpPr>
        <p:spPr>
          <a:xfrm>
            <a:off x="6223000" y="2070100"/>
            <a:ext cx="5207000" cy="2730500"/>
          </a:xfrm>
          <a:prstGeom prst="roundRect">
            <a:avLst/>
          </a:prstGeom>
          <a:solidFill>
            <a:srgbClr val="F3F5F8"/>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harvey.png"/>
          <p:cNvPicPr>
            <a:picLocks noChangeAspect="1"/>
          </p:cNvPicPr>
          <p:nvPr/>
        </p:nvPicPr>
        <p:blipFill>
          <a:blip r:embed="rId8"/>
          <a:stretch>
            <a:fillRect/>
          </a:stretch>
        </p:blipFill>
        <p:spPr>
          <a:xfrm>
            <a:off x="6388100" y="2184400"/>
            <a:ext cx="165100" cy="165100"/>
          </a:xfrm>
          <a:prstGeom prst="rect">
            <a:avLst/>
          </a:prstGeom>
        </p:spPr>
      </p:pic>
      <p:sp>
        <p:nvSpPr>
          <p:cNvPr id="40" name="TextBox 39"/>
          <p:cNvSpPr txBox="1"/>
          <p:nvPr/>
        </p:nvSpPr>
        <p:spPr>
          <a:xfrm>
            <a:off x="6616700" y="2184400"/>
            <a:ext cx="762000" cy="152400"/>
          </a:xfrm>
          <a:prstGeom prst="rect">
            <a:avLst/>
          </a:prstGeom>
          <a:noFill/>
        </p:spPr>
        <p:txBody>
          <a:bodyPr wrap="square" anchor="t" lIns="25400" rIns="25400" tIns="0" bIns="0">
            <a:noAutofit/>
          </a:bodyPr>
          <a:lstStyle/>
          <a:p>
            <a:pPr algn="l">
              <a:lnSpc>
                <a:spcPct val="100000"/>
              </a:lnSpc>
            </a:pPr>
            <a:r>
              <a:rPr sz="1300" b="1">
                <a:solidFill>
                  <a:srgbClr val="60758D"/>
                </a:solidFill>
                <a:latin typeface="Arial"/>
              </a:rPr>
              <a:t>Harvey</a:t>
            </a:r>
          </a:p>
        </p:txBody>
      </p:sp>
      <p:sp>
        <p:nvSpPr>
          <p:cNvPr id="41" name="Rounded Rectangle 40"/>
          <p:cNvSpPr/>
          <p:nvPr/>
        </p:nvSpPr>
        <p:spPr>
          <a:xfrm>
            <a:off x="6413500" y="2400300"/>
            <a:ext cx="4826000" cy="3937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78600" y="2489200"/>
            <a:ext cx="4572000" cy="215900"/>
          </a:xfrm>
          <a:prstGeom prst="rect">
            <a:avLst/>
          </a:prstGeom>
          <a:noFill/>
        </p:spPr>
        <p:txBody>
          <a:bodyPr wrap="square" anchor="t" lIns="25400" rIns="25400" tIns="0" bIns="0">
            <a:noAutofit/>
          </a:bodyPr>
          <a:lstStyle/>
          <a:p>
            <a:pPr algn="l">
              <a:lnSpc>
                <a:spcPct val="100000"/>
              </a:lnSpc>
            </a:pPr>
            <a:r>
              <a:rPr sz="1400" b="1">
                <a:solidFill>
                  <a:srgbClr val="334155"/>
                </a:solidFill>
                <a:latin typeface="Arial"/>
              </a:rPr>
              <a:t>Can you take this PDF and remove the signature pages to create a signature packet?</a:t>
            </a:r>
          </a:p>
        </p:txBody>
      </p:sp>
      <p:sp>
        <p:nvSpPr>
          <p:cNvPr id="43" name="TextBox 42"/>
          <p:cNvSpPr txBox="1"/>
          <p:nvPr/>
        </p:nvSpPr>
        <p:spPr>
          <a:xfrm>
            <a:off x="6413500" y="2921000"/>
            <a:ext cx="2032000" cy="152400"/>
          </a:xfrm>
          <a:prstGeom prst="rect">
            <a:avLst/>
          </a:prstGeom>
          <a:noFill/>
        </p:spPr>
        <p:txBody>
          <a:bodyPr wrap="square" anchor="t" lIns="25400" rIns="25400" tIns="0" bIns="0">
            <a:noAutofit/>
          </a:bodyPr>
          <a:lstStyle/>
          <a:p>
            <a:pPr algn="l">
              <a:lnSpc>
                <a:spcPct val="100000"/>
              </a:lnSpc>
            </a:pPr>
            <a:r>
              <a:rPr sz="1000" b="1">
                <a:solidFill>
                  <a:srgbClr val="8B9BB0"/>
                </a:solidFill>
                <a:latin typeface="Arial"/>
              </a:rPr>
              <a:t>Copy      Save prompt      Edit query</a:t>
            </a:r>
          </a:p>
        </p:txBody>
      </p:sp>
      <p:sp>
        <p:nvSpPr>
          <p:cNvPr id="44" name="TextBox 43"/>
          <p:cNvSpPr txBox="1"/>
          <p:nvPr/>
        </p:nvSpPr>
        <p:spPr>
          <a:xfrm>
            <a:off x="6413500" y="3111500"/>
            <a:ext cx="1397000" cy="165100"/>
          </a:xfrm>
          <a:prstGeom prst="rect">
            <a:avLst/>
          </a:prstGeom>
          <a:noFill/>
        </p:spPr>
        <p:txBody>
          <a:bodyPr wrap="square" anchor="t" lIns="25400" rIns="25400" tIns="0" bIns="0">
            <a:noAutofit/>
          </a:bodyPr>
          <a:lstStyle/>
          <a:p>
            <a:pPr algn="l">
              <a:lnSpc>
                <a:spcPct val="100000"/>
              </a:lnSpc>
            </a:pPr>
            <a:r>
              <a:rPr sz="1300" b="1">
                <a:solidFill>
                  <a:srgbClr val="1F2937"/>
                </a:solidFill>
                <a:latin typeface="Arial"/>
              </a:rPr>
              <a:t>Finished in 3 steps</a:t>
            </a:r>
          </a:p>
        </p:txBody>
      </p:sp>
      <p:sp>
        <p:nvSpPr>
          <p:cNvPr id="45" name="TextBox 44"/>
          <p:cNvSpPr txBox="1"/>
          <p:nvPr/>
        </p:nvSpPr>
        <p:spPr>
          <a:xfrm>
            <a:off x="6413500" y="3378200"/>
            <a:ext cx="4508500" cy="876300"/>
          </a:xfrm>
          <a:prstGeom prst="rect">
            <a:avLst/>
          </a:prstGeom>
          <a:noFill/>
        </p:spPr>
        <p:txBody>
          <a:bodyPr wrap="square" anchor="t" lIns="25400" rIns="25400" tIns="0" bIns="0">
            <a:noAutofit/>
          </a:bodyPr>
          <a:lstStyle/>
          <a:p>
            <a:pPr algn="l">
              <a:lnSpc>
                <a:spcPct val="100000"/>
              </a:lnSpc>
            </a:pPr>
            <a:r>
              <a:rPr sz="1500" b="1">
                <a:solidFill>
                  <a:srgbClr val="334155"/>
                </a:solidFill>
                <a:latin typeface="Arial"/>
              </a:rPr>
              <a:t>I appreciate the request, but I'm not able to create, edit, or modify PDF files or any other file types. I can only read and analyze the content of uploaded documents, not produce new versions of them.</a:t>
            </a:r>
          </a:p>
        </p:txBody>
      </p:sp>
      <p:sp>
        <p:nvSpPr>
          <p:cNvPr id="46" name="Rounded Rectangle 45"/>
          <p:cNvSpPr/>
          <p:nvPr/>
        </p:nvSpPr>
        <p:spPr>
          <a:xfrm>
            <a:off x="6223000" y="4953000"/>
            <a:ext cx="5207000" cy="749300"/>
          </a:xfrm>
          <a:prstGeom prst="roundRect">
            <a:avLst/>
          </a:prstGeom>
          <a:solidFill>
            <a:srgbClr val="FFF7E8"/>
          </a:solidFill>
          <a:ln w="19050">
            <a:solidFill>
              <a:srgbClr val="EDD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13500" y="5118100"/>
            <a:ext cx="4826000" cy="419100"/>
          </a:xfrm>
          <a:prstGeom prst="rect">
            <a:avLst/>
          </a:prstGeom>
          <a:noFill/>
        </p:spPr>
        <p:txBody>
          <a:bodyPr wrap="square" anchor="t" lIns="25400" rIns="25400" tIns="0" bIns="0">
            <a:noAutofit/>
          </a:bodyPr>
          <a:lstStyle/>
          <a:p>
            <a:pPr algn="l">
              <a:lnSpc>
                <a:spcPct val="100000"/>
              </a:lnSpc>
            </a:pPr>
            <a:r>
              <a:rPr sz="1500" b="1">
                <a:solidFill>
                  <a:srgbClr val="B7791F"/>
                </a:solidFill>
                <a:latin typeface="Arial"/>
              </a:rPr>
              <a:t>Key point: the model is not refusing because the task is unintelligent. It is refusing because it does not have the operating-system and application-level execution surface.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EmmaNeigh unifies reasoning and</a:t>
            </a:r>
          </a:p>
          <a:p>
            <a:pPr algn="l">
              <a:lnSpc>
                <a:spcPct val="95000"/>
              </a:lnSpc>
            </a:pPr>
            <a:r>
              <a:rPr sz="3600" b="1">
                <a:solidFill>
                  <a:srgbClr val="17314F"/>
                </a:solidFill>
                <a:latin typeface="Arial Narrow"/>
              </a:rPr>
              <a:t>execution.</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AI determines what should happen. EmmaNeigh determines how to execute it across connected software and files.</a:t>
            </a:r>
          </a:p>
        </p:txBody>
      </p:sp>
      <p:sp>
        <p:nvSpPr>
          <p:cNvPr id="7" name="Rounded Rectangle 6"/>
          <p:cNvSpPr/>
          <p:nvPr/>
        </p:nvSpPr>
        <p:spPr>
          <a:xfrm>
            <a:off x="762000" y="1993899"/>
            <a:ext cx="10668000" cy="3848099"/>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9500" y="2222500"/>
            <a:ext cx="2032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1. Reasoning layer</a:t>
            </a:r>
          </a:p>
        </p:txBody>
      </p:sp>
      <p:sp>
        <p:nvSpPr>
          <p:cNvPr id="9" name="TextBox 8"/>
          <p:cNvSpPr txBox="1"/>
          <p:nvPr/>
        </p:nvSpPr>
        <p:spPr>
          <a:xfrm>
            <a:off x="1079500" y="2540000"/>
            <a:ext cx="2286000" cy="444500"/>
          </a:xfrm>
          <a:prstGeom prst="rect">
            <a:avLst/>
          </a:prstGeom>
          <a:noFill/>
        </p:spPr>
        <p:txBody>
          <a:bodyPr wrap="square" anchor="t" lIns="25400" rIns="25400" tIns="0" bIns="0">
            <a:noAutofit/>
          </a:bodyPr>
          <a:lstStyle/>
          <a:p>
            <a:pPr algn="l">
              <a:lnSpc>
                <a:spcPct val="100000"/>
              </a:lnSpc>
            </a:pPr>
            <a:r>
              <a:rPr sz="1600" b="1">
                <a:solidFill>
                  <a:srgbClr val="39506B"/>
                </a:solidFill>
                <a:latin typeface="Arial"/>
              </a:rPr>
              <a:t>Harvey or another model interprets the request, identifies the workflow, and fills in the parameters.</a:t>
            </a:r>
          </a:p>
        </p:txBody>
      </p:sp>
      <p:sp>
        <p:nvSpPr>
          <p:cNvPr id="10" name="Rounded Rectangle 9"/>
          <p:cNvSpPr/>
          <p:nvPr/>
        </p:nvSpPr>
        <p:spPr>
          <a:xfrm>
            <a:off x="1079500" y="3124200"/>
            <a:ext cx="952500" cy="2540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arvey.png"/>
          <p:cNvPicPr>
            <a:picLocks noChangeAspect="1"/>
          </p:cNvPicPr>
          <p:nvPr/>
        </p:nvPicPr>
        <p:blipFill>
          <a:blip r:embed="rId2"/>
          <a:stretch>
            <a:fillRect/>
          </a:stretch>
        </p:blipFill>
        <p:spPr>
          <a:xfrm>
            <a:off x="1155700" y="3162300"/>
            <a:ext cx="177800" cy="177800"/>
          </a:xfrm>
          <a:prstGeom prst="rect">
            <a:avLst/>
          </a:prstGeom>
        </p:spPr>
      </p:pic>
      <p:sp>
        <p:nvSpPr>
          <p:cNvPr id="12" name="TextBox 11"/>
          <p:cNvSpPr txBox="1"/>
          <p:nvPr/>
        </p:nvSpPr>
        <p:spPr>
          <a:xfrm>
            <a:off x="1397000" y="3155950"/>
            <a:ext cx="596900" cy="190500"/>
          </a:xfrm>
          <a:prstGeom prst="rect">
            <a:avLst/>
          </a:prstGeom>
          <a:noFill/>
        </p:spPr>
        <p:txBody>
          <a:bodyPr wrap="none" anchor="ctr" lIns="25400" rIns="25400" tIns="12700" bIns="12700">
            <a:noAutofit/>
          </a:bodyPr>
          <a:lstStyle/>
          <a:p>
            <a:pPr algn="l">
              <a:lnSpc>
                <a:spcPct val="100000"/>
              </a:lnSpc>
            </a:pPr>
            <a:r>
              <a:rPr sz="1500" b="1">
                <a:solidFill>
                  <a:srgbClr val="17314F"/>
                </a:solidFill>
                <a:latin typeface="Arial"/>
              </a:rPr>
              <a:t>Harvey</a:t>
            </a:r>
          </a:p>
        </p:txBody>
      </p:sp>
      <p:sp>
        <p:nvSpPr>
          <p:cNvPr id="13" name="Rounded Rectangle 12"/>
          <p:cNvSpPr/>
          <p:nvPr/>
        </p:nvSpPr>
        <p:spPr>
          <a:xfrm>
            <a:off x="1079500" y="3454400"/>
            <a:ext cx="1143000" cy="2540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8400" y="3486150"/>
            <a:ext cx="965200" cy="190500"/>
          </a:xfrm>
          <a:prstGeom prst="rect">
            <a:avLst/>
          </a:prstGeom>
          <a:noFill/>
        </p:spPr>
        <p:txBody>
          <a:bodyPr wrap="none" anchor="ctr" lIns="25400" rIns="25400" tIns="12700" bIns="12700">
            <a:noAutofit/>
          </a:bodyPr>
          <a:lstStyle/>
          <a:p>
            <a:pPr algn="l">
              <a:lnSpc>
                <a:spcPct val="100000"/>
              </a:lnSpc>
            </a:pPr>
            <a:r>
              <a:rPr sz="1500" b="1">
                <a:solidFill>
                  <a:srgbClr val="17314F"/>
                </a:solidFill>
                <a:latin typeface="Arial"/>
              </a:rPr>
              <a:t>Other model</a:t>
            </a:r>
          </a:p>
        </p:txBody>
      </p:sp>
      <p:sp>
        <p:nvSpPr>
          <p:cNvPr id="15" name="Rounded Rectangle 14"/>
          <p:cNvSpPr/>
          <p:nvPr/>
        </p:nvSpPr>
        <p:spPr>
          <a:xfrm>
            <a:off x="1079500" y="3810000"/>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6500" y="3759199"/>
            <a:ext cx="2857500" cy="279400"/>
          </a:xfrm>
          <a:prstGeom prst="rect">
            <a:avLst/>
          </a:prstGeom>
          <a:noFill/>
        </p:spPr>
        <p:txBody>
          <a:bodyPr wrap="square" anchor="t" lIns="25400" rIns="25400" tIns="0" bIns="0">
            <a:noAutofit/>
          </a:bodyPr>
          <a:lstStyle/>
          <a:p>
            <a:pPr algn="l">
              <a:lnSpc>
                <a:spcPct val="100000"/>
              </a:lnSpc>
            </a:pPr>
            <a:r>
              <a:rPr sz="1500" b="0">
                <a:solidFill>
                  <a:srgbClr val="17314F"/>
                </a:solidFill>
                <a:latin typeface="Arial"/>
              </a:rPr>
              <a:t>Execution does not require AI; it requires connectors, file operations, and system access.</a:t>
            </a:r>
          </a:p>
        </p:txBody>
      </p:sp>
      <p:sp>
        <p:nvSpPr>
          <p:cNvPr id="17" name="Rounded Rectangle 16"/>
          <p:cNvSpPr/>
          <p:nvPr/>
        </p:nvSpPr>
        <p:spPr>
          <a:xfrm>
            <a:off x="1079500" y="4152900"/>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6500" y="4102099"/>
            <a:ext cx="2857500" cy="279400"/>
          </a:xfrm>
          <a:prstGeom prst="rect">
            <a:avLst/>
          </a:prstGeom>
          <a:noFill/>
        </p:spPr>
        <p:txBody>
          <a:bodyPr wrap="square" anchor="t" lIns="25400" rIns="25400" tIns="0" bIns="0">
            <a:noAutofit/>
          </a:bodyPr>
          <a:lstStyle/>
          <a:p>
            <a:pPr algn="l">
              <a:lnSpc>
                <a:spcPct val="100000"/>
              </a:lnSpc>
            </a:pPr>
            <a:r>
              <a:rPr sz="1500" b="0">
                <a:solidFill>
                  <a:srgbClr val="17314F"/>
                </a:solidFill>
                <a:latin typeface="Arial"/>
              </a:rPr>
              <a:t>EmmaNeigh stays model agnostic as reasoning models improve. AI simply makes the workflows easier to invoke.</a:t>
            </a:r>
          </a:p>
        </p:txBody>
      </p:sp>
      <p:sp>
        <p:nvSpPr>
          <p:cNvPr id="19" name="TextBox 18"/>
          <p:cNvSpPr txBox="1"/>
          <p:nvPr/>
        </p:nvSpPr>
        <p:spPr>
          <a:xfrm>
            <a:off x="4826000" y="2222500"/>
            <a:ext cx="2921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2. EmmaNeigh execution layer</a:t>
            </a:r>
          </a:p>
        </p:txBody>
      </p:sp>
      <p:sp>
        <p:nvSpPr>
          <p:cNvPr id="20" name="Rounded Rectangle 19"/>
          <p:cNvSpPr/>
          <p:nvPr/>
        </p:nvSpPr>
        <p:spPr>
          <a:xfrm>
            <a:off x="4826000" y="2540000"/>
            <a:ext cx="6223000" cy="609600"/>
          </a:xfrm>
          <a:prstGeom prst="roundRect">
            <a:avLst/>
          </a:prstGeom>
          <a:solidFill>
            <a:srgbClr val="EDF5FF"/>
          </a:solidFill>
          <a:ln w="19050">
            <a:solidFill>
              <a:srgbClr val="90B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80000" y="2692400"/>
            <a:ext cx="5461000" cy="279400"/>
          </a:xfrm>
          <a:prstGeom prst="rect">
            <a:avLst/>
          </a:prstGeom>
          <a:noFill/>
        </p:spPr>
        <p:txBody>
          <a:bodyPr wrap="square" anchor="t" lIns="25400" rIns="25400" tIns="0" bIns="0">
            <a:noAutofit/>
          </a:bodyPr>
          <a:lstStyle/>
          <a:p>
            <a:pPr algn="l">
              <a:lnSpc>
                <a:spcPct val="100000"/>
              </a:lnSpc>
            </a:pPr>
            <a:r>
              <a:rPr sz="2200" b="1">
                <a:solidFill>
                  <a:srgbClr val="163962"/>
                </a:solidFill>
                <a:latin typeface="Arial Narrow"/>
              </a:rPr>
              <a:t>Turns natural-language intent into machine-readable commands and deterministic workflows.</a:t>
            </a:r>
          </a:p>
        </p:txBody>
      </p:sp>
      <p:sp>
        <p:nvSpPr>
          <p:cNvPr id="22" name="TextBox 21"/>
          <p:cNvSpPr txBox="1"/>
          <p:nvPr/>
        </p:nvSpPr>
        <p:spPr>
          <a:xfrm>
            <a:off x="4826000" y="3390900"/>
            <a:ext cx="4445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3. Operating systems and applications</a:t>
            </a:r>
          </a:p>
        </p:txBody>
      </p:sp>
      <p:sp>
        <p:nvSpPr>
          <p:cNvPr id="23" name="Rounded Rectangle 22"/>
          <p:cNvSpPr/>
          <p:nvPr/>
        </p:nvSpPr>
        <p:spPr>
          <a:xfrm>
            <a:off x="4826000" y="3771900"/>
            <a:ext cx="1206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obe.png"/>
          <p:cNvPicPr>
            <a:picLocks noChangeAspect="1"/>
          </p:cNvPicPr>
          <p:nvPr/>
        </p:nvPicPr>
        <p:blipFill>
          <a:blip r:embed="rId3"/>
          <a:stretch>
            <a:fillRect/>
          </a:stretch>
        </p:blipFill>
        <p:spPr>
          <a:xfrm>
            <a:off x="4902200" y="3810000"/>
            <a:ext cx="190500" cy="190500"/>
          </a:xfrm>
          <a:prstGeom prst="rect">
            <a:avLst/>
          </a:prstGeom>
        </p:spPr>
      </p:pic>
      <p:sp>
        <p:nvSpPr>
          <p:cNvPr id="25" name="TextBox 24"/>
          <p:cNvSpPr txBox="1"/>
          <p:nvPr/>
        </p:nvSpPr>
        <p:spPr>
          <a:xfrm>
            <a:off x="5156200" y="3803650"/>
            <a:ext cx="838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Local files</a:t>
            </a:r>
          </a:p>
        </p:txBody>
      </p:sp>
      <p:sp>
        <p:nvSpPr>
          <p:cNvPr id="26" name="Rounded Rectangle 25"/>
          <p:cNvSpPr/>
          <p:nvPr/>
        </p:nvSpPr>
        <p:spPr>
          <a:xfrm>
            <a:off x="6121400" y="3771900"/>
            <a:ext cx="11430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outlook.png"/>
          <p:cNvPicPr>
            <a:picLocks noChangeAspect="1"/>
          </p:cNvPicPr>
          <p:nvPr/>
        </p:nvPicPr>
        <p:blipFill>
          <a:blip r:embed="rId4"/>
          <a:stretch>
            <a:fillRect/>
          </a:stretch>
        </p:blipFill>
        <p:spPr>
          <a:xfrm>
            <a:off x="6197600" y="3810000"/>
            <a:ext cx="190500" cy="190500"/>
          </a:xfrm>
          <a:prstGeom prst="rect">
            <a:avLst/>
          </a:prstGeom>
        </p:spPr>
      </p:pic>
      <p:sp>
        <p:nvSpPr>
          <p:cNvPr id="28" name="TextBox 27"/>
          <p:cNvSpPr txBox="1"/>
          <p:nvPr/>
        </p:nvSpPr>
        <p:spPr>
          <a:xfrm>
            <a:off x="6451600" y="3803650"/>
            <a:ext cx="7747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Outlook</a:t>
            </a:r>
          </a:p>
        </p:txBody>
      </p:sp>
      <p:sp>
        <p:nvSpPr>
          <p:cNvPr id="29" name="Rounded Rectangle 28"/>
          <p:cNvSpPr/>
          <p:nvPr/>
        </p:nvSpPr>
        <p:spPr>
          <a:xfrm>
            <a:off x="7353299" y="3771900"/>
            <a:ext cx="952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ord.png"/>
          <p:cNvPicPr>
            <a:picLocks noChangeAspect="1"/>
          </p:cNvPicPr>
          <p:nvPr/>
        </p:nvPicPr>
        <p:blipFill>
          <a:blip r:embed="rId5"/>
          <a:stretch>
            <a:fillRect/>
          </a:stretch>
        </p:blipFill>
        <p:spPr>
          <a:xfrm>
            <a:off x="7429500" y="3810000"/>
            <a:ext cx="190500" cy="190500"/>
          </a:xfrm>
          <a:prstGeom prst="rect">
            <a:avLst/>
          </a:prstGeom>
        </p:spPr>
      </p:pic>
      <p:sp>
        <p:nvSpPr>
          <p:cNvPr id="31" name="TextBox 30"/>
          <p:cNvSpPr txBox="1"/>
          <p:nvPr/>
        </p:nvSpPr>
        <p:spPr>
          <a:xfrm>
            <a:off x="7683500" y="3803650"/>
            <a:ext cx="584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Word</a:t>
            </a:r>
          </a:p>
        </p:txBody>
      </p:sp>
      <p:sp>
        <p:nvSpPr>
          <p:cNvPr id="32" name="Rounded Rectangle 31"/>
          <p:cNvSpPr/>
          <p:nvPr/>
        </p:nvSpPr>
        <p:spPr>
          <a:xfrm>
            <a:off x="8394700" y="3771900"/>
            <a:ext cx="1047749"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dobe.png"/>
          <p:cNvPicPr>
            <a:picLocks noChangeAspect="1"/>
          </p:cNvPicPr>
          <p:nvPr/>
        </p:nvPicPr>
        <p:blipFill>
          <a:blip r:embed="rId3"/>
          <a:stretch>
            <a:fillRect/>
          </a:stretch>
        </p:blipFill>
        <p:spPr>
          <a:xfrm>
            <a:off x="8470900" y="3810000"/>
            <a:ext cx="190500" cy="190500"/>
          </a:xfrm>
          <a:prstGeom prst="rect">
            <a:avLst/>
          </a:prstGeom>
        </p:spPr>
      </p:pic>
      <p:sp>
        <p:nvSpPr>
          <p:cNvPr id="34" name="TextBox 33"/>
          <p:cNvSpPr txBox="1"/>
          <p:nvPr/>
        </p:nvSpPr>
        <p:spPr>
          <a:xfrm>
            <a:off x="8724900" y="3803650"/>
            <a:ext cx="67945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Adobe</a:t>
            </a:r>
          </a:p>
        </p:txBody>
      </p:sp>
      <p:sp>
        <p:nvSpPr>
          <p:cNvPr id="35" name="Rounded Rectangle 34"/>
          <p:cNvSpPr/>
          <p:nvPr/>
        </p:nvSpPr>
        <p:spPr>
          <a:xfrm>
            <a:off x="9531350" y="3771900"/>
            <a:ext cx="952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itera_favicon.png"/>
          <p:cNvPicPr>
            <a:picLocks noChangeAspect="1"/>
          </p:cNvPicPr>
          <p:nvPr/>
        </p:nvPicPr>
        <p:blipFill>
          <a:blip r:embed="rId6"/>
          <a:stretch>
            <a:fillRect/>
          </a:stretch>
        </p:blipFill>
        <p:spPr>
          <a:xfrm>
            <a:off x="9607550" y="3810000"/>
            <a:ext cx="190500" cy="190500"/>
          </a:xfrm>
          <a:prstGeom prst="rect">
            <a:avLst/>
          </a:prstGeom>
        </p:spPr>
      </p:pic>
      <p:sp>
        <p:nvSpPr>
          <p:cNvPr id="37" name="TextBox 36"/>
          <p:cNvSpPr txBox="1"/>
          <p:nvPr/>
        </p:nvSpPr>
        <p:spPr>
          <a:xfrm>
            <a:off x="9861550" y="3803650"/>
            <a:ext cx="584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Litera</a:t>
            </a:r>
          </a:p>
        </p:txBody>
      </p:sp>
      <p:sp>
        <p:nvSpPr>
          <p:cNvPr id="38" name="Rounded Rectangle 37"/>
          <p:cNvSpPr/>
          <p:nvPr/>
        </p:nvSpPr>
        <p:spPr>
          <a:xfrm>
            <a:off x="4826000" y="4114800"/>
            <a:ext cx="1206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docusign.png"/>
          <p:cNvPicPr>
            <a:picLocks noChangeAspect="1"/>
          </p:cNvPicPr>
          <p:nvPr/>
        </p:nvPicPr>
        <p:blipFill>
          <a:blip r:embed="rId7"/>
          <a:stretch>
            <a:fillRect/>
          </a:stretch>
        </p:blipFill>
        <p:spPr>
          <a:xfrm>
            <a:off x="4902200" y="4152900"/>
            <a:ext cx="190500" cy="190500"/>
          </a:xfrm>
          <a:prstGeom prst="rect">
            <a:avLst/>
          </a:prstGeom>
        </p:spPr>
      </p:pic>
      <p:sp>
        <p:nvSpPr>
          <p:cNvPr id="40" name="TextBox 39"/>
          <p:cNvSpPr txBox="1"/>
          <p:nvPr/>
        </p:nvSpPr>
        <p:spPr>
          <a:xfrm>
            <a:off x="5156200" y="4146550"/>
            <a:ext cx="838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DocuSign</a:t>
            </a:r>
          </a:p>
        </p:txBody>
      </p:sp>
      <p:sp>
        <p:nvSpPr>
          <p:cNvPr id="41" name="Rounded Rectangle 40"/>
          <p:cNvSpPr/>
          <p:nvPr/>
        </p:nvSpPr>
        <p:spPr>
          <a:xfrm>
            <a:off x="6134100" y="4114800"/>
            <a:ext cx="13970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nage.png"/>
          <p:cNvPicPr>
            <a:picLocks noChangeAspect="1"/>
          </p:cNvPicPr>
          <p:nvPr/>
        </p:nvPicPr>
        <p:blipFill>
          <a:blip r:embed="rId8"/>
          <a:stretch>
            <a:fillRect/>
          </a:stretch>
        </p:blipFill>
        <p:spPr>
          <a:xfrm>
            <a:off x="6210300" y="4211780"/>
            <a:ext cx="190500" cy="72739"/>
          </a:xfrm>
          <a:prstGeom prst="rect">
            <a:avLst/>
          </a:prstGeom>
        </p:spPr>
      </p:pic>
      <p:sp>
        <p:nvSpPr>
          <p:cNvPr id="43" name="TextBox 42"/>
          <p:cNvSpPr txBox="1"/>
          <p:nvPr/>
        </p:nvSpPr>
        <p:spPr>
          <a:xfrm>
            <a:off x="6464300" y="4146550"/>
            <a:ext cx="10287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iManage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What EmmaNeigh already executes</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The workflow surface is already practical and operational, not theoretical.</a:t>
            </a:r>
          </a:p>
        </p:txBody>
      </p:sp>
      <p:sp>
        <p:nvSpPr>
          <p:cNvPr id="7" name="Rounded Rectangle 6"/>
          <p:cNvSpPr/>
          <p:nvPr/>
        </p:nvSpPr>
        <p:spPr>
          <a:xfrm>
            <a:off x="762000" y="20066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utlook.png"/>
          <p:cNvPicPr>
            <a:picLocks noChangeAspect="1"/>
          </p:cNvPicPr>
          <p:nvPr/>
        </p:nvPicPr>
        <p:blipFill>
          <a:blip r:embed="rId2"/>
          <a:stretch>
            <a:fillRect/>
          </a:stretch>
        </p:blipFill>
        <p:spPr>
          <a:xfrm>
            <a:off x="876300" y="2120900"/>
            <a:ext cx="177800" cy="177800"/>
          </a:xfrm>
          <a:prstGeom prst="rect">
            <a:avLst/>
          </a:prstGeom>
        </p:spPr>
      </p:pic>
      <p:sp>
        <p:nvSpPr>
          <p:cNvPr id="9" name="TextBox 8"/>
          <p:cNvSpPr txBox="1"/>
          <p:nvPr/>
        </p:nvSpPr>
        <p:spPr>
          <a:xfrm>
            <a:off x="1117600" y="21082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Checklist updates</a:t>
            </a:r>
          </a:p>
        </p:txBody>
      </p:sp>
      <p:sp>
        <p:nvSpPr>
          <p:cNvPr id="10" name="Rectangle 9"/>
          <p:cNvSpPr/>
          <p:nvPr/>
        </p:nvSpPr>
        <p:spPr>
          <a:xfrm>
            <a:off x="876300" y="2336800"/>
            <a:ext cx="635000" cy="3175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6300" y="2451100"/>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Upload a checklist, scan matter activity, and update comments and status.</a:t>
            </a:r>
          </a:p>
        </p:txBody>
      </p:sp>
      <p:sp>
        <p:nvSpPr>
          <p:cNvPr id="12" name="Rounded Rectangle 11"/>
          <p:cNvSpPr/>
          <p:nvPr/>
        </p:nvSpPr>
        <p:spPr>
          <a:xfrm>
            <a:off x="4279900" y="20066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nage.png"/>
          <p:cNvPicPr>
            <a:picLocks noChangeAspect="1"/>
          </p:cNvPicPr>
          <p:nvPr/>
        </p:nvPicPr>
        <p:blipFill>
          <a:blip r:embed="rId3"/>
          <a:stretch>
            <a:fillRect/>
          </a:stretch>
        </p:blipFill>
        <p:spPr>
          <a:xfrm>
            <a:off x="4394200" y="2175854"/>
            <a:ext cx="177800" cy="67890"/>
          </a:xfrm>
          <a:prstGeom prst="rect">
            <a:avLst/>
          </a:prstGeom>
        </p:spPr>
      </p:pic>
      <p:sp>
        <p:nvSpPr>
          <p:cNvPr id="14" name="TextBox 13"/>
          <p:cNvSpPr txBox="1"/>
          <p:nvPr/>
        </p:nvSpPr>
        <p:spPr>
          <a:xfrm>
            <a:off x="4635500" y="21082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Punchlists</a:t>
            </a:r>
          </a:p>
        </p:txBody>
      </p:sp>
      <p:sp>
        <p:nvSpPr>
          <p:cNvPr id="15" name="Rectangle 14"/>
          <p:cNvSpPr/>
          <p:nvPr/>
        </p:nvSpPr>
        <p:spPr>
          <a:xfrm>
            <a:off x="4394200" y="2336800"/>
            <a:ext cx="635000" cy="31750"/>
          </a:xfrm>
          <a:prstGeom prst="rect">
            <a:avLst/>
          </a:prstGeom>
          <a:solidFill>
            <a:srgbClr val="6B8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200" y="2451100"/>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Turn a working checklist into a cleaner matter-management punchlist.</a:t>
            </a:r>
          </a:p>
        </p:txBody>
      </p:sp>
      <p:sp>
        <p:nvSpPr>
          <p:cNvPr id="17" name="Rounded Rectangle 16"/>
          <p:cNvSpPr/>
          <p:nvPr/>
        </p:nvSpPr>
        <p:spPr>
          <a:xfrm>
            <a:off x="762000" y="33147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tera_favicon.png"/>
          <p:cNvPicPr>
            <a:picLocks noChangeAspect="1"/>
          </p:cNvPicPr>
          <p:nvPr/>
        </p:nvPicPr>
        <p:blipFill>
          <a:blip r:embed="rId4"/>
          <a:stretch>
            <a:fillRect/>
          </a:stretch>
        </p:blipFill>
        <p:spPr>
          <a:xfrm>
            <a:off x="876300" y="3429000"/>
            <a:ext cx="177800" cy="177800"/>
          </a:xfrm>
          <a:prstGeom prst="rect">
            <a:avLst/>
          </a:prstGeom>
        </p:spPr>
      </p:pic>
      <p:sp>
        <p:nvSpPr>
          <p:cNvPr id="19" name="TextBox 18"/>
          <p:cNvSpPr txBox="1"/>
          <p:nvPr/>
        </p:nvSpPr>
        <p:spPr>
          <a:xfrm>
            <a:off x="1117600" y="34163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Redlines</a:t>
            </a:r>
          </a:p>
        </p:txBody>
      </p:sp>
      <p:sp>
        <p:nvSpPr>
          <p:cNvPr id="20" name="Rectangle 19"/>
          <p:cNvSpPr/>
          <p:nvPr/>
        </p:nvSpPr>
        <p:spPr>
          <a:xfrm>
            <a:off x="876300" y="3644900"/>
            <a:ext cx="635000" cy="3175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300" y="3759199"/>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Run Litera comparisons and generate comparison outputs.</a:t>
            </a:r>
          </a:p>
        </p:txBody>
      </p:sp>
      <p:sp>
        <p:nvSpPr>
          <p:cNvPr id="22" name="Rounded Rectangle 21"/>
          <p:cNvSpPr/>
          <p:nvPr/>
        </p:nvSpPr>
        <p:spPr>
          <a:xfrm>
            <a:off x="4279900" y="33147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dobe.png"/>
          <p:cNvPicPr>
            <a:picLocks noChangeAspect="1"/>
          </p:cNvPicPr>
          <p:nvPr/>
        </p:nvPicPr>
        <p:blipFill>
          <a:blip r:embed="rId5"/>
          <a:stretch>
            <a:fillRect/>
          </a:stretch>
        </p:blipFill>
        <p:spPr>
          <a:xfrm>
            <a:off x="4394200" y="3429000"/>
            <a:ext cx="177800" cy="177800"/>
          </a:xfrm>
          <a:prstGeom prst="rect">
            <a:avLst/>
          </a:prstGeom>
        </p:spPr>
      </p:pic>
      <p:sp>
        <p:nvSpPr>
          <p:cNvPr id="24" name="TextBox 23"/>
          <p:cNvSpPr txBox="1"/>
          <p:nvPr/>
        </p:nvSpPr>
        <p:spPr>
          <a:xfrm>
            <a:off x="4635500" y="34163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PDF workflows</a:t>
            </a:r>
          </a:p>
        </p:txBody>
      </p:sp>
      <p:sp>
        <p:nvSpPr>
          <p:cNvPr id="25" name="Rectangle 24"/>
          <p:cNvSpPr/>
          <p:nvPr/>
        </p:nvSpPr>
        <p:spPr>
          <a:xfrm>
            <a:off x="4394200" y="3644900"/>
            <a:ext cx="635000" cy="3175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94200" y="3759199"/>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Remove signature pages, combine sets, and prep execution-ready PDF materials.</a:t>
            </a:r>
          </a:p>
        </p:txBody>
      </p:sp>
      <p:sp>
        <p:nvSpPr>
          <p:cNvPr id="27" name="Rounded Rectangle 26"/>
          <p:cNvSpPr/>
          <p:nvPr/>
        </p:nvSpPr>
        <p:spPr>
          <a:xfrm>
            <a:off x="762000" y="46228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ocusign.png"/>
          <p:cNvPicPr>
            <a:picLocks noChangeAspect="1"/>
          </p:cNvPicPr>
          <p:nvPr/>
        </p:nvPicPr>
        <p:blipFill>
          <a:blip r:embed="rId6"/>
          <a:stretch>
            <a:fillRect/>
          </a:stretch>
        </p:blipFill>
        <p:spPr>
          <a:xfrm>
            <a:off x="876300" y="4737100"/>
            <a:ext cx="177800" cy="177800"/>
          </a:xfrm>
          <a:prstGeom prst="rect">
            <a:avLst/>
          </a:prstGeom>
        </p:spPr>
      </p:pic>
      <p:sp>
        <p:nvSpPr>
          <p:cNvPr id="29" name="TextBox 28"/>
          <p:cNvSpPr txBox="1"/>
          <p:nvPr/>
        </p:nvSpPr>
        <p:spPr>
          <a:xfrm>
            <a:off x="1117600" y="47244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Executed versions</a:t>
            </a:r>
          </a:p>
        </p:txBody>
      </p:sp>
      <p:sp>
        <p:nvSpPr>
          <p:cNvPr id="30" name="Rectangle 29"/>
          <p:cNvSpPr/>
          <p:nvPr/>
        </p:nvSpPr>
        <p:spPr>
          <a:xfrm>
            <a:off x="876300" y="4953000"/>
            <a:ext cx="635000" cy="3175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300" y="5067300"/>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Match signed pages back into agreements and rebuild executed sets.</a:t>
            </a:r>
          </a:p>
        </p:txBody>
      </p:sp>
      <p:sp>
        <p:nvSpPr>
          <p:cNvPr id="32" name="Rounded Rectangle 31"/>
          <p:cNvSpPr/>
          <p:nvPr/>
        </p:nvSpPr>
        <p:spPr>
          <a:xfrm>
            <a:off x="4279900" y="4622800"/>
            <a:ext cx="3365500" cy="1155700"/>
          </a:xfrm>
          <a:prstGeom prst="roundRect">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nage.png"/>
          <p:cNvPicPr>
            <a:picLocks noChangeAspect="1"/>
          </p:cNvPicPr>
          <p:nvPr/>
        </p:nvPicPr>
        <p:blipFill>
          <a:blip r:embed="rId3"/>
          <a:stretch>
            <a:fillRect/>
          </a:stretch>
        </p:blipFill>
        <p:spPr>
          <a:xfrm>
            <a:off x="4394200" y="4792054"/>
            <a:ext cx="177800" cy="67890"/>
          </a:xfrm>
          <a:prstGeom prst="rect">
            <a:avLst/>
          </a:prstGeom>
        </p:spPr>
      </p:pic>
      <p:sp>
        <p:nvSpPr>
          <p:cNvPr id="34" name="TextBox 33"/>
          <p:cNvSpPr txBox="1"/>
          <p:nvPr/>
        </p:nvSpPr>
        <p:spPr>
          <a:xfrm>
            <a:off x="4635500" y="4724400"/>
            <a:ext cx="2895600" cy="190500"/>
          </a:xfrm>
          <a:prstGeom prst="rect">
            <a:avLst/>
          </a:prstGeom>
          <a:noFill/>
        </p:spPr>
        <p:txBody>
          <a:bodyPr wrap="square" anchor="t" lIns="25400" rIns="25400" tIns="0" bIns="0">
            <a:noAutofit/>
          </a:bodyPr>
          <a:lstStyle/>
          <a:p>
            <a:pPr algn="l">
              <a:lnSpc>
                <a:spcPct val="100000"/>
              </a:lnSpc>
            </a:pPr>
            <a:r>
              <a:rPr sz="1800" b="1">
                <a:solidFill>
                  <a:srgbClr val="17314F"/>
                </a:solidFill>
                <a:latin typeface="Arial"/>
              </a:rPr>
              <a:t>Document movement</a:t>
            </a:r>
          </a:p>
        </p:txBody>
      </p:sp>
      <p:sp>
        <p:nvSpPr>
          <p:cNvPr id="35" name="Rectangle 34"/>
          <p:cNvSpPr/>
          <p:nvPr/>
        </p:nvSpPr>
        <p:spPr>
          <a:xfrm>
            <a:off x="4394200" y="4953000"/>
            <a:ext cx="635000" cy="31750"/>
          </a:xfrm>
          <a:prstGeom prst="rect">
            <a:avLst/>
          </a:prstGeom>
          <a:solidFill>
            <a:srgbClr val="128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94200" y="5067300"/>
            <a:ext cx="3136900" cy="596900"/>
          </a:xfrm>
          <a:prstGeom prst="rect">
            <a:avLst/>
          </a:prstGeom>
          <a:noFill/>
        </p:spPr>
        <p:txBody>
          <a:bodyPr wrap="square" anchor="t" lIns="25400" rIns="25400" tIns="0" bIns="0">
            <a:noAutofit/>
          </a:bodyPr>
          <a:lstStyle/>
          <a:p>
            <a:pPr algn="l">
              <a:lnSpc>
                <a:spcPct val="100000"/>
              </a:lnSpc>
            </a:pPr>
            <a:r>
              <a:rPr sz="1400" b="1">
                <a:solidFill>
                  <a:srgbClr val="4D6581"/>
                </a:solidFill>
                <a:latin typeface="Arial"/>
              </a:rPr>
              <a:t>Move, convert, save, and organize deliverables across files and connected systems.</a:t>
            </a:r>
          </a:p>
        </p:txBody>
      </p:sp>
      <p:sp>
        <p:nvSpPr>
          <p:cNvPr id="37" name="Rounded Rectangle 36"/>
          <p:cNvSpPr/>
          <p:nvPr/>
        </p:nvSpPr>
        <p:spPr>
          <a:xfrm>
            <a:off x="7924799" y="2006600"/>
            <a:ext cx="3505200" cy="35560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1500" y="2222500"/>
            <a:ext cx="1905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Operating principle</a:t>
            </a:r>
          </a:p>
        </p:txBody>
      </p:sp>
      <p:sp>
        <p:nvSpPr>
          <p:cNvPr id="39" name="Rounded Rectangle 38"/>
          <p:cNvSpPr/>
          <p:nvPr/>
        </p:nvSpPr>
        <p:spPr>
          <a:xfrm>
            <a:off x="8191500" y="2857500"/>
            <a:ext cx="50800" cy="50800"/>
          </a:xfrm>
          <a:prstGeom prst="round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18499" y="2806700"/>
            <a:ext cx="2730500" cy="292100"/>
          </a:xfrm>
          <a:prstGeom prst="rect">
            <a:avLst/>
          </a:prstGeom>
          <a:noFill/>
        </p:spPr>
        <p:txBody>
          <a:bodyPr wrap="square" anchor="t" lIns="25400" rIns="25400" tIns="0" bIns="0">
            <a:noAutofit/>
          </a:bodyPr>
          <a:lstStyle/>
          <a:p>
            <a:pPr algn="l">
              <a:lnSpc>
                <a:spcPct val="100000"/>
              </a:lnSpc>
            </a:pPr>
            <a:r>
              <a:rPr sz="1600" b="0">
                <a:solidFill>
                  <a:srgbClr val="17314F"/>
                </a:solidFill>
                <a:latin typeface="Arial"/>
              </a:rPr>
              <a:t>These workflows can be invoked manually or via AI routing.</a:t>
            </a:r>
          </a:p>
        </p:txBody>
      </p:sp>
      <p:sp>
        <p:nvSpPr>
          <p:cNvPr id="41" name="Rounded Rectangle 40"/>
          <p:cNvSpPr/>
          <p:nvPr/>
        </p:nvSpPr>
        <p:spPr>
          <a:xfrm>
            <a:off x="8191500" y="3263900"/>
            <a:ext cx="50800" cy="50800"/>
          </a:xfrm>
          <a:prstGeom prst="round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18499" y="3213100"/>
            <a:ext cx="2730500" cy="292100"/>
          </a:xfrm>
          <a:prstGeom prst="rect">
            <a:avLst/>
          </a:prstGeom>
          <a:noFill/>
        </p:spPr>
        <p:txBody>
          <a:bodyPr wrap="square" anchor="t" lIns="25400" rIns="25400" tIns="0" bIns="0">
            <a:noAutofit/>
          </a:bodyPr>
          <a:lstStyle/>
          <a:p>
            <a:pPr algn="l">
              <a:lnSpc>
                <a:spcPct val="100000"/>
              </a:lnSpc>
            </a:pPr>
            <a:r>
              <a:rPr sz="1600" b="0">
                <a:solidFill>
                  <a:srgbClr val="17314F"/>
                </a:solidFill>
                <a:latin typeface="Arial"/>
              </a:rPr>
              <a:t>The real moat is not the model. It is the execution layer across the legal stack.</a:t>
            </a:r>
          </a:p>
        </p:txBody>
      </p:sp>
      <p:sp>
        <p:nvSpPr>
          <p:cNvPr id="43" name="Rounded Rectangle 42"/>
          <p:cNvSpPr/>
          <p:nvPr/>
        </p:nvSpPr>
        <p:spPr>
          <a:xfrm>
            <a:off x="8191500" y="3670300"/>
            <a:ext cx="50800" cy="50800"/>
          </a:xfrm>
          <a:prstGeom prst="round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18499" y="3619500"/>
            <a:ext cx="2730500" cy="292100"/>
          </a:xfrm>
          <a:prstGeom prst="rect">
            <a:avLst/>
          </a:prstGeom>
          <a:noFill/>
        </p:spPr>
        <p:txBody>
          <a:bodyPr wrap="square" anchor="t" lIns="25400" rIns="25400" tIns="0" bIns="0">
            <a:noAutofit/>
          </a:bodyPr>
          <a:lstStyle/>
          <a:p>
            <a:pPr algn="l">
              <a:lnSpc>
                <a:spcPct val="100000"/>
              </a:lnSpc>
            </a:pPr>
            <a:r>
              <a:rPr sz="1600" b="0">
                <a:solidFill>
                  <a:srgbClr val="17314F"/>
                </a:solidFill>
                <a:latin typeface="Arial"/>
              </a:rPr>
              <a:t>The same workflow engine can work beneath Harvey today and another reasoning layer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Why firms care</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This is matter administration and paralegal work that often leaks into lawyer time.</a:t>
            </a:r>
          </a:p>
        </p:txBody>
      </p:sp>
      <p:sp>
        <p:nvSpPr>
          <p:cNvPr id="7" name="Rounded Rectangle 6"/>
          <p:cNvSpPr/>
          <p:nvPr/>
        </p:nvSpPr>
        <p:spPr>
          <a:xfrm>
            <a:off x="762000" y="2032000"/>
            <a:ext cx="3365500" cy="22606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7900" y="2260600"/>
            <a:ext cx="2476500" cy="431800"/>
          </a:xfrm>
          <a:prstGeom prst="rect">
            <a:avLst/>
          </a:prstGeom>
          <a:noFill/>
        </p:spPr>
        <p:txBody>
          <a:bodyPr wrap="square" anchor="t" lIns="25400" rIns="25400" tIns="0" bIns="0">
            <a:noAutofit/>
          </a:bodyPr>
          <a:lstStyle/>
          <a:p>
            <a:pPr algn="l">
              <a:lnSpc>
                <a:spcPct val="95000"/>
              </a:lnSpc>
            </a:pPr>
            <a:r>
              <a:rPr sz="2400" b="1">
                <a:solidFill>
                  <a:srgbClr val="17314F"/>
                </a:solidFill>
                <a:latin typeface="Arial Narrow"/>
              </a:rPr>
              <a:t>Matter administration</a:t>
            </a:r>
          </a:p>
        </p:txBody>
      </p:sp>
      <p:sp>
        <p:nvSpPr>
          <p:cNvPr id="9" name="Rectangle 8"/>
          <p:cNvSpPr/>
          <p:nvPr/>
        </p:nvSpPr>
        <p:spPr>
          <a:xfrm>
            <a:off x="977900" y="2628900"/>
            <a:ext cx="825500" cy="381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2832100"/>
            <a:ext cx="2857500" cy="1041400"/>
          </a:xfrm>
          <a:prstGeom prst="rect">
            <a:avLst/>
          </a:prstGeom>
          <a:noFill/>
        </p:spPr>
        <p:txBody>
          <a:bodyPr wrap="square" anchor="t" lIns="25400" rIns="25400" tIns="0" bIns="0">
            <a:noAutofit/>
          </a:bodyPr>
          <a:lstStyle/>
          <a:p>
            <a:pPr algn="l">
              <a:lnSpc>
                <a:spcPct val="100000"/>
              </a:lnSpc>
            </a:pPr>
            <a:r>
              <a:rPr sz="1500" b="1">
                <a:solidFill>
                  <a:srgbClr val="39506B"/>
                </a:solidFill>
                <a:latin typeface="Arial"/>
              </a:rPr>
              <a:t>Checklists, packet assembly, version handling, distribution tracking, and status chasing are necessary but operational.</a:t>
            </a:r>
          </a:p>
        </p:txBody>
      </p:sp>
      <p:sp>
        <p:nvSpPr>
          <p:cNvPr id="11" name="Rounded Rectangle 10"/>
          <p:cNvSpPr/>
          <p:nvPr/>
        </p:nvSpPr>
        <p:spPr>
          <a:xfrm>
            <a:off x="4381500" y="2032000"/>
            <a:ext cx="3365500" cy="22606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260600"/>
            <a:ext cx="2476500" cy="431800"/>
          </a:xfrm>
          <a:prstGeom prst="rect">
            <a:avLst/>
          </a:prstGeom>
          <a:noFill/>
        </p:spPr>
        <p:txBody>
          <a:bodyPr wrap="square" anchor="t" lIns="25400" rIns="25400" tIns="0" bIns="0">
            <a:noAutofit/>
          </a:bodyPr>
          <a:lstStyle/>
          <a:p>
            <a:pPr algn="l">
              <a:lnSpc>
                <a:spcPct val="95000"/>
              </a:lnSpc>
            </a:pPr>
            <a:r>
              <a:rPr sz="2400" b="1">
                <a:solidFill>
                  <a:srgbClr val="17314F"/>
                </a:solidFill>
                <a:latin typeface="Arial Narrow"/>
              </a:rPr>
              <a:t>Paralegal workflows</a:t>
            </a:r>
          </a:p>
        </p:txBody>
      </p:sp>
      <p:sp>
        <p:nvSpPr>
          <p:cNvPr id="13" name="Rectangle 12"/>
          <p:cNvSpPr/>
          <p:nvPr/>
        </p:nvSpPr>
        <p:spPr>
          <a:xfrm>
            <a:off x="4597400" y="2628900"/>
            <a:ext cx="825500" cy="381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400" y="2832100"/>
            <a:ext cx="2857500" cy="1041400"/>
          </a:xfrm>
          <a:prstGeom prst="rect">
            <a:avLst/>
          </a:prstGeom>
          <a:noFill/>
        </p:spPr>
        <p:txBody>
          <a:bodyPr wrap="square" anchor="t" lIns="25400" rIns="25400" tIns="0" bIns="0">
            <a:noAutofit/>
          </a:bodyPr>
          <a:lstStyle/>
          <a:p>
            <a:pPr algn="l">
              <a:lnSpc>
                <a:spcPct val="100000"/>
              </a:lnSpc>
            </a:pPr>
            <a:r>
              <a:rPr sz="1500" b="1">
                <a:solidFill>
                  <a:srgbClr val="39506B"/>
                </a:solidFill>
                <a:latin typeface="Arial"/>
              </a:rPr>
              <a:t>Much of the work is rules-based, repetitive, and document-centric. It does not require high-end legal reasoning to execute correctly.</a:t>
            </a:r>
          </a:p>
        </p:txBody>
      </p:sp>
      <p:sp>
        <p:nvSpPr>
          <p:cNvPr id="15" name="Rounded Rectangle 14"/>
          <p:cNvSpPr/>
          <p:nvPr/>
        </p:nvSpPr>
        <p:spPr>
          <a:xfrm>
            <a:off x="8001000" y="2032000"/>
            <a:ext cx="3365500" cy="22606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900" y="2260600"/>
            <a:ext cx="2476500" cy="431800"/>
          </a:xfrm>
          <a:prstGeom prst="rect">
            <a:avLst/>
          </a:prstGeom>
          <a:noFill/>
        </p:spPr>
        <p:txBody>
          <a:bodyPr wrap="square" anchor="t" lIns="25400" rIns="25400" tIns="0" bIns="0">
            <a:noAutofit/>
          </a:bodyPr>
          <a:lstStyle/>
          <a:p>
            <a:pPr algn="l">
              <a:lnSpc>
                <a:spcPct val="95000"/>
              </a:lnSpc>
            </a:pPr>
            <a:r>
              <a:rPr sz="2400" b="1">
                <a:solidFill>
                  <a:srgbClr val="17314F"/>
                </a:solidFill>
                <a:latin typeface="Arial Narrow"/>
              </a:rPr>
              <a:t>Partner write-offs</a:t>
            </a:r>
          </a:p>
        </p:txBody>
      </p:sp>
      <p:sp>
        <p:nvSpPr>
          <p:cNvPr id="17" name="Rectangle 16"/>
          <p:cNvSpPr/>
          <p:nvPr/>
        </p:nvSpPr>
        <p:spPr>
          <a:xfrm>
            <a:off x="8216900" y="2628900"/>
            <a:ext cx="825500" cy="381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6900" y="2832100"/>
            <a:ext cx="2857500" cy="1041400"/>
          </a:xfrm>
          <a:prstGeom prst="rect">
            <a:avLst/>
          </a:prstGeom>
          <a:noFill/>
        </p:spPr>
        <p:txBody>
          <a:bodyPr wrap="square" anchor="t" lIns="25400" rIns="25400" tIns="0" bIns="0">
            <a:noAutofit/>
          </a:bodyPr>
          <a:lstStyle/>
          <a:p>
            <a:pPr algn="l">
              <a:lnSpc>
                <a:spcPct val="100000"/>
              </a:lnSpc>
            </a:pPr>
            <a:r>
              <a:rPr sz="1500" b="1">
                <a:solidFill>
                  <a:srgbClr val="39506B"/>
                </a:solidFill>
                <a:latin typeface="Arial"/>
              </a:rPr>
              <a:t>When lawyers do these tasks anyway, the time is hard to bill, easy to discount, and distracting from higher-value work.</a:t>
            </a:r>
          </a:p>
        </p:txBody>
      </p:sp>
      <p:sp>
        <p:nvSpPr>
          <p:cNvPr id="19" name="Rounded Rectangle 18"/>
          <p:cNvSpPr/>
          <p:nvPr/>
        </p:nvSpPr>
        <p:spPr>
          <a:xfrm>
            <a:off x="762000" y="4660900"/>
            <a:ext cx="10668000" cy="11176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4838700"/>
            <a:ext cx="2032000" cy="177800"/>
          </a:xfrm>
          <a:prstGeom prst="rect">
            <a:avLst/>
          </a:prstGeom>
          <a:noFill/>
        </p:spPr>
        <p:txBody>
          <a:bodyPr wrap="square" anchor="t" lIns="25400" rIns="25400" tIns="0" bIns="0">
            <a:noAutofit/>
          </a:bodyPr>
          <a:lstStyle/>
          <a:p>
            <a:pPr algn="l">
              <a:lnSpc>
                <a:spcPct val="100000"/>
              </a:lnSpc>
            </a:pPr>
            <a:r>
              <a:rPr sz="1500" b="1">
                <a:solidFill>
                  <a:srgbClr val="0B6BCB"/>
                </a:solidFill>
                <a:latin typeface="Arial"/>
              </a:rPr>
              <a:t>Boardroom framing</a:t>
            </a:r>
          </a:p>
        </p:txBody>
      </p:sp>
      <p:sp>
        <p:nvSpPr>
          <p:cNvPr id="21" name="TextBox 20"/>
          <p:cNvSpPr txBox="1"/>
          <p:nvPr/>
        </p:nvSpPr>
        <p:spPr>
          <a:xfrm>
            <a:off x="1016000" y="5130800"/>
            <a:ext cx="9779000" cy="596900"/>
          </a:xfrm>
          <a:prstGeom prst="rect">
            <a:avLst/>
          </a:prstGeom>
          <a:noFill/>
        </p:spPr>
        <p:txBody>
          <a:bodyPr wrap="square" anchor="t" lIns="25400" rIns="25400" tIns="0" bIns="0">
            <a:noAutofit/>
          </a:bodyPr>
          <a:lstStyle/>
          <a:p>
            <a:pPr algn="l">
              <a:lnSpc>
                <a:spcPct val="95000"/>
              </a:lnSpc>
            </a:pPr>
            <a:r>
              <a:rPr sz="2100" b="1">
                <a:solidFill>
                  <a:srgbClr val="17314F"/>
                </a:solidFill>
                <a:latin typeface="Arial Narrow"/>
              </a:rPr>
              <a:t>EmmaNeigh does not replace legal judgment. It compresses the operational execution time around documents, signatures, redlines, checklists, PDFs, and matter administration so lawyers spend less time on work clients resist paying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Why this is interesting for Kirkland AI</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EmmaNeigh is not another model discussion. It is the execution surface that can sit beneath the firm’s preferred reasoning layer.</a:t>
            </a:r>
          </a:p>
        </p:txBody>
      </p:sp>
      <p:sp>
        <p:nvSpPr>
          <p:cNvPr id="7" name="Rounded Rectangle 6"/>
          <p:cNvSpPr/>
          <p:nvPr/>
        </p:nvSpPr>
        <p:spPr>
          <a:xfrm>
            <a:off x="762000" y="1993899"/>
            <a:ext cx="5207000" cy="37211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222500"/>
            <a:ext cx="2667000" cy="3175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Kirkland AI implication</a:t>
            </a:r>
          </a:p>
        </p:txBody>
      </p:sp>
      <p:sp>
        <p:nvSpPr>
          <p:cNvPr id="9" name="TextBox 8"/>
          <p:cNvSpPr txBox="1"/>
          <p:nvPr/>
        </p:nvSpPr>
        <p:spPr>
          <a:xfrm>
            <a:off x="1016000" y="2540000"/>
            <a:ext cx="4445000" cy="558800"/>
          </a:xfrm>
          <a:prstGeom prst="rect">
            <a:avLst/>
          </a:prstGeom>
          <a:noFill/>
        </p:spPr>
        <p:txBody>
          <a:bodyPr wrap="square" anchor="t" lIns="25400" rIns="25400" tIns="0" bIns="0">
            <a:noAutofit/>
          </a:bodyPr>
          <a:lstStyle/>
          <a:p>
            <a:pPr algn="l">
              <a:lnSpc>
                <a:spcPct val="100000"/>
              </a:lnSpc>
            </a:pPr>
            <a:r>
              <a:rPr sz="1600" b="1">
                <a:solidFill>
                  <a:srgbClr val="39506B"/>
                </a:solidFill>
                <a:latin typeface="Arial"/>
              </a:rPr>
              <a:t>If Kirkland wants to explore Harvey or another reasoning system beyond drafting and analysis, EmmaNeigh is the layer that can make those systems operational across the existing desktop and DMS environment.</a:t>
            </a:r>
          </a:p>
        </p:txBody>
      </p:sp>
      <p:sp>
        <p:nvSpPr>
          <p:cNvPr id="10" name="TextBox 9"/>
          <p:cNvSpPr txBox="1"/>
          <p:nvPr/>
        </p:nvSpPr>
        <p:spPr>
          <a:xfrm>
            <a:off x="1016000" y="3251200"/>
            <a:ext cx="1651000" cy="177800"/>
          </a:xfrm>
          <a:prstGeom prst="rect">
            <a:avLst/>
          </a:prstGeom>
          <a:noFill/>
        </p:spPr>
        <p:txBody>
          <a:bodyPr wrap="square" anchor="t" lIns="25400" rIns="25400" tIns="0" bIns="0">
            <a:noAutofit/>
          </a:bodyPr>
          <a:lstStyle/>
          <a:p>
            <a:pPr algn="l">
              <a:lnSpc>
                <a:spcPct val="100000"/>
              </a:lnSpc>
            </a:pPr>
            <a:r>
              <a:rPr sz="1300" b="1">
                <a:solidFill>
                  <a:srgbClr val="60758D"/>
                </a:solidFill>
                <a:latin typeface="Arial"/>
              </a:rPr>
              <a:t>Illustrative stack</a:t>
            </a:r>
          </a:p>
        </p:txBody>
      </p:sp>
      <p:sp>
        <p:nvSpPr>
          <p:cNvPr id="11" name="Rounded Rectangle 10"/>
          <p:cNvSpPr/>
          <p:nvPr/>
        </p:nvSpPr>
        <p:spPr>
          <a:xfrm>
            <a:off x="1016000" y="3492500"/>
            <a:ext cx="952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arvey.png"/>
          <p:cNvPicPr>
            <a:picLocks noChangeAspect="1"/>
          </p:cNvPicPr>
          <p:nvPr/>
        </p:nvPicPr>
        <p:blipFill>
          <a:blip r:embed="rId2"/>
          <a:stretch>
            <a:fillRect/>
          </a:stretch>
        </p:blipFill>
        <p:spPr>
          <a:xfrm>
            <a:off x="1092200" y="3530600"/>
            <a:ext cx="190500" cy="190500"/>
          </a:xfrm>
          <a:prstGeom prst="rect">
            <a:avLst/>
          </a:prstGeom>
        </p:spPr>
      </p:pic>
      <p:sp>
        <p:nvSpPr>
          <p:cNvPr id="13" name="TextBox 12"/>
          <p:cNvSpPr txBox="1"/>
          <p:nvPr/>
        </p:nvSpPr>
        <p:spPr>
          <a:xfrm>
            <a:off x="1346200" y="3524250"/>
            <a:ext cx="584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Harvey</a:t>
            </a:r>
          </a:p>
        </p:txBody>
      </p:sp>
      <p:sp>
        <p:nvSpPr>
          <p:cNvPr id="14" name="Rounded Rectangle 13"/>
          <p:cNvSpPr/>
          <p:nvPr/>
        </p:nvSpPr>
        <p:spPr>
          <a:xfrm>
            <a:off x="2190750" y="3492500"/>
            <a:ext cx="11430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outlook.png"/>
          <p:cNvPicPr>
            <a:picLocks noChangeAspect="1"/>
          </p:cNvPicPr>
          <p:nvPr/>
        </p:nvPicPr>
        <p:blipFill>
          <a:blip r:embed="rId3"/>
          <a:stretch>
            <a:fillRect/>
          </a:stretch>
        </p:blipFill>
        <p:spPr>
          <a:xfrm>
            <a:off x="2266950" y="3530600"/>
            <a:ext cx="190500" cy="190500"/>
          </a:xfrm>
          <a:prstGeom prst="rect">
            <a:avLst/>
          </a:prstGeom>
        </p:spPr>
      </p:pic>
      <p:sp>
        <p:nvSpPr>
          <p:cNvPr id="16" name="TextBox 15"/>
          <p:cNvSpPr txBox="1"/>
          <p:nvPr/>
        </p:nvSpPr>
        <p:spPr>
          <a:xfrm>
            <a:off x="2520950" y="3524250"/>
            <a:ext cx="7747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Outlook</a:t>
            </a:r>
          </a:p>
        </p:txBody>
      </p:sp>
      <p:sp>
        <p:nvSpPr>
          <p:cNvPr id="17" name="Rounded Rectangle 16"/>
          <p:cNvSpPr/>
          <p:nvPr/>
        </p:nvSpPr>
        <p:spPr>
          <a:xfrm>
            <a:off x="3556000" y="3492500"/>
            <a:ext cx="1047749"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dobe.png"/>
          <p:cNvPicPr>
            <a:picLocks noChangeAspect="1"/>
          </p:cNvPicPr>
          <p:nvPr/>
        </p:nvPicPr>
        <p:blipFill>
          <a:blip r:embed="rId4"/>
          <a:stretch>
            <a:fillRect/>
          </a:stretch>
        </p:blipFill>
        <p:spPr>
          <a:xfrm>
            <a:off x="3632200" y="3530600"/>
            <a:ext cx="190500" cy="190500"/>
          </a:xfrm>
          <a:prstGeom prst="rect">
            <a:avLst/>
          </a:prstGeom>
        </p:spPr>
      </p:pic>
      <p:sp>
        <p:nvSpPr>
          <p:cNvPr id="19" name="TextBox 18"/>
          <p:cNvSpPr txBox="1"/>
          <p:nvPr/>
        </p:nvSpPr>
        <p:spPr>
          <a:xfrm>
            <a:off x="3886200" y="3524250"/>
            <a:ext cx="67945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Adobe</a:t>
            </a:r>
          </a:p>
        </p:txBody>
      </p:sp>
      <p:sp>
        <p:nvSpPr>
          <p:cNvPr id="20" name="Rounded Rectangle 19"/>
          <p:cNvSpPr/>
          <p:nvPr/>
        </p:nvSpPr>
        <p:spPr>
          <a:xfrm>
            <a:off x="1016000" y="3898900"/>
            <a:ext cx="9525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tera_favicon.png"/>
          <p:cNvPicPr>
            <a:picLocks noChangeAspect="1"/>
          </p:cNvPicPr>
          <p:nvPr/>
        </p:nvPicPr>
        <p:blipFill>
          <a:blip r:embed="rId5"/>
          <a:stretch>
            <a:fillRect/>
          </a:stretch>
        </p:blipFill>
        <p:spPr>
          <a:xfrm>
            <a:off x="1092200" y="3937000"/>
            <a:ext cx="190500" cy="190500"/>
          </a:xfrm>
          <a:prstGeom prst="rect">
            <a:avLst/>
          </a:prstGeom>
        </p:spPr>
      </p:pic>
      <p:sp>
        <p:nvSpPr>
          <p:cNvPr id="22" name="TextBox 21"/>
          <p:cNvSpPr txBox="1"/>
          <p:nvPr/>
        </p:nvSpPr>
        <p:spPr>
          <a:xfrm>
            <a:off x="1346200" y="3930649"/>
            <a:ext cx="5842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Litera</a:t>
            </a:r>
          </a:p>
        </p:txBody>
      </p:sp>
      <p:sp>
        <p:nvSpPr>
          <p:cNvPr id="23" name="Rounded Rectangle 22"/>
          <p:cNvSpPr/>
          <p:nvPr/>
        </p:nvSpPr>
        <p:spPr>
          <a:xfrm>
            <a:off x="2190750" y="3898900"/>
            <a:ext cx="123825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ocusign.png"/>
          <p:cNvPicPr>
            <a:picLocks noChangeAspect="1"/>
          </p:cNvPicPr>
          <p:nvPr/>
        </p:nvPicPr>
        <p:blipFill>
          <a:blip r:embed="rId6"/>
          <a:stretch>
            <a:fillRect/>
          </a:stretch>
        </p:blipFill>
        <p:spPr>
          <a:xfrm>
            <a:off x="2266950" y="3937000"/>
            <a:ext cx="190500" cy="190500"/>
          </a:xfrm>
          <a:prstGeom prst="rect">
            <a:avLst/>
          </a:prstGeom>
        </p:spPr>
      </p:pic>
      <p:sp>
        <p:nvSpPr>
          <p:cNvPr id="25" name="TextBox 24"/>
          <p:cNvSpPr txBox="1"/>
          <p:nvPr/>
        </p:nvSpPr>
        <p:spPr>
          <a:xfrm>
            <a:off x="2520950" y="3930649"/>
            <a:ext cx="86995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DocuSign</a:t>
            </a:r>
          </a:p>
        </p:txBody>
      </p:sp>
      <p:sp>
        <p:nvSpPr>
          <p:cNvPr id="26" name="Rounded Rectangle 25"/>
          <p:cNvSpPr/>
          <p:nvPr/>
        </p:nvSpPr>
        <p:spPr>
          <a:xfrm>
            <a:off x="3556000" y="3898900"/>
            <a:ext cx="1397000" cy="2667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nage.png"/>
          <p:cNvPicPr>
            <a:picLocks noChangeAspect="1"/>
          </p:cNvPicPr>
          <p:nvPr/>
        </p:nvPicPr>
        <p:blipFill>
          <a:blip r:embed="rId7"/>
          <a:stretch>
            <a:fillRect/>
          </a:stretch>
        </p:blipFill>
        <p:spPr>
          <a:xfrm>
            <a:off x="3632200" y="3995880"/>
            <a:ext cx="190500" cy="72739"/>
          </a:xfrm>
          <a:prstGeom prst="rect">
            <a:avLst/>
          </a:prstGeom>
        </p:spPr>
      </p:pic>
      <p:sp>
        <p:nvSpPr>
          <p:cNvPr id="28" name="TextBox 27"/>
          <p:cNvSpPr txBox="1"/>
          <p:nvPr/>
        </p:nvSpPr>
        <p:spPr>
          <a:xfrm>
            <a:off x="3886200" y="3930649"/>
            <a:ext cx="1028700" cy="203200"/>
          </a:xfrm>
          <a:prstGeom prst="rect">
            <a:avLst/>
          </a:prstGeom>
          <a:noFill/>
        </p:spPr>
        <p:txBody>
          <a:bodyPr wrap="none" anchor="ctr" lIns="25400" rIns="25400" tIns="12700" bIns="12700">
            <a:noAutofit/>
          </a:bodyPr>
          <a:lstStyle/>
          <a:p>
            <a:pPr algn="l">
              <a:lnSpc>
                <a:spcPct val="100000"/>
              </a:lnSpc>
            </a:pPr>
            <a:r>
              <a:rPr sz="1400" b="1">
                <a:solidFill>
                  <a:srgbClr val="17314F"/>
                </a:solidFill>
                <a:latin typeface="Arial"/>
              </a:rPr>
              <a:t>iManage</a:t>
            </a:r>
          </a:p>
        </p:txBody>
      </p:sp>
      <p:sp>
        <p:nvSpPr>
          <p:cNvPr id="29" name="Rounded Rectangle 28"/>
          <p:cNvSpPr/>
          <p:nvPr/>
        </p:nvSpPr>
        <p:spPr>
          <a:xfrm>
            <a:off x="6350000" y="1993899"/>
            <a:ext cx="5080000" cy="37211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0" y="2222500"/>
            <a:ext cx="3302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What Kirkland gets if this works</a:t>
            </a:r>
          </a:p>
        </p:txBody>
      </p:sp>
      <p:sp>
        <p:nvSpPr>
          <p:cNvPr id="31" name="Rounded Rectangle 30"/>
          <p:cNvSpPr/>
          <p:nvPr/>
        </p:nvSpPr>
        <p:spPr>
          <a:xfrm>
            <a:off x="6604000" y="2743200"/>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31000" y="2692400"/>
            <a:ext cx="4190999" cy="304800"/>
          </a:xfrm>
          <a:prstGeom prst="rect">
            <a:avLst/>
          </a:prstGeom>
          <a:noFill/>
        </p:spPr>
        <p:txBody>
          <a:bodyPr wrap="square" anchor="t" lIns="25400" rIns="25400" tIns="0" bIns="0">
            <a:noAutofit/>
          </a:bodyPr>
          <a:lstStyle/>
          <a:p>
            <a:pPr algn="l">
              <a:lnSpc>
                <a:spcPct val="100000"/>
              </a:lnSpc>
            </a:pPr>
            <a:r>
              <a:rPr sz="1700" b="0">
                <a:solidFill>
                  <a:srgbClr val="17314F"/>
                </a:solidFill>
                <a:latin typeface="Arial"/>
              </a:rPr>
              <a:t>A model-agnostic control plane that can work with Harvey today and a different reasoning system tomorrow.</a:t>
            </a:r>
          </a:p>
        </p:txBody>
      </p:sp>
      <p:sp>
        <p:nvSpPr>
          <p:cNvPr id="33" name="Rounded Rectangle 32"/>
          <p:cNvSpPr/>
          <p:nvPr/>
        </p:nvSpPr>
        <p:spPr>
          <a:xfrm>
            <a:off x="6604000" y="3149600"/>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1000" y="3098800"/>
            <a:ext cx="4190999" cy="304800"/>
          </a:xfrm>
          <a:prstGeom prst="rect">
            <a:avLst/>
          </a:prstGeom>
          <a:noFill/>
        </p:spPr>
        <p:txBody>
          <a:bodyPr wrap="square" anchor="t" lIns="25400" rIns="25400" tIns="0" bIns="0">
            <a:noAutofit/>
          </a:bodyPr>
          <a:lstStyle/>
          <a:p>
            <a:pPr algn="l">
              <a:lnSpc>
                <a:spcPct val="100000"/>
              </a:lnSpc>
            </a:pPr>
            <a:r>
              <a:rPr sz="1700" b="0">
                <a:solidFill>
                  <a:srgbClr val="17314F"/>
                </a:solidFill>
                <a:latin typeface="Arial"/>
              </a:rPr>
              <a:t>A path from AI analysis into concrete execution across the existing desktop and DMS stack.</a:t>
            </a:r>
          </a:p>
        </p:txBody>
      </p:sp>
      <p:sp>
        <p:nvSpPr>
          <p:cNvPr id="35" name="Rounded Rectangle 34"/>
          <p:cNvSpPr/>
          <p:nvPr/>
        </p:nvSpPr>
        <p:spPr>
          <a:xfrm>
            <a:off x="6604000" y="3556000"/>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31000" y="3505200"/>
            <a:ext cx="4190999" cy="304800"/>
          </a:xfrm>
          <a:prstGeom prst="rect">
            <a:avLst/>
          </a:prstGeom>
          <a:noFill/>
        </p:spPr>
        <p:txBody>
          <a:bodyPr wrap="square" anchor="t" lIns="25400" rIns="25400" tIns="0" bIns="0">
            <a:noAutofit/>
          </a:bodyPr>
          <a:lstStyle/>
          <a:p>
            <a:pPr algn="l">
              <a:lnSpc>
                <a:spcPct val="100000"/>
              </a:lnSpc>
            </a:pPr>
            <a:r>
              <a:rPr sz="1700" b="0">
                <a:solidFill>
                  <a:srgbClr val="17314F"/>
                </a:solidFill>
                <a:latin typeface="Arial"/>
              </a:rPr>
              <a:t>Operational leverage without requiring lawyers to manually bridge the gap between cloud AI and local systems.</a:t>
            </a:r>
          </a:p>
        </p:txBody>
      </p:sp>
      <p:sp>
        <p:nvSpPr>
          <p:cNvPr id="37" name="Rounded Rectangle 36"/>
          <p:cNvSpPr/>
          <p:nvPr/>
        </p:nvSpPr>
        <p:spPr>
          <a:xfrm>
            <a:off x="6604000" y="3962399"/>
            <a:ext cx="50800" cy="508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31000" y="3911600"/>
            <a:ext cx="4190999" cy="177800"/>
          </a:xfrm>
          <a:prstGeom prst="rect">
            <a:avLst/>
          </a:prstGeom>
          <a:noFill/>
        </p:spPr>
        <p:txBody>
          <a:bodyPr wrap="square" anchor="t" lIns="25400" rIns="25400" tIns="0" bIns="0">
            <a:noAutofit/>
          </a:bodyPr>
          <a:lstStyle/>
          <a:p>
            <a:pPr algn="l">
              <a:lnSpc>
                <a:spcPct val="100000"/>
              </a:lnSpc>
            </a:pPr>
            <a:r>
              <a:rPr sz="1700" b="0">
                <a:solidFill>
                  <a:srgbClr val="17314F"/>
                </a:solidFill>
                <a:latin typeface="Arial"/>
              </a:rPr>
              <a:t>No rip-and-replace: the product sits on top of the tools the firm already uses.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Two inputs would materially improve the product at Kirkland.</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These are not cosmetic asks. They are the two leverage points that would make the product materially more seamless.</a:t>
            </a:r>
          </a:p>
        </p:txBody>
      </p:sp>
      <p:sp>
        <p:nvSpPr>
          <p:cNvPr id="7" name="Rounded Rectangle 6"/>
          <p:cNvSpPr/>
          <p:nvPr/>
        </p:nvSpPr>
        <p:spPr>
          <a:xfrm>
            <a:off x="762000" y="2032000"/>
            <a:ext cx="5016500" cy="33020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286000"/>
            <a:ext cx="3937000" cy="393700"/>
          </a:xfrm>
          <a:prstGeom prst="rect">
            <a:avLst/>
          </a:prstGeom>
          <a:noFill/>
        </p:spPr>
        <p:txBody>
          <a:bodyPr wrap="square" anchor="t" lIns="25400" rIns="25400" tIns="0" bIns="0">
            <a:noAutofit/>
          </a:bodyPr>
          <a:lstStyle/>
          <a:p>
            <a:pPr algn="l">
              <a:lnSpc>
                <a:spcPct val="95000"/>
              </a:lnSpc>
            </a:pPr>
            <a:r>
              <a:rPr sz="2500" b="1">
                <a:solidFill>
                  <a:srgbClr val="17314F"/>
                </a:solidFill>
                <a:latin typeface="Arial Narrow"/>
              </a:rPr>
              <a:t>1. Harvey bearer / authentication token</a:t>
            </a:r>
          </a:p>
        </p:txBody>
      </p:sp>
      <p:sp>
        <p:nvSpPr>
          <p:cNvPr id="9" name="TextBox 8"/>
          <p:cNvSpPr txBox="1"/>
          <p:nvPr/>
        </p:nvSpPr>
        <p:spPr>
          <a:xfrm>
            <a:off x="1016000" y="2743200"/>
            <a:ext cx="4381500" cy="660400"/>
          </a:xfrm>
          <a:prstGeom prst="rect">
            <a:avLst/>
          </a:prstGeom>
          <a:noFill/>
        </p:spPr>
        <p:txBody>
          <a:bodyPr wrap="square" anchor="t" lIns="25400" rIns="25400" tIns="0" bIns="0">
            <a:noAutofit/>
          </a:bodyPr>
          <a:lstStyle/>
          <a:p>
            <a:pPr algn="l">
              <a:lnSpc>
                <a:spcPct val="100000"/>
              </a:lnSpc>
            </a:pPr>
            <a:r>
              <a:rPr sz="1500" b="1">
                <a:solidFill>
                  <a:srgbClr val="39506B"/>
                </a:solidFill>
                <a:latin typeface="Arial"/>
              </a:rPr>
              <a:t>This would allow EmmaNeigh to plug into a reasoning layer with stronger legal performance than a free foundation model while preserving the model-agnostic execution architecture.</a:t>
            </a:r>
          </a:p>
        </p:txBody>
      </p:sp>
      <p:sp>
        <p:nvSpPr>
          <p:cNvPr id="10" name="Rounded Rectangle 9"/>
          <p:cNvSpPr/>
          <p:nvPr/>
        </p:nvSpPr>
        <p:spPr>
          <a:xfrm>
            <a:off x="1016000" y="3492500"/>
            <a:ext cx="1079500" cy="2794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arvey.png"/>
          <p:cNvPicPr>
            <a:picLocks noChangeAspect="1"/>
          </p:cNvPicPr>
          <p:nvPr/>
        </p:nvPicPr>
        <p:blipFill>
          <a:blip r:embed="rId2"/>
          <a:stretch>
            <a:fillRect/>
          </a:stretch>
        </p:blipFill>
        <p:spPr>
          <a:xfrm>
            <a:off x="1092200" y="3530600"/>
            <a:ext cx="203200" cy="203200"/>
          </a:xfrm>
          <a:prstGeom prst="rect">
            <a:avLst/>
          </a:prstGeom>
        </p:spPr>
      </p:pic>
      <p:sp>
        <p:nvSpPr>
          <p:cNvPr id="12" name="TextBox 11"/>
          <p:cNvSpPr txBox="1"/>
          <p:nvPr/>
        </p:nvSpPr>
        <p:spPr>
          <a:xfrm>
            <a:off x="1358900" y="3524250"/>
            <a:ext cx="698500" cy="215900"/>
          </a:xfrm>
          <a:prstGeom prst="rect">
            <a:avLst/>
          </a:prstGeom>
          <a:noFill/>
        </p:spPr>
        <p:txBody>
          <a:bodyPr wrap="none" anchor="ctr" lIns="25400" rIns="25400" tIns="12700" bIns="12700">
            <a:noAutofit/>
          </a:bodyPr>
          <a:lstStyle/>
          <a:p>
            <a:pPr algn="l">
              <a:lnSpc>
                <a:spcPct val="100000"/>
              </a:lnSpc>
            </a:pPr>
            <a:r>
              <a:rPr sz="1500" b="1">
                <a:solidFill>
                  <a:srgbClr val="17314F"/>
                </a:solidFill>
                <a:latin typeface="Arial"/>
              </a:rPr>
              <a:t>Harvey</a:t>
            </a:r>
          </a:p>
        </p:txBody>
      </p:sp>
      <p:sp>
        <p:nvSpPr>
          <p:cNvPr id="13" name="Rounded Rectangle 12"/>
          <p:cNvSpPr/>
          <p:nvPr/>
        </p:nvSpPr>
        <p:spPr>
          <a:xfrm>
            <a:off x="1016000" y="3937000"/>
            <a:ext cx="4445000" cy="762000"/>
          </a:xfrm>
          <a:prstGeom prst="roundRect">
            <a:avLst/>
          </a:prstGeom>
          <a:solidFill>
            <a:srgbClr val="EDF5FF"/>
          </a:solidFill>
          <a:ln w="19050">
            <a:solidFill>
              <a:srgbClr val="90B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6500" y="4102099"/>
            <a:ext cx="1143000" cy="177800"/>
          </a:xfrm>
          <a:prstGeom prst="rect">
            <a:avLst/>
          </a:prstGeom>
          <a:noFill/>
        </p:spPr>
        <p:txBody>
          <a:bodyPr wrap="square" anchor="t" lIns="25400" rIns="25400" tIns="0" bIns="0">
            <a:noAutofit/>
          </a:bodyPr>
          <a:lstStyle/>
          <a:p>
            <a:pPr algn="l">
              <a:lnSpc>
                <a:spcPct val="100000"/>
              </a:lnSpc>
            </a:pPr>
            <a:r>
              <a:rPr sz="1400" b="1">
                <a:solidFill>
                  <a:srgbClr val="0B6BCB"/>
                </a:solidFill>
                <a:latin typeface="Arial"/>
              </a:rPr>
              <a:t>Why it matters</a:t>
            </a:r>
          </a:p>
        </p:txBody>
      </p:sp>
      <p:sp>
        <p:nvSpPr>
          <p:cNvPr id="15" name="TextBox 14"/>
          <p:cNvSpPr txBox="1"/>
          <p:nvPr/>
        </p:nvSpPr>
        <p:spPr>
          <a:xfrm>
            <a:off x="1206500" y="4330700"/>
            <a:ext cx="3937000" cy="330200"/>
          </a:xfrm>
          <a:prstGeom prst="rect">
            <a:avLst/>
          </a:prstGeom>
          <a:noFill/>
        </p:spPr>
        <p:txBody>
          <a:bodyPr wrap="square" anchor="t" lIns="25400" rIns="25400" tIns="0" bIns="0">
            <a:noAutofit/>
          </a:bodyPr>
          <a:lstStyle/>
          <a:p>
            <a:pPr algn="l">
              <a:lnSpc>
                <a:spcPct val="100000"/>
              </a:lnSpc>
            </a:pPr>
            <a:r>
              <a:rPr sz="1500" b="1">
                <a:solidFill>
                  <a:srgbClr val="17314F"/>
                </a:solidFill>
                <a:latin typeface="Arial"/>
              </a:rPr>
              <a:t>Better planning, better task routing, and better explanation quality without changing the execution engine underneath.</a:t>
            </a:r>
          </a:p>
        </p:txBody>
      </p:sp>
      <p:sp>
        <p:nvSpPr>
          <p:cNvPr id="16" name="Rounded Rectangle 15"/>
          <p:cNvSpPr/>
          <p:nvPr/>
        </p:nvSpPr>
        <p:spPr>
          <a:xfrm>
            <a:off x="6413500" y="2032000"/>
            <a:ext cx="5016500" cy="33020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7500" y="2286000"/>
            <a:ext cx="3937000" cy="393700"/>
          </a:xfrm>
          <a:prstGeom prst="rect">
            <a:avLst/>
          </a:prstGeom>
          <a:noFill/>
        </p:spPr>
        <p:txBody>
          <a:bodyPr wrap="square" anchor="t" lIns="25400" rIns="25400" tIns="0" bIns="0">
            <a:noAutofit/>
          </a:bodyPr>
          <a:lstStyle/>
          <a:p>
            <a:pPr algn="l">
              <a:lnSpc>
                <a:spcPct val="95000"/>
              </a:lnSpc>
            </a:pPr>
            <a:r>
              <a:rPr sz="2500" b="1">
                <a:solidFill>
                  <a:srgbClr val="17314F"/>
                </a:solidFill>
                <a:latin typeface="Arial Narrow"/>
              </a:rPr>
              <a:t>2. Unrestricted iManage API surface</a:t>
            </a:r>
          </a:p>
        </p:txBody>
      </p:sp>
      <p:sp>
        <p:nvSpPr>
          <p:cNvPr id="18" name="TextBox 17"/>
          <p:cNvSpPr txBox="1"/>
          <p:nvPr/>
        </p:nvSpPr>
        <p:spPr>
          <a:xfrm>
            <a:off x="6667500" y="2743200"/>
            <a:ext cx="4381500" cy="660400"/>
          </a:xfrm>
          <a:prstGeom prst="rect">
            <a:avLst/>
          </a:prstGeom>
          <a:noFill/>
        </p:spPr>
        <p:txBody>
          <a:bodyPr wrap="square" anchor="t" lIns="25400" rIns="25400" tIns="0" bIns="0">
            <a:noAutofit/>
          </a:bodyPr>
          <a:lstStyle/>
          <a:p>
            <a:pPr algn="l">
              <a:lnSpc>
                <a:spcPct val="100000"/>
              </a:lnSpc>
            </a:pPr>
            <a:r>
              <a:rPr sz="1500" b="1">
                <a:solidFill>
                  <a:srgbClr val="39506B"/>
                </a:solidFill>
                <a:latin typeface="Arial"/>
              </a:rPr>
              <a:t>Right now the accessible interface is constrained. That limits browse, version-aware workflows, and redlining across versions. A richer surface would let the product operate far more seamlessly inside the document system.</a:t>
            </a:r>
          </a:p>
        </p:txBody>
      </p:sp>
      <p:sp>
        <p:nvSpPr>
          <p:cNvPr id="19" name="Rounded Rectangle 18"/>
          <p:cNvSpPr/>
          <p:nvPr/>
        </p:nvSpPr>
        <p:spPr>
          <a:xfrm>
            <a:off x="6667500" y="3492500"/>
            <a:ext cx="1333500" cy="279400"/>
          </a:xfrm>
          <a:prstGeom prst="roundRect">
            <a:avLst/>
          </a:prstGeom>
          <a:solidFill>
            <a:srgbClr val="FFFFFF"/>
          </a:solidFill>
          <a:ln w="15875">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nage.png"/>
          <p:cNvPicPr>
            <a:picLocks noChangeAspect="1"/>
          </p:cNvPicPr>
          <p:nvPr/>
        </p:nvPicPr>
        <p:blipFill>
          <a:blip r:embed="rId3"/>
          <a:stretch>
            <a:fillRect/>
          </a:stretch>
        </p:blipFill>
        <p:spPr>
          <a:xfrm>
            <a:off x="6743700" y="3593405"/>
            <a:ext cx="203200" cy="77588"/>
          </a:xfrm>
          <a:prstGeom prst="rect">
            <a:avLst/>
          </a:prstGeom>
        </p:spPr>
      </p:pic>
      <p:sp>
        <p:nvSpPr>
          <p:cNvPr id="21" name="TextBox 20"/>
          <p:cNvSpPr txBox="1"/>
          <p:nvPr/>
        </p:nvSpPr>
        <p:spPr>
          <a:xfrm>
            <a:off x="7010400" y="3524250"/>
            <a:ext cx="952500" cy="215900"/>
          </a:xfrm>
          <a:prstGeom prst="rect">
            <a:avLst/>
          </a:prstGeom>
          <a:noFill/>
        </p:spPr>
        <p:txBody>
          <a:bodyPr wrap="none" anchor="ctr" lIns="25400" rIns="25400" tIns="12700" bIns="12700">
            <a:noAutofit/>
          </a:bodyPr>
          <a:lstStyle/>
          <a:p>
            <a:pPr algn="l">
              <a:lnSpc>
                <a:spcPct val="100000"/>
              </a:lnSpc>
            </a:pPr>
            <a:r>
              <a:rPr sz="1500" b="1">
                <a:solidFill>
                  <a:srgbClr val="17314F"/>
                </a:solidFill>
                <a:latin typeface="Arial"/>
              </a:rPr>
              <a:t>iManage</a:t>
            </a:r>
          </a:p>
        </p:txBody>
      </p:sp>
      <p:sp>
        <p:nvSpPr>
          <p:cNvPr id="22" name="Rounded Rectangle 21"/>
          <p:cNvSpPr/>
          <p:nvPr/>
        </p:nvSpPr>
        <p:spPr>
          <a:xfrm>
            <a:off x="6667500" y="3937000"/>
            <a:ext cx="4445000" cy="762000"/>
          </a:xfrm>
          <a:prstGeom prst="roundRect">
            <a:avLst/>
          </a:prstGeom>
          <a:solidFill>
            <a:srgbClr val="EDF5FF"/>
          </a:solidFill>
          <a:ln w="19050">
            <a:solidFill>
              <a:srgbClr val="90BF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4102099"/>
            <a:ext cx="1143000" cy="177800"/>
          </a:xfrm>
          <a:prstGeom prst="rect">
            <a:avLst/>
          </a:prstGeom>
          <a:noFill/>
        </p:spPr>
        <p:txBody>
          <a:bodyPr wrap="square" anchor="t" lIns="25400" rIns="25400" tIns="0" bIns="0">
            <a:noAutofit/>
          </a:bodyPr>
          <a:lstStyle/>
          <a:p>
            <a:pPr algn="l">
              <a:lnSpc>
                <a:spcPct val="100000"/>
              </a:lnSpc>
            </a:pPr>
            <a:r>
              <a:rPr sz="1400" b="1">
                <a:solidFill>
                  <a:srgbClr val="0B6BCB"/>
                </a:solidFill>
                <a:latin typeface="Arial"/>
              </a:rPr>
              <a:t>Why it matters</a:t>
            </a:r>
          </a:p>
        </p:txBody>
      </p:sp>
      <p:sp>
        <p:nvSpPr>
          <p:cNvPr id="24" name="TextBox 23"/>
          <p:cNvSpPr txBox="1"/>
          <p:nvPr/>
        </p:nvSpPr>
        <p:spPr>
          <a:xfrm>
            <a:off x="6858000" y="4330700"/>
            <a:ext cx="3937000" cy="330200"/>
          </a:xfrm>
          <a:prstGeom prst="rect">
            <a:avLst/>
          </a:prstGeom>
          <a:noFill/>
        </p:spPr>
        <p:txBody>
          <a:bodyPr wrap="square" anchor="t" lIns="25400" rIns="25400" tIns="0" bIns="0">
            <a:noAutofit/>
          </a:bodyPr>
          <a:lstStyle/>
          <a:p>
            <a:pPr algn="l">
              <a:lnSpc>
                <a:spcPct val="100000"/>
              </a:lnSpc>
            </a:pPr>
            <a:r>
              <a:rPr sz="1500" b="1">
                <a:solidFill>
                  <a:srgbClr val="17314F"/>
                </a:solidFill>
                <a:latin typeface="Arial"/>
              </a:rPr>
              <a:t>The product gets closer to full browse, save, version, and compare workflows instead of stopping at partial desktop integration.</a:t>
            </a:r>
          </a:p>
        </p:txBody>
      </p:sp>
      <p:sp>
        <p:nvSpPr>
          <p:cNvPr id="25" name="TextBox 24"/>
          <p:cNvSpPr txBox="1"/>
          <p:nvPr/>
        </p:nvSpPr>
        <p:spPr>
          <a:xfrm>
            <a:off x="762000" y="5778500"/>
            <a:ext cx="10287000" cy="266700"/>
          </a:xfrm>
          <a:prstGeom prst="rect">
            <a:avLst/>
          </a:prstGeom>
          <a:noFill/>
        </p:spPr>
        <p:txBody>
          <a:bodyPr wrap="square" anchor="t" lIns="25400" rIns="25400" tIns="0" bIns="0">
            <a:noAutofit/>
          </a:bodyPr>
          <a:lstStyle/>
          <a:p>
            <a:pPr algn="l">
              <a:lnSpc>
                <a:spcPct val="100000"/>
              </a:lnSpc>
            </a:pPr>
            <a:r>
              <a:rPr sz="1400" b="1">
                <a:solidFill>
                  <a:srgbClr val="B7791F"/>
                </a:solidFill>
                <a:latin typeface="Arial"/>
              </a:rPr>
              <a:t>If the goal is to evaluate whether EmmaNeigh can become a real operating layer rather than just another demo, these are the two inputs that matter most.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9000" y="0"/>
            <a:ext cx="2413000" cy="685800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
            <a:ext cx="8381999" cy="939799"/>
          </a:xfrm>
          <a:prstGeom prst="rect">
            <a:avLst/>
          </a:prstGeom>
          <a:noFill/>
        </p:spPr>
        <p:txBody>
          <a:bodyPr wrap="square" anchor="t" lIns="25400" rIns="25400" tIns="0" bIns="0">
            <a:noAutofit/>
          </a:bodyPr>
          <a:lstStyle/>
          <a:p>
            <a:pPr algn="l">
              <a:lnSpc>
                <a:spcPct val="95000"/>
              </a:lnSpc>
            </a:pPr>
            <a:r>
              <a:rPr sz="3600" b="1">
                <a:solidFill>
                  <a:srgbClr val="17314F"/>
                </a:solidFill>
                <a:latin typeface="Arial Narrow"/>
              </a:rPr>
              <a:t>A sensible next step is a narrow pilot, not a broad rollout.</a:t>
            </a:r>
          </a:p>
        </p:txBody>
      </p:sp>
      <p:sp>
        <p:nvSpPr>
          <p:cNvPr id="6" name="TextBox 5"/>
          <p:cNvSpPr txBox="1"/>
          <p:nvPr/>
        </p:nvSpPr>
        <p:spPr>
          <a:xfrm>
            <a:off x="762000" y="1409700"/>
            <a:ext cx="8255000" cy="457200"/>
          </a:xfrm>
          <a:prstGeom prst="rect">
            <a:avLst/>
          </a:prstGeom>
          <a:noFill/>
        </p:spPr>
        <p:txBody>
          <a:bodyPr wrap="square" anchor="t" lIns="25400" rIns="25400" tIns="0" bIns="0">
            <a:noAutofit/>
          </a:bodyPr>
          <a:lstStyle/>
          <a:p>
            <a:pPr algn="l">
              <a:lnSpc>
                <a:spcPct val="100000"/>
              </a:lnSpc>
            </a:pPr>
            <a:r>
              <a:rPr sz="1800" b="1">
                <a:solidFill>
                  <a:srgbClr val="667D96"/>
                </a:solidFill>
                <a:latin typeface="Arial"/>
              </a:rPr>
              <a:t>The strongest test is a focused pilot against a handful of real transaction workflows with the right system access.</a:t>
            </a:r>
          </a:p>
        </p:txBody>
      </p:sp>
      <p:sp>
        <p:nvSpPr>
          <p:cNvPr id="7" name="Rounded Rectangle 6"/>
          <p:cNvSpPr/>
          <p:nvPr/>
        </p:nvSpPr>
        <p:spPr>
          <a:xfrm>
            <a:off x="762000" y="2032000"/>
            <a:ext cx="5969000" cy="36830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235200"/>
            <a:ext cx="2667000" cy="279400"/>
          </a:xfrm>
          <a:prstGeom prst="rect">
            <a:avLst/>
          </a:prstGeom>
          <a:noFill/>
        </p:spPr>
        <p:txBody>
          <a:bodyPr wrap="square" anchor="t" lIns="25400" rIns="25400" tIns="0" bIns="0">
            <a:noAutofit/>
          </a:bodyPr>
          <a:lstStyle/>
          <a:p>
            <a:pPr algn="l">
              <a:lnSpc>
                <a:spcPct val="100000"/>
              </a:lnSpc>
            </a:pPr>
            <a:r>
              <a:rPr sz="2500" b="1">
                <a:solidFill>
                  <a:srgbClr val="17314F"/>
                </a:solidFill>
                <a:latin typeface="Arial Narrow"/>
              </a:rPr>
              <a:t>Suggested pilot structure</a:t>
            </a:r>
          </a:p>
        </p:txBody>
      </p:sp>
      <p:sp>
        <p:nvSpPr>
          <p:cNvPr id="9" name="Rounded Rectangle 8"/>
          <p:cNvSpPr/>
          <p:nvPr/>
        </p:nvSpPr>
        <p:spPr>
          <a:xfrm>
            <a:off x="1143000" y="2882900"/>
            <a:ext cx="114300" cy="114300"/>
          </a:xfrm>
          <a:prstGeom prst="roundRect">
            <a:avLst/>
          </a:prstGeom>
          <a:solidFill>
            <a:srgbClr val="0B6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200150" y="2997200"/>
            <a:ext cx="0" cy="381000"/>
          </a:xfrm>
          <a:prstGeom prst="line">
            <a:avLst/>
          </a:prstGeom>
          <a:ln w="38100">
            <a:solidFill>
              <a:srgbClr val="0B6BC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524000" y="2806700"/>
            <a:ext cx="1270000" cy="241300"/>
          </a:xfrm>
          <a:prstGeom prst="rect">
            <a:avLst/>
          </a:prstGeom>
          <a:noFill/>
        </p:spPr>
        <p:txBody>
          <a:bodyPr wrap="square" anchor="t" lIns="25400" rIns="25400" tIns="0" bIns="0">
            <a:noAutofit/>
          </a:bodyPr>
          <a:lstStyle/>
          <a:p>
            <a:pPr algn="l">
              <a:lnSpc>
                <a:spcPct val="100000"/>
              </a:lnSpc>
            </a:pPr>
            <a:r>
              <a:rPr sz="2200" b="1">
                <a:solidFill>
                  <a:srgbClr val="17314F"/>
                </a:solidFill>
                <a:latin typeface="Arial Narrow"/>
              </a:rPr>
              <a:t>Week 1</a:t>
            </a:r>
          </a:p>
        </p:txBody>
      </p:sp>
      <p:sp>
        <p:nvSpPr>
          <p:cNvPr id="12" name="TextBox 11"/>
          <p:cNvSpPr txBox="1"/>
          <p:nvPr/>
        </p:nvSpPr>
        <p:spPr>
          <a:xfrm>
            <a:off x="1524000" y="3073400"/>
            <a:ext cx="4445000" cy="355600"/>
          </a:xfrm>
          <a:prstGeom prst="rect">
            <a:avLst/>
          </a:prstGeom>
          <a:noFill/>
        </p:spPr>
        <p:txBody>
          <a:bodyPr wrap="square" anchor="t" lIns="25400" rIns="25400" tIns="0" bIns="0">
            <a:noAutofit/>
          </a:bodyPr>
          <a:lstStyle/>
          <a:p>
            <a:pPr algn="l">
              <a:lnSpc>
                <a:spcPct val="100000"/>
              </a:lnSpc>
            </a:pPr>
            <a:r>
              <a:rPr sz="1400" b="1">
                <a:solidFill>
                  <a:srgbClr val="39506B"/>
                </a:solidFill>
                <a:latin typeface="Arial"/>
              </a:rPr>
              <a:t>Connect the reasoning layer and target integrations</a:t>
            </a:r>
          </a:p>
        </p:txBody>
      </p:sp>
      <p:sp>
        <p:nvSpPr>
          <p:cNvPr id="13" name="Rounded Rectangle 12"/>
          <p:cNvSpPr/>
          <p:nvPr/>
        </p:nvSpPr>
        <p:spPr>
          <a:xfrm>
            <a:off x="1143000" y="3695700"/>
            <a:ext cx="114300" cy="1143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200150" y="3810000"/>
            <a:ext cx="0" cy="380999"/>
          </a:xfrm>
          <a:prstGeom prst="line">
            <a:avLst/>
          </a:prstGeom>
          <a:ln w="38100">
            <a:solidFill>
              <a:srgbClr val="B7791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524000" y="3619500"/>
            <a:ext cx="1270000" cy="241300"/>
          </a:xfrm>
          <a:prstGeom prst="rect">
            <a:avLst/>
          </a:prstGeom>
          <a:noFill/>
        </p:spPr>
        <p:txBody>
          <a:bodyPr wrap="square" anchor="t" lIns="25400" rIns="25400" tIns="0" bIns="0">
            <a:noAutofit/>
          </a:bodyPr>
          <a:lstStyle/>
          <a:p>
            <a:pPr algn="l">
              <a:lnSpc>
                <a:spcPct val="100000"/>
              </a:lnSpc>
            </a:pPr>
            <a:r>
              <a:rPr sz="2200" b="1">
                <a:solidFill>
                  <a:srgbClr val="17314F"/>
                </a:solidFill>
                <a:latin typeface="Arial Narrow"/>
              </a:rPr>
              <a:t>Week 2</a:t>
            </a:r>
          </a:p>
        </p:txBody>
      </p:sp>
      <p:sp>
        <p:nvSpPr>
          <p:cNvPr id="16" name="TextBox 15"/>
          <p:cNvSpPr txBox="1"/>
          <p:nvPr/>
        </p:nvSpPr>
        <p:spPr>
          <a:xfrm>
            <a:off x="1524000" y="3886200"/>
            <a:ext cx="4445000" cy="355600"/>
          </a:xfrm>
          <a:prstGeom prst="rect">
            <a:avLst/>
          </a:prstGeom>
          <a:noFill/>
        </p:spPr>
        <p:txBody>
          <a:bodyPr wrap="square" anchor="t" lIns="25400" rIns="25400" tIns="0" bIns="0">
            <a:noAutofit/>
          </a:bodyPr>
          <a:lstStyle/>
          <a:p>
            <a:pPr algn="l">
              <a:lnSpc>
                <a:spcPct val="100000"/>
              </a:lnSpc>
            </a:pPr>
            <a:r>
              <a:rPr sz="1400" b="1">
                <a:solidFill>
                  <a:srgbClr val="39506B"/>
                </a:solidFill>
                <a:latin typeface="Arial"/>
              </a:rPr>
              <a:t>Validate three workflows end-to-end on sample matters</a:t>
            </a:r>
          </a:p>
        </p:txBody>
      </p:sp>
      <p:sp>
        <p:nvSpPr>
          <p:cNvPr id="17" name="Rounded Rectangle 16"/>
          <p:cNvSpPr/>
          <p:nvPr/>
        </p:nvSpPr>
        <p:spPr>
          <a:xfrm>
            <a:off x="1143000" y="4508500"/>
            <a:ext cx="114300" cy="1143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0" y="4432300"/>
            <a:ext cx="1270000" cy="241300"/>
          </a:xfrm>
          <a:prstGeom prst="rect">
            <a:avLst/>
          </a:prstGeom>
          <a:noFill/>
        </p:spPr>
        <p:txBody>
          <a:bodyPr wrap="square" anchor="t" lIns="25400" rIns="25400" tIns="0" bIns="0">
            <a:noAutofit/>
          </a:bodyPr>
          <a:lstStyle/>
          <a:p>
            <a:pPr algn="l">
              <a:lnSpc>
                <a:spcPct val="100000"/>
              </a:lnSpc>
            </a:pPr>
            <a:r>
              <a:rPr sz="2200" b="1">
                <a:solidFill>
                  <a:srgbClr val="17314F"/>
                </a:solidFill>
                <a:latin typeface="Arial Narrow"/>
              </a:rPr>
              <a:t>Weeks 3–5</a:t>
            </a:r>
          </a:p>
        </p:txBody>
      </p:sp>
      <p:sp>
        <p:nvSpPr>
          <p:cNvPr id="19" name="TextBox 18"/>
          <p:cNvSpPr txBox="1"/>
          <p:nvPr/>
        </p:nvSpPr>
        <p:spPr>
          <a:xfrm>
            <a:off x="1524000" y="4699000"/>
            <a:ext cx="4445000" cy="355600"/>
          </a:xfrm>
          <a:prstGeom prst="rect">
            <a:avLst/>
          </a:prstGeom>
          <a:noFill/>
        </p:spPr>
        <p:txBody>
          <a:bodyPr wrap="square" anchor="t" lIns="25400" rIns="25400" tIns="0" bIns="0">
            <a:noAutofit/>
          </a:bodyPr>
          <a:lstStyle/>
          <a:p>
            <a:pPr algn="l">
              <a:lnSpc>
                <a:spcPct val="100000"/>
              </a:lnSpc>
            </a:pPr>
            <a:r>
              <a:rPr sz="1400" b="1">
                <a:solidFill>
                  <a:srgbClr val="39506B"/>
                </a:solidFill>
                <a:latin typeface="Arial"/>
              </a:rPr>
              <a:t>Run a small user group, measure cycle-time reduction, and identify which permissions unlock the next tier.</a:t>
            </a:r>
          </a:p>
        </p:txBody>
      </p:sp>
      <p:sp>
        <p:nvSpPr>
          <p:cNvPr id="20" name="Rounded Rectangle 19"/>
          <p:cNvSpPr/>
          <p:nvPr/>
        </p:nvSpPr>
        <p:spPr>
          <a:xfrm>
            <a:off x="7112000" y="2032000"/>
            <a:ext cx="4318000" cy="3683000"/>
          </a:xfrm>
          <a:prstGeom prst="roundRect">
            <a:avLst/>
          </a:prstGeom>
          <a:solidFill>
            <a:srgbClr val="FFFFFF"/>
          </a:solidFill>
          <a:ln w="19050">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0" y="2235200"/>
            <a:ext cx="3302000" cy="317500"/>
          </a:xfrm>
          <a:prstGeom prst="rect">
            <a:avLst/>
          </a:prstGeom>
          <a:noFill/>
        </p:spPr>
        <p:txBody>
          <a:bodyPr wrap="square" anchor="t" lIns="25400" rIns="25400" tIns="0" bIns="0">
            <a:noAutofit/>
          </a:bodyPr>
          <a:lstStyle/>
          <a:p>
            <a:pPr algn="l">
              <a:lnSpc>
                <a:spcPct val="100000"/>
              </a:lnSpc>
            </a:pPr>
            <a:r>
              <a:rPr sz="2400" b="1">
                <a:solidFill>
                  <a:srgbClr val="17314F"/>
                </a:solidFill>
                <a:latin typeface="Arial Narrow"/>
              </a:rPr>
              <a:t>What success would look like</a:t>
            </a:r>
          </a:p>
        </p:txBody>
      </p:sp>
      <p:sp>
        <p:nvSpPr>
          <p:cNvPr id="22" name="Rounded Rectangle 21"/>
          <p:cNvSpPr/>
          <p:nvPr/>
        </p:nvSpPr>
        <p:spPr>
          <a:xfrm>
            <a:off x="7366000" y="2730500"/>
            <a:ext cx="3556000" cy="660400"/>
          </a:xfrm>
          <a:prstGeom prst="roundRect">
            <a:avLst/>
          </a:prstGeom>
          <a:solidFill>
            <a:srgbClr val="F7FBFF"/>
          </a:solidFill>
          <a:ln w="19050">
            <a:solidFill>
              <a:srgbClr val="CFE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56500" y="2819400"/>
            <a:ext cx="3175000" cy="215900"/>
          </a:xfrm>
          <a:prstGeom prst="rect">
            <a:avLst/>
          </a:prstGeom>
          <a:noFill/>
        </p:spPr>
        <p:txBody>
          <a:bodyPr wrap="square" anchor="t" lIns="25400" rIns="25400" tIns="0" bIns="0">
            <a:noAutofit/>
          </a:bodyPr>
          <a:lstStyle/>
          <a:p>
            <a:pPr algn="l">
              <a:lnSpc>
                <a:spcPct val="100000"/>
              </a:lnSpc>
            </a:pPr>
            <a:r>
              <a:rPr sz="2000" b="1">
                <a:solidFill>
                  <a:srgbClr val="17314F"/>
                </a:solidFill>
                <a:latin typeface="Arial Narrow"/>
              </a:rPr>
              <a:t>Faster checklist maintenance</a:t>
            </a:r>
          </a:p>
        </p:txBody>
      </p:sp>
      <p:sp>
        <p:nvSpPr>
          <p:cNvPr id="24" name="TextBox 23"/>
          <p:cNvSpPr txBox="1"/>
          <p:nvPr/>
        </p:nvSpPr>
        <p:spPr>
          <a:xfrm>
            <a:off x="7556500" y="3035300"/>
            <a:ext cx="3175000" cy="254000"/>
          </a:xfrm>
          <a:prstGeom prst="rect">
            <a:avLst/>
          </a:prstGeom>
          <a:noFill/>
        </p:spPr>
        <p:txBody>
          <a:bodyPr wrap="square" anchor="t" lIns="25400" rIns="25400" tIns="0" bIns="0">
            <a:noAutofit/>
          </a:bodyPr>
          <a:lstStyle/>
          <a:p>
            <a:pPr algn="l">
              <a:lnSpc>
                <a:spcPct val="100000"/>
              </a:lnSpc>
            </a:pPr>
            <a:r>
              <a:rPr sz="1300" b="1">
                <a:solidFill>
                  <a:srgbClr val="39506B"/>
                </a:solidFill>
                <a:latin typeface="Arial"/>
              </a:rPr>
              <a:t>Comments and status updated from actual matter activity</a:t>
            </a:r>
          </a:p>
        </p:txBody>
      </p:sp>
      <p:sp>
        <p:nvSpPr>
          <p:cNvPr id="25" name="Rounded Rectangle 24"/>
          <p:cNvSpPr/>
          <p:nvPr/>
        </p:nvSpPr>
        <p:spPr>
          <a:xfrm>
            <a:off x="7366000" y="3479800"/>
            <a:ext cx="3556000" cy="660400"/>
          </a:xfrm>
          <a:prstGeom prst="roundRect">
            <a:avLst/>
          </a:prstGeom>
          <a:solidFill>
            <a:srgbClr val="F7FBFF"/>
          </a:solidFill>
          <a:ln w="19050">
            <a:solidFill>
              <a:srgbClr val="CFE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56500" y="3568700"/>
            <a:ext cx="3175000" cy="215900"/>
          </a:xfrm>
          <a:prstGeom prst="rect">
            <a:avLst/>
          </a:prstGeom>
          <a:noFill/>
        </p:spPr>
        <p:txBody>
          <a:bodyPr wrap="square" anchor="t" lIns="25400" rIns="25400" tIns="0" bIns="0">
            <a:noAutofit/>
          </a:bodyPr>
          <a:lstStyle/>
          <a:p>
            <a:pPr algn="l">
              <a:lnSpc>
                <a:spcPct val="100000"/>
              </a:lnSpc>
            </a:pPr>
            <a:r>
              <a:rPr sz="2000" b="1">
                <a:solidFill>
                  <a:srgbClr val="17314F"/>
                </a:solidFill>
                <a:latin typeface="Arial Narrow"/>
              </a:rPr>
              <a:t>Less manual packet work</a:t>
            </a:r>
          </a:p>
        </p:txBody>
      </p:sp>
      <p:sp>
        <p:nvSpPr>
          <p:cNvPr id="27" name="TextBox 26"/>
          <p:cNvSpPr txBox="1"/>
          <p:nvPr/>
        </p:nvSpPr>
        <p:spPr>
          <a:xfrm>
            <a:off x="7556500" y="3784600"/>
            <a:ext cx="3175000" cy="254000"/>
          </a:xfrm>
          <a:prstGeom prst="rect">
            <a:avLst/>
          </a:prstGeom>
          <a:noFill/>
        </p:spPr>
        <p:txBody>
          <a:bodyPr wrap="square" anchor="t" lIns="25400" rIns="25400" tIns="0" bIns="0">
            <a:noAutofit/>
          </a:bodyPr>
          <a:lstStyle/>
          <a:p>
            <a:pPr algn="l">
              <a:lnSpc>
                <a:spcPct val="100000"/>
              </a:lnSpc>
            </a:pPr>
            <a:r>
              <a:rPr sz="1300" b="1">
                <a:solidFill>
                  <a:srgbClr val="39506B"/>
                </a:solidFill>
                <a:latin typeface="Arial"/>
              </a:rPr>
              <a:t>Signature and executed-version assembly compressed materially</a:t>
            </a:r>
          </a:p>
        </p:txBody>
      </p:sp>
      <p:sp>
        <p:nvSpPr>
          <p:cNvPr id="28" name="Rounded Rectangle 27"/>
          <p:cNvSpPr/>
          <p:nvPr/>
        </p:nvSpPr>
        <p:spPr>
          <a:xfrm>
            <a:off x="7366000" y="4229100"/>
            <a:ext cx="3556000" cy="660400"/>
          </a:xfrm>
          <a:prstGeom prst="roundRect">
            <a:avLst/>
          </a:prstGeom>
          <a:solidFill>
            <a:srgbClr val="F7FBFF"/>
          </a:solidFill>
          <a:ln w="19050">
            <a:solidFill>
              <a:srgbClr val="CFE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56500" y="4318000"/>
            <a:ext cx="3175000" cy="215900"/>
          </a:xfrm>
          <a:prstGeom prst="rect">
            <a:avLst/>
          </a:prstGeom>
          <a:noFill/>
        </p:spPr>
        <p:txBody>
          <a:bodyPr wrap="square" anchor="t" lIns="25400" rIns="25400" tIns="0" bIns="0">
            <a:noAutofit/>
          </a:bodyPr>
          <a:lstStyle/>
          <a:p>
            <a:pPr algn="l">
              <a:lnSpc>
                <a:spcPct val="100000"/>
              </a:lnSpc>
            </a:pPr>
            <a:r>
              <a:rPr sz="2000" b="1">
                <a:solidFill>
                  <a:srgbClr val="17314F"/>
                </a:solidFill>
                <a:latin typeface="Arial Narrow"/>
              </a:rPr>
              <a:t>Lower write-off pressure</a:t>
            </a:r>
          </a:p>
        </p:txBody>
      </p:sp>
      <p:sp>
        <p:nvSpPr>
          <p:cNvPr id="30" name="TextBox 29"/>
          <p:cNvSpPr txBox="1"/>
          <p:nvPr/>
        </p:nvSpPr>
        <p:spPr>
          <a:xfrm>
            <a:off x="7556500" y="4533900"/>
            <a:ext cx="3175000" cy="254000"/>
          </a:xfrm>
          <a:prstGeom prst="rect">
            <a:avLst/>
          </a:prstGeom>
          <a:noFill/>
        </p:spPr>
        <p:txBody>
          <a:bodyPr wrap="square" anchor="t" lIns="25400" rIns="25400" tIns="0" bIns="0">
            <a:noAutofit/>
          </a:bodyPr>
          <a:lstStyle/>
          <a:p>
            <a:pPr algn="l">
              <a:lnSpc>
                <a:spcPct val="100000"/>
              </a:lnSpc>
            </a:pPr>
            <a:r>
              <a:rPr sz="1300" b="1">
                <a:solidFill>
                  <a:srgbClr val="39506B"/>
                </a:solidFill>
                <a:latin typeface="Arial"/>
              </a:rPr>
              <a:t>Less lawyer time spent on operational execution</a:t>
            </a:r>
          </a:p>
        </p:txBody>
      </p:sp>
      <p:sp>
        <p:nvSpPr>
          <p:cNvPr id="31" name="Rounded Rectangle 30"/>
          <p:cNvSpPr/>
          <p:nvPr/>
        </p:nvSpPr>
        <p:spPr>
          <a:xfrm>
            <a:off x="7366000" y="4978400"/>
            <a:ext cx="3556000" cy="660400"/>
          </a:xfrm>
          <a:prstGeom prst="roundRect">
            <a:avLst/>
          </a:prstGeom>
          <a:solidFill>
            <a:srgbClr val="F7FBFF"/>
          </a:solidFill>
          <a:ln w="19050">
            <a:solidFill>
              <a:srgbClr val="CFE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56500" y="5067300"/>
            <a:ext cx="3175000" cy="215900"/>
          </a:xfrm>
          <a:prstGeom prst="rect">
            <a:avLst/>
          </a:prstGeom>
          <a:noFill/>
        </p:spPr>
        <p:txBody>
          <a:bodyPr wrap="square" anchor="t" lIns="25400" rIns="25400" tIns="0" bIns="0">
            <a:noAutofit/>
          </a:bodyPr>
          <a:lstStyle/>
          <a:p>
            <a:pPr algn="l">
              <a:lnSpc>
                <a:spcPct val="100000"/>
              </a:lnSpc>
            </a:pPr>
            <a:r>
              <a:rPr sz="2000" b="1">
                <a:solidFill>
                  <a:srgbClr val="17314F"/>
                </a:solidFill>
                <a:latin typeface="Arial Narrow"/>
              </a:rPr>
              <a:t>Clear integration roadmap</a:t>
            </a:r>
          </a:p>
        </p:txBody>
      </p:sp>
      <p:sp>
        <p:nvSpPr>
          <p:cNvPr id="33" name="TextBox 32"/>
          <p:cNvSpPr txBox="1"/>
          <p:nvPr/>
        </p:nvSpPr>
        <p:spPr>
          <a:xfrm>
            <a:off x="7556500" y="5283200"/>
            <a:ext cx="3175000" cy="254000"/>
          </a:xfrm>
          <a:prstGeom prst="rect">
            <a:avLst/>
          </a:prstGeom>
          <a:noFill/>
        </p:spPr>
        <p:txBody>
          <a:bodyPr wrap="square" anchor="t" lIns="25400" rIns="25400" tIns="0" bIns="0">
            <a:noAutofit/>
          </a:bodyPr>
          <a:lstStyle/>
          <a:p>
            <a:pPr algn="l">
              <a:lnSpc>
                <a:spcPct val="100000"/>
              </a:lnSpc>
            </a:pPr>
            <a:r>
              <a:rPr sz="1300" b="1">
                <a:solidFill>
                  <a:srgbClr val="39506B"/>
                </a:solidFill>
                <a:latin typeface="Arial"/>
              </a:rPr>
              <a:t>Know exactly which permissions unlock the next tier of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