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3.png"/><Relationship Id="rId6"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2.png"/><Relationship Id="rId6"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5.png"/><Relationship Id="rId6"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917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10800000">
            <a:off x="9271000" y="-63500"/>
            <a:ext cx="2984500" cy="2032000"/>
          </a:xfrm>
          <a:prstGeom prst="rtTriangl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ight Triangle 3"/>
          <p:cNvSpPr/>
          <p:nvPr/>
        </p:nvSpPr>
        <p:spPr>
          <a:xfrm>
            <a:off x="-127000" y="5207000"/>
            <a:ext cx="2286000" cy="1778000"/>
          </a:xfrm>
          <a:prstGeom prst="rtTriangle">
            <a:avLst/>
          </a:prstGeom>
          <a:solidFill>
            <a:srgbClr val="67E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35000" y="533400"/>
            <a:ext cx="1714500" cy="266700"/>
          </a:xfrm>
          <a:prstGeom prst="roundRect">
            <a:avLst/>
          </a:prstGeom>
          <a:solidFill>
            <a:srgbClr val="10253F"/>
          </a:solidFill>
          <a:ln w="12700">
            <a:solidFill>
              <a:srgbClr val="2941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300" y="558800"/>
            <a:ext cx="1524000" cy="203200"/>
          </a:xfrm>
          <a:prstGeom prst="rect">
            <a:avLst/>
          </a:prstGeom>
          <a:noFill/>
        </p:spPr>
        <p:txBody>
          <a:bodyPr wrap="square" anchor="t" lIns="25400" rIns="25400" tIns="0" bIns="0">
            <a:noAutofit/>
          </a:bodyPr>
          <a:lstStyle/>
          <a:p>
            <a:pPr algn="l">
              <a:lnSpc>
                <a:spcPct val="100000"/>
              </a:lnSpc>
            </a:pPr>
            <a:r>
              <a:rPr sz="1400" b="1">
                <a:solidFill>
                  <a:srgbClr val="A8B5C8"/>
                </a:solidFill>
                <a:latin typeface="Arial"/>
              </a:rPr>
              <a:t>KIRKLAND AI × EMMANEIGH</a:t>
            </a:r>
          </a:p>
        </p:txBody>
      </p:sp>
      <p:sp>
        <p:nvSpPr>
          <p:cNvPr id="7" name="TextBox 6"/>
          <p:cNvSpPr txBox="1"/>
          <p:nvPr/>
        </p:nvSpPr>
        <p:spPr>
          <a:xfrm>
            <a:off x="635000" y="1270000"/>
            <a:ext cx="4826000" cy="1778000"/>
          </a:xfrm>
          <a:prstGeom prst="rect">
            <a:avLst/>
          </a:prstGeom>
          <a:noFill/>
        </p:spPr>
        <p:txBody>
          <a:bodyPr wrap="square" anchor="t" lIns="25400" rIns="25400" tIns="0" bIns="0">
            <a:noAutofit/>
          </a:bodyPr>
          <a:lstStyle/>
          <a:p>
            <a:pPr algn="l">
              <a:lnSpc>
                <a:spcPct val="100000"/>
              </a:lnSpc>
            </a:pPr>
            <a:r>
              <a:rPr sz="5000" b="1">
                <a:solidFill>
                  <a:srgbClr val="F6F1E8"/>
                </a:solidFill>
                <a:latin typeface="Arial Narrow"/>
              </a:rPr>
              <a:t>The model can reason.</a:t>
            </a:r>
          </a:p>
          <a:p>
            <a:pPr algn="l">
              <a:lnSpc>
                <a:spcPct val="100000"/>
              </a:lnSpc>
            </a:pPr>
            <a:r>
              <a:rPr sz="5000" b="1">
                <a:solidFill>
                  <a:srgbClr val="F6F1E8"/>
                </a:solidFill>
                <a:latin typeface="Arial Narrow"/>
              </a:rPr>
              <a:t>EmmaNeigh makes</a:t>
            </a:r>
          </a:p>
          <a:p>
            <a:pPr algn="l">
              <a:lnSpc>
                <a:spcPct val="100000"/>
              </a:lnSpc>
            </a:pPr>
            <a:r>
              <a:rPr sz="5000" b="1">
                <a:solidFill>
                  <a:srgbClr val="F6F1E8"/>
                </a:solidFill>
                <a:latin typeface="Arial Narrow"/>
              </a:rPr>
              <a:t>it execute.</a:t>
            </a:r>
          </a:p>
        </p:txBody>
      </p:sp>
      <p:sp>
        <p:nvSpPr>
          <p:cNvPr id="8" name="TextBox 7"/>
          <p:cNvSpPr txBox="1"/>
          <p:nvPr/>
        </p:nvSpPr>
        <p:spPr>
          <a:xfrm>
            <a:off x="635000" y="3429000"/>
            <a:ext cx="4889500" cy="698500"/>
          </a:xfrm>
          <a:prstGeom prst="rect">
            <a:avLst/>
          </a:prstGeom>
          <a:noFill/>
        </p:spPr>
        <p:txBody>
          <a:bodyPr wrap="square" anchor="t" lIns="25400" rIns="25400" tIns="0" bIns="0">
            <a:noAutofit/>
          </a:bodyPr>
          <a:lstStyle/>
          <a:p>
            <a:pPr algn="l">
              <a:lnSpc>
                <a:spcPct val="100000"/>
              </a:lnSpc>
            </a:pPr>
            <a:r>
              <a:rPr sz="2100" b="1">
                <a:solidFill>
                  <a:srgbClr val="A8B5C8"/>
                </a:solidFill>
                <a:latin typeface="Arial"/>
              </a:rPr>
              <a:t>A model-agnostic execution layer for matter administration, paralegal workflows, and document operations across the legal stack.</a:t>
            </a:r>
          </a:p>
        </p:txBody>
      </p:sp>
      <p:sp>
        <p:nvSpPr>
          <p:cNvPr id="9" name="Rounded Rectangle 8"/>
          <p:cNvSpPr/>
          <p:nvPr/>
        </p:nvSpPr>
        <p:spPr>
          <a:xfrm>
            <a:off x="635000" y="4457700"/>
            <a:ext cx="4190999" cy="660400"/>
          </a:xfrm>
          <a:prstGeom prst="roundRect">
            <a:avLst/>
          </a:prstGeom>
          <a:solidFill>
            <a:srgbClr val="12233D"/>
          </a:solidFill>
          <a:ln w="19050">
            <a:solidFill>
              <a:srgbClr val="3046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5500" y="4584700"/>
            <a:ext cx="3810000" cy="266700"/>
          </a:xfrm>
          <a:prstGeom prst="rect">
            <a:avLst/>
          </a:prstGeom>
          <a:noFill/>
        </p:spPr>
        <p:txBody>
          <a:bodyPr wrap="square" anchor="t" lIns="25400" rIns="25400" tIns="0" bIns="0">
            <a:noAutofit/>
          </a:bodyPr>
          <a:lstStyle/>
          <a:p>
            <a:pPr algn="l">
              <a:lnSpc>
                <a:spcPct val="100000"/>
              </a:lnSpc>
            </a:pPr>
            <a:r>
              <a:rPr sz="2600" b="1">
                <a:solidFill>
                  <a:srgbClr val="FBBF24"/>
                </a:solidFill>
                <a:latin typeface="Arial Narrow"/>
              </a:rPr>
              <a:t>Execution is the moat.</a:t>
            </a:r>
          </a:p>
        </p:txBody>
      </p:sp>
      <p:sp>
        <p:nvSpPr>
          <p:cNvPr id="11" name="TextBox 10"/>
          <p:cNvSpPr txBox="1"/>
          <p:nvPr/>
        </p:nvSpPr>
        <p:spPr>
          <a:xfrm>
            <a:off x="825500" y="4851400"/>
            <a:ext cx="3175000" cy="177800"/>
          </a:xfrm>
          <a:prstGeom prst="rect">
            <a:avLst/>
          </a:prstGeom>
          <a:noFill/>
        </p:spPr>
        <p:txBody>
          <a:bodyPr wrap="square" anchor="t" lIns="25400" rIns="25400" tIns="0" bIns="0">
            <a:noAutofit/>
          </a:bodyPr>
          <a:lstStyle/>
          <a:p>
            <a:pPr algn="l">
              <a:lnSpc>
                <a:spcPct val="100000"/>
              </a:lnSpc>
            </a:pPr>
            <a:r>
              <a:rPr sz="1600" b="1">
                <a:solidFill>
                  <a:srgbClr val="F6F1E8"/>
                </a:solidFill>
                <a:latin typeface="Arial"/>
              </a:rPr>
              <a:t>Models will change. The workflow fabric compounds.</a:t>
            </a:r>
          </a:p>
        </p:txBody>
      </p:sp>
      <p:sp>
        <p:nvSpPr>
          <p:cNvPr id="12" name="Rounded Rectangle 11"/>
          <p:cNvSpPr/>
          <p:nvPr/>
        </p:nvSpPr>
        <p:spPr>
          <a:xfrm>
            <a:off x="7175500" y="1143000"/>
            <a:ext cx="4064000" cy="4127500"/>
          </a:xfrm>
          <a:prstGeom prst="roundRect">
            <a:avLst/>
          </a:prstGeom>
          <a:solidFill>
            <a:srgbClr val="0C1828"/>
          </a:solidFill>
          <a:ln w="19050">
            <a:solidFill>
              <a:srgbClr val="24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3000" y="1371600"/>
            <a:ext cx="2032000" cy="266700"/>
          </a:xfrm>
          <a:prstGeom prst="rect">
            <a:avLst/>
          </a:prstGeom>
          <a:noFill/>
        </p:spPr>
        <p:txBody>
          <a:bodyPr wrap="square" anchor="t" lIns="25400" rIns="25400" tIns="0" bIns="0">
            <a:noAutofit/>
          </a:bodyPr>
          <a:lstStyle/>
          <a:p>
            <a:pPr algn="l">
              <a:lnSpc>
                <a:spcPct val="100000"/>
              </a:lnSpc>
            </a:pPr>
            <a:r>
              <a:rPr sz="2800" b="1">
                <a:solidFill>
                  <a:srgbClr val="F6F1E8"/>
                </a:solidFill>
                <a:latin typeface="Arial Narrow"/>
              </a:rPr>
              <a:t>Execution fabric</a:t>
            </a:r>
          </a:p>
        </p:txBody>
      </p:sp>
      <p:sp>
        <p:nvSpPr>
          <p:cNvPr id="14" name="TextBox 13"/>
          <p:cNvSpPr txBox="1"/>
          <p:nvPr/>
        </p:nvSpPr>
        <p:spPr>
          <a:xfrm>
            <a:off x="7493000" y="1714500"/>
            <a:ext cx="3302000" cy="444500"/>
          </a:xfrm>
          <a:prstGeom prst="rect">
            <a:avLst/>
          </a:prstGeom>
          <a:noFill/>
        </p:spPr>
        <p:txBody>
          <a:bodyPr wrap="square" anchor="t" lIns="25400" rIns="25400" tIns="0" bIns="0">
            <a:noAutofit/>
          </a:bodyPr>
          <a:lstStyle/>
          <a:p>
            <a:pPr algn="l">
              <a:lnSpc>
                <a:spcPct val="100000"/>
              </a:lnSpc>
            </a:pPr>
            <a:r>
              <a:rPr sz="1800" b="1">
                <a:solidFill>
                  <a:srgbClr val="A8B5C8"/>
                </a:solidFill>
                <a:latin typeface="Arial"/>
              </a:rPr>
              <a:t>AI interprets intent. EmmaNeigh routes and executes the work across the actual operating stack.</a:t>
            </a:r>
          </a:p>
        </p:txBody>
      </p:sp>
      <p:sp>
        <p:nvSpPr>
          <p:cNvPr id="15" name="Rounded Rectangle 14"/>
          <p:cNvSpPr/>
          <p:nvPr/>
        </p:nvSpPr>
        <p:spPr>
          <a:xfrm>
            <a:off x="7493000" y="2286000"/>
            <a:ext cx="698500" cy="266700"/>
          </a:xfrm>
          <a:prstGeom prst="roundRect">
            <a:avLst/>
          </a:prstGeom>
          <a:solidFill>
            <a:srgbClr val="111B2D"/>
          </a:solidFill>
          <a:ln w="15875">
            <a:solidFill>
              <a:srgbClr val="2941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81899" y="2317750"/>
            <a:ext cx="520700" cy="203200"/>
          </a:xfrm>
          <a:prstGeom prst="rect">
            <a:avLst/>
          </a:prstGeom>
          <a:noFill/>
        </p:spPr>
        <p:txBody>
          <a:bodyPr wrap="none" anchor="ctr" lIns="25400" rIns="25400" tIns="12700" bIns="12700">
            <a:noAutofit/>
          </a:bodyPr>
          <a:lstStyle/>
          <a:p>
            <a:pPr algn="l">
              <a:lnSpc>
                <a:spcPct val="100000"/>
              </a:lnSpc>
            </a:pPr>
            <a:r>
              <a:rPr sz="1600" b="1">
                <a:solidFill>
                  <a:srgbClr val="F6F1E8"/>
                </a:solidFill>
                <a:latin typeface="Arial"/>
              </a:rPr>
              <a:t>Harvey</a:t>
            </a:r>
          </a:p>
        </p:txBody>
      </p:sp>
      <p:sp>
        <p:nvSpPr>
          <p:cNvPr id="17" name="Rounded Rectangle 16"/>
          <p:cNvSpPr/>
          <p:nvPr/>
        </p:nvSpPr>
        <p:spPr>
          <a:xfrm>
            <a:off x="8255000" y="2286000"/>
            <a:ext cx="698500" cy="266700"/>
          </a:xfrm>
          <a:prstGeom prst="roundRect">
            <a:avLst/>
          </a:prstGeom>
          <a:solidFill>
            <a:srgbClr val="111B2D"/>
          </a:solidFill>
          <a:ln w="15875">
            <a:solidFill>
              <a:srgbClr val="2941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43900" y="2317750"/>
            <a:ext cx="520700" cy="203200"/>
          </a:xfrm>
          <a:prstGeom prst="rect">
            <a:avLst/>
          </a:prstGeom>
          <a:noFill/>
        </p:spPr>
        <p:txBody>
          <a:bodyPr wrap="none" anchor="ctr" lIns="25400" rIns="25400" tIns="12700" bIns="12700">
            <a:noAutofit/>
          </a:bodyPr>
          <a:lstStyle/>
          <a:p>
            <a:pPr algn="l">
              <a:lnSpc>
                <a:spcPct val="100000"/>
              </a:lnSpc>
            </a:pPr>
            <a:r>
              <a:rPr sz="1600" b="1">
                <a:solidFill>
                  <a:srgbClr val="F6F1E8"/>
                </a:solidFill>
                <a:latin typeface="Arial"/>
              </a:rPr>
              <a:t>Claude</a:t>
            </a:r>
          </a:p>
        </p:txBody>
      </p:sp>
      <p:sp>
        <p:nvSpPr>
          <p:cNvPr id="19" name="Rounded Rectangle 18"/>
          <p:cNvSpPr/>
          <p:nvPr/>
        </p:nvSpPr>
        <p:spPr>
          <a:xfrm>
            <a:off x="9017000" y="2286000"/>
            <a:ext cx="660400" cy="266700"/>
          </a:xfrm>
          <a:prstGeom prst="roundRect">
            <a:avLst/>
          </a:prstGeom>
          <a:solidFill>
            <a:srgbClr val="111B2D"/>
          </a:solidFill>
          <a:ln w="15875">
            <a:solidFill>
              <a:srgbClr val="2941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05900" y="2317750"/>
            <a:ext cx="482600" cy="203200"/>
          </a:xfrm>
          <a:prstGeom prst="rect">
            <a:avLst/>
          </a:prstGeom>
          <a:noFill/>
        </p:spPr>
        <p:txBody>
          <a:bodyPr wrap="none" anchor="ctr" lIns="25400" rIns="25400" tIns="12700" bIns="12700">
            <a:noAutofit/>
          </a:bodyPr>
          <a:lstStyle/>
          <a:p>
            <a:pPr algn="l">
              <a:lnSpc>
                <a:spcPct val="100000"/>
              </a:lnSpc>
            </a:pPr>
            <a:r>
              <a:rPr sz="1600" b="1">
                <a:solidFill>
                  <a:srgbClr val="F6F1E8"/>
                </a:solidFill>
                <a:latin typeface="Arial"/>
              </a:rPr>
              <a:t>GPT</a:t>
            </a:r>
          </a:p>
        </p:txBody>
      </p:sp>
      <p:sp>
        <p:nvSpPr>
          <p:cNvPr id="21" name="Rounded Rectangle 20"/>
          <p:cNvSpPr/>
          <p:nvPr/>
        </p:nvSpPr>
        <p:spPr>
          <a:xfrm>
            <a:off x="9766300" y="2286000"/>
            <a:ext cx="901700" cy="266700"/>
          </a:xfrm>
          <a:prstGeom prst="roundRect">
            <a:avLst/>
          </a:prstGeom>
          <a:solidFill>
            <a:srgbClr val="111B2D"/>
          </a:solidFill>
          <a:ln w="15875">
            <a:solidFill>
              <a:srgbClr val="2941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855200" y="2317750"/>
            <a:ext cx="723900" cy="203200"/>
          </a:xfrm>
          <a:prstGeom prst="rect">
            <a:avLst/>
          </a:prstGeom>
          <a:noFill/>
        </p:spPr>
        <p:txBody>
          <a:bodyPr wrap="none" anchor="ctr" lIns="25400" rIns="25400" tIns="12700" bIns="12700">
            <a:noAutofit/>
          </a:bodyPr>
          <a:lstStyle/>
          <a:p>
            <a:pPr algn="l">
              <a:lnSpc>
                <a:spcPct val="100000"/>
              </a:lnSpc>
            </a:pPr>
            <a:r>
              <a:rPr sz="1600" b="1">
                <a:solidFill>
                  <a:srgbClr val="F6F1E8"/>
                </a:solidFill>
                <a:latin typeface="Arial"/>
              </a:rPr>
              <a:t>Groq / Qwen</a:t>
            </a:r>
          </a:p>
        </p:txBody>
      </p:sp>
      <p:sp>
        <p:nvSpPr>
          <p:cNvPr id="23" name="Rounded Rectangle 22"/>
          <p:cNvSpPr/>
          <p:nvPr/>
        </p:nvSpPr>
        <p:spPr>
          <a:xfrm>
            <a:off x="7493000" y="2667000"/>
            <a:ext cx="1016000" cy="266700"/>
          </a:xfrm>
          <a:prstGeom prst="roundRect">
            <a:avLst/>
          </a:prstGeom>
          <a:solidFill>
            <a:srgbClr val="111B2D"/>
          </a:solidFill>
          <a:ln w="15875">
            <a:solidFill>
              <a:srgbClr val="2941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81899" y="2698750"/>
            <a:ext cx="838200" cy="203200"/>
          </a:xfrm>
          <a:prstGeom prst="rect">
            <a:avLst/>
          </a:prstGeom>
          <a:noFill/>
        </p:spPr>
        <p:txBody>
          <a:bodyPr wrap="none" anchor="ctr" lIns="25400" rIns="25400" tIns="12700" bIns="12700">
            <a:noAutofit/>
          </a:bodyPr>
          <a:lstStyle/>
          <a:p>
            <a:pPr algn="l">
              <a:lnSpc>
                <a:spcPct val="100000"/>
              </a:lnSpc>
            </a:pPr>
            <a:r>
              <a:rPr sz="1600" b="1">
                <a:solidFill>
                  <a:srgbClr val="F6F1E8"/>
                </a:solidFill>
                <a:latin typeface="Arial"/>
              </a:rPr>
              <a:t>Local model</a:t>
            </a:r>
          </a:p>
        </p:txBody>
      </p:sp>
      <p:sp>
        <p:nvSpPr>
          <p:cNvPr id="25" name="Rounded Rectangle 24"/>
          <p:cNvSpPr/>
          <p:nvPr/>
        </p:nvSpPr>
        <p:spPr>
          <a:xfrm>
            <a:off x="7493000" y="3175000"/>
            <a:ext cx="3492500" cy="444500"/>
          </a:xfrm>
          <a:prstGeom prst="roundRect">
            <a:avLst/>
          </a:prstGeom>
          <a:solidFill>
            <a:srgbClr val="17304B"/>
          </a:solidFill>
          <a:ln w="19050">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70800" y="3276600"/>
            <a:ext cx="3175000" cy="228600"/>
          </a:xfrm>
          <a:prstGeom prst="rect">
            <a:avLst/>
          </a:prstGeom>
          <a:noFill/>
        </p:spPr>
        <p:txBody>
          <a:bodyPr wrap="square" anchor="t" lIns="25400" rIns="25400" tIns="0" bIns="0">
            <a:noAutofit/>
          </a:bodyPr>
          <a:lstStyle/>
          <a:p>
            <a:pPr algn="l">
              <a:lnSpc>
                <a:spcPct val="100000"/>
              </a:lnSpc>
            </a:pPr>
            <a:r>
              <a:rPr sz="2200" b="1">
                <a:solidFill>
                  <a:srgbClr val="F6F1E8"/>
                </a:solidFill>
                <a:latin typeface="Arial Narrow"/>
              </a:rPr>
              <a:t>EmmaNeigh execution layer</a:t>
            </a:r>
          </a:p>
        </p:txBody>
      </p:sp>
      <p:sp>
        <p:nvSpPr>
          <p:cNvPr id="27" name="Rounded Rectangle 26"/>
          <p:cNvSpPr/>
          <p:nvPr/>
        </p:nvSpPr>
        <p:spPr>
          <a:xfrm>
            <a:off x="7493000" y="3937000"/>
            <a:ext cx="1111250" cy="330200"/>
          </a:xfrm>
          <a:prstGeom prst="roundRect">
            <a:avLst/>
          </a:prstGeom>
          <a:solidFill>
            <a:srgbClr val="0E1D30"/>
          </a:solidFill>
          <a:ln w="15875">
            <a:solidFill>
              <a:srgbClr val="3046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outlook.png"/>
          <p:cNvPicPr>
            <a:picLocks noChangeAspect="1"/>
          </p:cNvPicPr>
          <p:nvPr/>
        </p:nvPicPr>
        <p:blipFill>
          <a:blip r:embed="rId2"/>
          <a:stretch>
            <a:fillRect/>
          </a:stretch>
        </p:blipFill>
        <p:spPr>
          <a:xfrm>
            <a:off x="7569200" y="3975100"/>
            <a:ext cx="254000" cy="254000"/>
          </a:xfrm>
          <a:prstGeom prst="rect">
            <a:avLst/>
          </a:prstGeom>
        </p:spPr>
      </p:pic>
      <p:sp>
        <p:nvSpPr>
          <p:cNvPr id="29" name="TextBox 28"/>
          <p:cNvSpPr txBox="1"/>
          <p:nvPr/>
        </p:nvSpPr>
        <p:spPr>
          <a:xfrm>
            <a:off x="7886700" y="3968750"/>
            <a:ext cx="679450" cy="266700"/>
          </a:xfrm>
          <a:prstGeom prst="rect">
            <a:avLst/>
          </a:prstGeom>
          <a:noFill/>
        </p:spPr>
        <p:txBody>
          <a:bodyPr wrap="none" anchor="ctr" lIns="25400" rIns="25400" tIns="12700" bIns="12700">
            <a:noAutofit/>
          </a:bodyPr>
          <a:lstStyle/>
          <a:p>
            <a:pPr algn="l">
              <a:lnSpc>
                <a:spcPct val="100000"/>
              </a:lnSpc>
            </a:pPr>
            <a:r>
              <a:rPr sz="1600" b="1">
                <a:solidFill>
                  <a:srgbClr val="F6F1E8"/>
                </a:solidFill>
                <a:latin typeface="Arial"/>
              </a:rPr>
              <a:t>Outlook</a:t>
            </a:r>
          </a:p>
        </p:txBody>
      </p:sp>
      <p:sp>
        <p:nvSpPr>
          <p:cNvPr id="30" name="Rounded Rectangle 29"/>
          <p:cNvSpPr/>
          <p:nvPr/>
        </p:nvSpPr>
        <p:spPr>
          <a:xfrm>
            <a:off x="8699500" y="3937000"/>
            <a:ext cx="1016000" cy="330200"/>
          </a:xfrm>
          <a:prstGeom prst="roundRect">
            <a:avLst/>
          </a:prstGeom>
          <a:solidFill>
            <a:srgbClr val="0E1D30"/>
          </a:solidFill>
          <a:ln w="15875">
            <a:solidFill>
              <a:srgbClr val="3046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adobe.png"/>
          <p:cNvPicPr>
            <a:picLocks noChangeAspect="1"/>
          </p:cNvPicPr>
          <p:nvPr/>
        </p:nvPicPr>
        <p:blipFill>
          <a:blip r:embed="rId3"/>
          <a:stretch>
            <a:fillRect/>
          </a:stretch>
        </p:blipFill>
        <p:spPr>
          <a:xfrm>
            <a:off x="8775700" y="3975100"/>
            <a:ext cx="254000" cy="254000"/>
          </a:xfrm>
          <a:prstGeom prst="rect">
            <a:avLst/>
          </a:prstGeom>
        </p:spPr>
      </p:pic>
      <p:sp>
        <p:nvSpPr>
          <p:cNvPr id="32" name="TextBox 31"/>
          <p:cNvSpPr txBox="1"/>
          <p:nvPr/>
        </p:nvSpPr>
        <p:spPr>
          <a:xfrm>
            <a:off x="9093200" y="3968750"/>
            <a:ext cx="584200" cy="266700"/>
          </a:xfrm>
          <a:prstGeom prst="rect">
            <a:avLst/>
          </a:prstGeom>
          <a:noFill/>
        </p:spPr>
        <p:txBody>
          <a:bodyPr wrap="none" anchor="ctr" lIns="25400" rIns="25400" tIns="12700" bIns="12700">
            <a:noAutofit/>
          </a:bodyPr>
          <a:lstStyle/>
          <a:p>
            <a:pPr algn="l">
              <a:lnSpc>
                <a:spcPct val="100000"/>
              </a:lnSpc>
            </a:pPr>
            <a:r>
              <a:rPr sz="1600" b="1">
                <a:solidFill>
                  <a:srgbClr val="F6F1E8"/>
                </a:solidFill>
                <a:latin typeface="Arial"/>
              </a:rPr>
              <a:t>Adobe</a:t>
            </a:r>
          </a:p>
        </p:txBody>
      </p:sp>
      <p:sp>
        <p:nvSpPr>
          <p:cNvPr id="33" name="Rounded Rectangle 32"/>
          <p:cNvSpPr/>
          <p:nvPr/>
        </p:nvSpPr>
        <p:spPr>
          <a:xfrm>
            <a:off x="9779000" y="3937000"/>
            <a:ext cx="1206500" cy="330200"/>
          </a:xfrm>
          <a:prstGeom prst="roundRect">
            <a:avLst/>
          </a:prstGeom>
          <a:solidFill>
            <a:srgbClr val="0E1D30"/>
          </a:solidFill>
          <a:ln w="15875">
            <a:solidFill>
              <a:srgbClr val="3046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docusign.png"/>
          <p:cNvPicPr>
            <a:picLocks noChangeAspect="1"/>
          </p:cNvPicPr>
          <p:nvPr/>
        </p:nvPicPr>
        <p:blipFill>
          <a:blip r:embed="rId4"/>
          <a:stretch>
            <a:fillRect/>
          </a:stretch>
        </p:blipFill>
        <p:spPr>
          <a:xfrm>
            <a:off x="9855200" y="3975100"/>
            <a:ext cx="254000" cy="254000"/>
          </a:xfrm>
          <a:prstGeom prst="rect">
            <a:avLst/>
          </a:prstGeom>
        </p:spPr>
      </p:pic>
      <p:sp>
        <p:nvSpPr>
          <p:cNvPr id="35" name="TextBox 34"/>
          <p:cNvSpPr txBox="1"/>
          <p:nvPr/>
        </p:nvSpPr>
        <p:spPr>
          <a:xfrm>
            <a:off x="10172700" y="3968750"/>
            <a:ext cx="774700" cy="266700"/>
          </a:xfrm>
          <a:prstGeom prst="rect">
            <a:avLst/>
          </a:prstGeom>
          <a:noFill/>
        </p:spPr>
        <p:txBody>
          <a:bodyPr wrap="none" anchor="ctr" lIns="25400" rIns="25400" tIns="12700" bIns="12700">
            <a:noAutofit/>
          </a:bodyPr>
          <a:lstStyle/>
          <a:p>
            <a:pPr algn="l">
              <a:lnSpc>
                <a:spcPct val="100000"/>
              </a:lnSpc>
            </a:pPr>
            <a:r>
              <a:rPr sz="1600" b="1">
                <a:solidFill>
                  <a:srgbClr val="F6F1E8"/>
                </a:solidFill>
                <a:latin typeface="Arial"/>
              </a:rPr>
              <a:t>DocuSign</a:t>
            </a:r>
          </a:p>
        </p:txBody>
      </p:sp>
      <p:sp>
        <p:nvSpPr>
          <p:cNvPr id="36" name="Rounded Rectangle 35"/>
          <p:cNvSpPr/>
          <p:nvPr/>
        </p:nvSpPr>
        <p:spPr>
          <a:xfrm>
            <a:off x="7493000" y="4445000"/>
            <a:ext cx="1301750" cy="330200"/>
          </a:xfrm>
          <a:prstGeom prst="roundRect">
            <a:avLst/>
          </a:prstGeom>
          <a:solidFill>
            <a:srgbClr val="0E1D30"/>
          </a:solidFill>
          <a:ln w="15875">
            <a:solidFill>
              <a:srgbClr val="3046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imanage.png"/>
          <p:cNvPicPr>
            <a:picLocks noChangeAspect="1"/>
          </p:cNvPicPr>
          <p:nvPr/>
        </p:nvPicPr>
        <p:blipFill>
          <a:blip r:embed="rId5"/>
          <a:stretch>
            <a:fillRect/>
          </a:stretch>
        </p:blipFill>
        <p:spPr>
          <a:xfrm>
            <a:off x="7569200" y="4561607"/>
            <a:ext cx="254000" cy="96985"/>
          </a:xfrm>
          <a:prstGeom prst="rect">
            <a:avLst/>
          </a:prstGeom>
        </p:spPr>
      </p:pic>
      <p:sp>
        <p:nvSpPr>
          <p:cNvPr id="38" name="TextBox 37"/>
          <p:cNvSpPr txBox="1"/>
          <p:nvPr/>
        </p:nvSpPr>
        <p:spPr>
          <a:xfrm>
            <a:off x="7886700" y="4476750"/>
            <a:ext cx="869950" cy="266700"/>
          </a:xfrm>
          <a:prstGeom prst="rect">
            <a:avLst/>
          </a:prstGeom>
          <a:noFill/>
        </p:spPr>
        <p:txBody>
          <a:bodyPr wrap="none" anchor="ctr" lIns="25400" rIns="25400" tIns="12700" bIns="12700">
            <a:noAutofit/>
          </a:bodyPr>
          <a:lstStyle/>
          <a:p>
            <a:pPr algn="l">
              <a:lnSpc>
                <a:spcPct val="100000"/>
              </a:lnSpc>
            </a:pPr>
            <a:r>
              <a:rPr sz="1600" b="1">
                <a:solidFill>
                  <a:srgbClr val="F6F1E8"/>
                </a:solidFill>
                <a:latin typeface="Arial"/>
              </a:rPr>
              <a:t>iManage</a:t>
            </a:r>
          </a:p>
        </p:txBody>
      </p:sp>
      <p:sp>
        <p:nvSpPr>
          <p:cNvPr id="39" name="Rounded Rectangle 38"/>
          <p:cNvSpPr/>
          <p:nvPr/>
        </p:nvSpPr>
        <p:spPr>
          <a:xfrm>
            <a:off x="8890000" y="4445000"/>
            <a:ext cx="1016000" cy="330200"/>
          </a:xfrm>
          <a:prstGeom prst="roundRect">
            <a:avLst/>
          </a:prstGeom>
          <a:solidFill>
            <a:srgbClr val="0E1D30"/>
          </a:solidFill>
          <a:ln w="15875">
            <a:solidFill>
              <a:srgbClr val="3046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0" name="Picture 39" descr="litera_favicon.png"/>
          <p:cNvPicPr>
            <a:picLocks noChangeAspect="1"/>
          </p:cNvPicPr>
          <p:nvPr/>
        </p:nvPicPr>
        <p:blipFill>
          <a:blip r:embed="rId6"/>
          <a:stretch>
            <a:fillRect/>
          </a:stretch>
        </p:blipFill>
        <p:spPr>
          <a:xfrm>
            <a:off x="8966200" y="4483100"/>
            <a:ext cx="254000" cy="254000"/>
          </a:xfrm>
          <a:prstGeom prst="rect">
            <a:avLst/>
          </a:prstGeom>
        </p:spPr>
      </p:pic>
      <p:sp>
        <p:nvSpPr>
          <p:cNvPr id="41" name="TextBox 40"/>
          <p:cNvSpPr txBox="1"/>
          <p:nvPr/>
        </p:nvSpPr>
        <p:spPr>
          <a:xfrm>
            <a:off x="9283700" y="4476750"/>
            <a:ext cx="584200" cy="266700"/>
          </a:xfrm>
          <a:prstGeom prst="rect">
            <a:avLst/>
          </a:prstGeom>
          <a:noFill/>
        </p:spPr>
        <p:txBody>
          <a:bodyPr wrap="none" anchor="ctr" lIns="25400" rIns="25400" tIns="12700" bIns="12700">
            <a:noAutofit/>
          </a:bodyPr>
          <a:lstStyle/>
          <a:p>
            <a:pPr algn="l">
              <a:lnSpc>
                <a:spcPct val="100000"/>
              </a:lnSpc>
            </a:pPr>
            <a:r>
              <a:rPr sz="1600" b="1">
                <a:solidFill>
                  <a:srgbClr val="F6F1E8"/>
                </a:solidFill>
                <a:latin typeface="Arial"/>
              </a:rPr>
              <a:t>Litera</a:t>
            </a:r>
          </a:p>
        </p:txBody>
      </p:sp>
      <p:sp>
        <p:nvSpPr>
          <p:cNvPr id="42" name="TextBox 41"/>
          <p:cNvSpPr txBox="1"/>
          <p:nvPr/>
        </p:nvSpPr>
        <p:spPr>
          <a:xfrm>
            <a:off x="635000" y="6223000"/>
            <a:ext cx="2667000" cy="152400"/>
          </a:xfrm>
          <a:prstGeom prst="rect">
            <a:avLst/>
          </a:prstGeom>
          <a:noFill/>
        </p:spPr>
        <p:txBody>
          <a:bodyPr wrap="square" anchor="t" lIns="25400" rIns="25400" tIns="0" bIns="0">
            <a:noAutofit/>
          </a:bodyPr>
          <a:lstStyle/>
          <a:p>
            <a:pPr algn="l">
              <a:lnSpc>
                <a:spcPct val="100000"/>
              </a:lnSpc>
            </a:pPr>
            <a:r>
              <a:rPr sz="1200" b="1">
                <a:solidFill>
                  <a:srgbClr val="7D8EA7"/>
                </a:solidFill>
                <a:latin typeface="Arial"/>
              </a:rPr>
              <a:t>Confidential discussion draft · April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917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10800000">
            <a:off x="9271000" y="-63500"/>
            <a:ext cx="2984500" cy="2032000"/>
          </a:xfrm>
          <a:prstGeom prst="rtTriangl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ight Triangle 3"/>
          <p:cNvSpPr/>
          <p:nvPr/>
        </p:nvSpPr>
        <p:spPr>
          <a:xfrm>
            <a:off x="-127000" y="5207000"/>
            <a:ext cx="2286000" cy="1778000"/>
          </a:xfrm>
          <a:prstGeom prst="rtTriangle">
            <a:avLst/>
          </a:prstGeom>
          <a:solidFill>
            <a:srgbClr val="67E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71500" y="355600"/>
            <a:ext cx="10160000" cy="977900"/>
          </a:xfrm>
          <a:prstGeom prst="rect">
            <a:avLst/>
          </a:prstGeom>
          <a:noFill/>
        </p:spPr>
        <p:txBody>
          <a:bodyPr wrap="square" anchor="t" lIns="25400" rIns="25400" tIns="0" bIns="0">
            <a:noAutofit/>
          </a:bodyPr>
          <a:lstStyle/>
          <a:p>
            <a:pPr algn="l">
              <a:lnSpc>
                <a:spcPct val="95000"/>
              </a:lnSpc>
            </a:pPr>
            <a:r>
              <a:rPr sz="4200" b="1">
                <a:solidFill>
                  <a:srgbClr val="F6F1E8"/>
                </a:solidFill>
                <a:latin typeface="Arial Narrow"/>
              </a:rPr>
              <a:t>The bottleneck is not thinking. It is</a:t>
            </a:r>
          </a:p>
          <a:p>
            <a:pPr algn="l">
              <a:lnSpc>
                <a:spcPct val="95000"/>
              </a:lnSpc>
            </a:pPr>
            <a:r>
              <a:rPr sz="4200" b="1">
                <a:solidFill>
                  <a:srgbClr val="F6F1E8"/>
                </a:solidFill>
                <a:latin typeface="Arial Narrow"/>
              </a:rPr>
              <a:t>execution across the desktop stack.</a:t>
            </a:r>
          </a:p>
        </p:txBody>
      </p:sp>
      <p:sp>
        <p:nvSpPr>
          <p:cNvPr id="6" name="TextBox 5"/>
          <p:cNvSpPr txBox="1"/>
          <p:nvPr/>
        </p:nvSpPr>
        <p:spPr>
          <a:xfrm>
            <a:off x="571500" y="1435100"/>
            <a:ext cx="10160000" cy="482600"/>
          </a:xfrm>
          <a:prstGeom prst="rect">
            <a:avLst/>
          </a:prstGeom>
          <a:noFill/>
        </p:spPr>
        <p:txBody>
          <a:bodyPr wrap="square" anchor="t" lIns="25400" rIns="25400" tIns="0" bIns="0">
            <a:noAutofit/>
          </a:bodyPr>
          <a:lstStyle/>
          <a:p>
            <a:pPr algn="l">
              <a:lnSpc>
                <a:spcPct val="100000"/>
              </a:lnSpc>
            </a:pPr>
            <a:r>
              <a:rPr sz="1800" b="1">
                <a:solidFill>
                  <a:srgbClr val="A8B5C8"/>
                </a:solidFill>
                <a:latin typeface="Arial"/>
              </a:rPr>
              <a:t>Matter administration still requires people to open files, switch systems, and complete deterministic steps one application at a time.</a:t>
            </a:r>
          </a:p>
        </p:txBody>
      </p:sp>
      <p:sp>
        <p:nvSpPr>
          <p:cNvPr id="7" name="TextBox 6"/>
          <p:cNvSpPr txBox="1"/>
          <p:nvPr/>
        </p:nvSpPr>
        <p:spPr>
          <a:xfrm>
            <a:off x="698500" y="2019300"/>
            <a:ext cx="4190999" cy="190500"/>
          </a:xfrm>
          <a:prstGeom prst="rect">
            <a:avLst/>
          </a:prstGeom>
          <a:noFill/>
        </p:spPr>
        <p:txBody>
          <a:bodyPr wrap="square" anchor="t" lIns="25400" rIns="25400" tIns="0" bIns="0">
            <a:noAutofit/>
          </a:bodyPr>
          <a:lstStyle/>
          <a:p>
            <a:pPr algn="l">
              <a:lnSpc>
                <a:spcPct val="100000"/>
              </a:lnSpc>
            </a:pPr>
            <a:r>
              <a:rPr sz="1600" b="1">
                <a:solidFill>
                  <a:srgbClr val="A8B5C8"/>
                </a:solidFill>
                <a:latin typeface="Arial"/>
              </a:rPr>
              <a:t>A single matter can require live interaction across all of this:</a:t>
            </a:r>
          </a:p>
        </p:txBody>
      </p:sp>
      <p:sp>
        <p:nvSpPr>
          <p:cNvPr id="8" name="Rounded Rectangle 7"/>
          <p:cNvSpPr/>
          <p:nvPr/>
        </p:nvSpPr>
        <p:spPr>
          <a:xfrm>
            <a:off x="698500" y="2298700"/>
            <a:ext cx="2286000" cy="1587500"/>
          </a:xfrm>
          <a:prstGeom prst="roundRect">
            <a:avLst/>
          </a:prstGeom>
          <a:solidFill>
            <a:srgbClr val="0D1B2C"/>
          </a:solidFill>
          <a:ln w="15875">
            <a:solidFill>
              <a:srgbClr val="3046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98500" y="2298700"/>
            <a:ext cx="2286000" cy="241300"/>
          </a:xfrm>
          <a:prstGeom prst="roundRect">
            <a:avLst/>
          </a:prstGeom>
          <a:solidFill>
            <a:srgbClr val="11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87400" y="2362200"/>
            <a:ext cx="63500" cy="63500"/>
          </a:xfrm>
          <a:prstGeom prst="roundRect">
            <a:avLst/>
          </a:prstGeom>
          <a:solidFill>
            <a:srgbClr val="FF61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01700" y="2362200"/>
            <a:ext cx="63500" cy="63500"/>
          </a:xfrm>
          <a:prstGeom prst="roundRect">
            <a:avLst/>
          </a:prstGeom>
          <a:solidFill>
            <a:srgbClr val="FFB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16000" y="2362200"/>
            <a:ext cx="63500" cy="63500"/>
          </a:xfrm>
          <a:prstGeom prst="roundRect">
            <a:avLst/>
          </a:prstGeom>
          <a:solidFill>
            <a:srgbClr val="00C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outlook.png"/>
          <p:cNvPicPr>
            <a:picLocks noChangeAspect="1"/>
          </p:cNvPicPr>
          <p:nvPr/>
        </p:nvPicPr>
        <p:blipFill>
          <a:blip r:embed="rId2"/>
          <a:stretch>
            <a:fillRect/>
          </a:stretch>
        </p:blipFill>
        <p:spPr>
          <a:xfrm>
            <a:off x="971550" y="2349500"/>
            <a:ext cx="139700" cy="139700"/>
          </a:xfrm>
          <a:prstGeom prst="rect">
            <a:avLst/>
          </a:prstGeom>
        </p:spPr>
      </p:pic>
      <p:sp>
        <p:nvSpPr>
          <p:cNvPr id="14" name="TextBox 13"/>
          <p:cNvSpPr txBox="1"/>
          <p:nvPr/>
        </p:nvSpPr>
        <p:spPr>
          <a:xfrm>
            <a:off x="1155700" y="2324100"/>
            <a:ext cx="1714500" cy="190500"/>
          </a:xfrm>
          <a:prstGeom prst="rect">
            <a:avLst/>
          </a:prstGeom>
          <a:noFill/>
        </p:spPr>
        <p:txBody>
          <a:bodyPr wrap="square" anchor="ctr" lIns="25400" rIns="25400" tIns="0" bIns="0">
            <a:noAutofit/>
          </a:bodyPr>
          <a:lstStyle/>
          <a:p>
            <a:pPr algn="l">
              <a:lnSpc>
                <a:spcPct val="100000"/>
              </a:lnSpc>
            </a:pPr>
            <a:r>
              <a:rPr sz="1700" b="1">
                <a:solidFill>
                  <a:srgbClr val="F6F1E8"/>
                </a:solidFill>
                <a:latin typeface="Arial"/>
              </a:rPr>
              <a:t>Outlook</a:t>
            </a:r>
          </a:p>
        </p:txBody>
      </p:sp>
      <p:sp>
        <p:nvSpPr>
          <p:cNvPr id="15" name="Rounded Rectangle 14"/>
          <p:cNvSpPr/>
          <p:nvPr/>
        </p:nvSpPr>
        <p:spPr>
          <a:xfrm>
            <a:off x="825500" y="2616200"/>
            <a:ext cx="2032000" cy="279400"/>
          </a:xfrm>
          <a:prstGeom prst="roundRect">
            <a:avLst/>
          </a:prstGeom>
          <a:solidFill>
            <a:srgbClr val="1025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9000" y="2647950"/>
            <a:ext cx="1905000" cy="203200"/>
          </a:xfrm>
          <a:prstGeom prst="rect">
            <a:avLst/>
          </a:prstGeom>
          <a:noFill/>
        </p:spPr>
        <p:txBody>
          <a:bodyPr wrap="square" anchor="ctr" lIns="25400" rIns="25400" tIns="0" bIns="0">
            <a:noAutofit/>
          </a:bodyPr>
          <a:lstStyle/>
          <a:p>
            <a:pPr algn="l">
              <a:lnSpc>
                <a:spcPct val="100000"/>
              </a:lnSpc>
            </a:pPr>
            <a:r>
              <a:rPr sz="1300" b="1">
                <a:solidFill>
                  <a:srgbClr val="38BDF8"/>
                </a:solidFill>
                <a:latin typeface="Arial"/>
              </a:rPr>
              <a:t>Find the latest draft, save attachments, confirm who sent what</a:t>
            </a:r>
          </a:p>
        </p:txBody>
      </p:sp>
      <p:sp>
        <p:nvSpPr>
          <p:cNvPr id="17" name="Rounded Rectangle 16"/>
          <p:cNvSpPr/>
          <p:nvPr/>
        </p:nvSpPr>
        <p:spPr>
          <a:xfrm>
            <a:off x="825500" y="3022600"/>
            <a:ext cx="1968500" cy="88900"/>
          </a:xfrm>
          <a:prstGeom prst="roundRect">
            <a:avLst/>
          </a:prstGeom>
          <a:solidFill>
            <a:srgbClr val="1730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5500" y="3200400"/>
            <a:ext cx="1968500" cy="88900"/>
          </a:xfrm>
          <a:prstGeom prst="roundRect">
            <a:avLst/>
          </a:prstGeom>
          <a:solidFill>
            <a:srgbClr val="1730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5500" y="3378200"/>
            <a:ext cx="1968500" cy="88900"/>
          </a:xfrm>
          <a:prstGeom prst="roundRect">
            <a:avLst/>
          </a:prstGeom>
          <a:solidFill>
            <a:srgbClr val="1730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25500" y="3556000"/>
            <a:ext cx="1219200" cy="88900"/>
          </a:xfrm>
          <a:prstGeom prst="roundRect">
            <a:avLst/>
          </a:prstGeom>
          <a:solidFill>
            <a:srgbClr val="1730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3175000" y="2298700"/>
            <a:ext cx="2286000" cy="1587500"/>
          </a:xfrm>
          <a:prstGeom prst="roundRect">
            <a:avLst/>
          </a:prstGeom>
          <a:solidFill>
            <a:srgbClr val="0D1B2C"/>
          </a:solidFill>
          <a:ln w="15875">
            <a:solidFill>
              <a:srgbClr val="3046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175000" y="2298700"/>
            <a:ext cx="2286000" cy="241300"/>
          </a:xfrm>
          <a:prstGeom prst="roundRect">
            <a:avLst/>
          </a:prstGeom>
          <a:solidFill>
            <a:srgbClr val="11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3263900" y="2362200"/>
            <a:ext cx="63500" cy="63500"/>
          </a:xfrm>
          <a:prstGeom prst="roundRect">
            <a:avLst/>
          </a:prstGeom>
          <a:solidFill>
            <a:srgbClr val="FF61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3378200" y="2362200"/>
            <a:ext cx="63500" cy="63500"/>
          </a:xfrm>
          <a:prstGeom prst="roundRect">
            <a:avLst/>
          </a:prstGeom>
          <a:solidFill>
            <a:srgbClr val="FFB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3492500" y="2362200"/>
            <a:ext cx="63500" cy="63500"/>
          </a:xfrm>
          <a:prstGeom prst="roundRect">
            <a:avLst/>
          </a:prstGeom>
          <a:solidFill>
            <a:srgbClr val="00C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adobe.png"/>
          <p:cNvPicPr>
            <a:picLocks noChangeAspect="1"/>
          </p:cNvPicPr>
          <p:nvPr/>
        </p:nvPicPr>
        <p:blipFill>
          <a:blip r:embed="rId3"/>
          <a:stretch>
            <a:fillRect/>
          </a:stretch>
        </p:blipFill>
        <p:spPr>
          <a:xfrm>
            <a:off x="3448050" y="2349500"/>
            <a:ext cx="139700" cy="139700"/>
          </a:xfrm>
          <a:prstGeom prst="rect">
            <a:avLst/>
          </a:prstGeom>
        </p:spPr>
      </p:pic>
      <p:sp>
        <p:nvSpPr>
          <p:cNvPr id="27" name="TextBox 26"/>
          <p:cNvSpPr txBox="1"/>
          <p:nvPr/>
        </p:nvSpPr>
        <p:spPr>
          <a:xfrm>
            <a:off x="3632200" y="2324100"/>
            <a:ext cx="1714500" cy="190500"/>
          </a:xfrm>
          <a:prstGeom prst="rect">
            <a:avLst/>
          </a:prstGeom>
          <a:noFill/>
        </p:spPr>
        <p:txBody>
          <a:bodyPr wrap="square" anchor="ctr" lIns="25400" rIns="25400" tIns="0" bIns="0">
            <a:noAutofit/>
          </a:bodyPr>
          <a:lstStyle/>
          <a:p>
            <a:pPr algn="l">
              <a:lnSpc>
                <a:spcPct val="100000"/>
              </a:lnSpc>
            </a:pPr>
            <a:r>
              <a:rPr sz="1700" b="1">
                <a:solidFill>
                  <a:srgbClr val="F6F1E8"/>
                </a:solidFill>
                <a:latin typeface="Arial"/>
              </a:rPr>
              <a:t>Adobe</a:t>
            </a:r>
          </a:p>
        </p:txBody>
      </p:sp>
      <p:sp>
        <p:nvSpPr>
          <p:cNvPr id="28" name="Rounded Rectangle 27"/>
          <p:cNvSpPr/>
          <p:nvPr/>
        </p:nvSpPr>
        <p:spPr>
          <a:xfrm>
            <a:off x="3302000" y="2616200"/>
            <a:ext cx="2032000" cy="279400"/>
          </a:xfrm>
          <a:prstGeom prst="roundRect">
            <a:avLst/>
          </a:prstGeom>
          <a:solidFill>
            <a:srgbClr val="1025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365500" y="2647950"/>
            <a:ext cx="1905000" cy="203200"/>
          </a:xfrm>
          <a:prstGeom prst="rect">
            <a:avLst/>
          </a:prstGeom>
          <a:noFill/>
        </p:spPr>
        <p:txBody>
          <a:bodyPr wrap="square" anchor="ctr" lIns="25400" rIns="25400" tIns="0" bIns="0">
            <a:noAutofit/>
          </a:bodyPr>
          <a:lstStyle/>
          <a:p>
            <a:pPr algn="l">
              <a:lnSpc>
                <a:spcPct val="100000"/>
              </a:lnSpc>
            </a:pPr>
            <a:r>
              <a:rPr sz="1300" b="1">
                <a:solidFill>
                  <a:srgbClr val="FB7185"/>
                </a:solidFill>
                <a:latin typeface="Arial"/>
              </a:rPr>
              <a:t>Split, combine, clean, and package PDFs for execution and closing</a:t>
            </a:r>
          </a:p>
        </p:txBody>
      </p:sp>
      <p:sp>
        <p:nvSpPr>
          <p:cNvPr id="30" name="Rounded Rectangle 29"/>
          <p:cNvSpPr/>
          <p:nvPr/>
        </p:nvSpPr>
        <p:spPr>
          <a:xfrm>
            <a:off x="3302000" y="3022600"/>
            <a:ext cx="1968500" cy="88900"/>
          </a:xfrm>
          <a:prstGeom prst="roundRect">
            <a:avLst/>
          </a:prstGeom>
          <a:solidFill>
            <a:srgbClr val="1730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3302000" y="3200400"/>
            <a:ext cx="1968500" cy="88900"/>
          </a:xfrm>
          <a:prstGeom prst="roundRect">
            <a:avLst/>
          </a:prstGeom>
          <a:solidFill>
            <a:srgbClr val="1730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3302000" y="3378200"/>
            <a:ext cx="1968500" cy="88900"/>
          </a:xfrm>
          <a:prstGeom prst="roundRect">
            <a:avLst/>
          </a:prstGeom>
          <a:solidFill>
            <a:srgbClr val="1730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3302000" y="3556000"/>
            <a:ext cx="1219200" cy="88900"/>
          </a:xfrm>
          <a:prstGeom prst="roundRect">
            <a:avLst/>
          </a:prstGeom>
          <a:solidFill>
            <a:srgbClr val="1730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98500" y="4076699"/>
            <a:ext cx="2286000" cy="1587500"/>
          </a:xfrm>
          <a:prstGeom prst="roundRect">
            <a:avLst/>
          </a:prstGeom>
          <a:solidFill>
            <a:srgbClr val="0D1B2C"/>
          </a:solidFill>
          <a:ln w="15875">
            <a:solidFill>
              <a:srgbClr val="3046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698500" y="4076699"/>
            <a:ext cx="2286000" cy="241300"/>
          </a:xfrm>
          <a:prstGeom prst="roundRect">
            <a:avLst/>
          </a:prstGeom>
          <a:solidFill>
            <a:srgbClr val="11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787400" y="4140200"/>
            <a:ext cx="63500" cy="63500"/>
          </a:xfrm>
          <a:prstGeom prst="roundRect">
            <a:avLst/>
          </a:prstGeom>
          <a:solidFill>
            <a:srgbClr val="FF61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901700" y="4140200"/>
            <a:ext cx="63500" cy="63500"/>
          </a:xfrm>
          <a:prstGeom prst="roundRect">
            <a:avLst/>
          </a:prstGeom>
          <a:solidFill>
            <a:srgbClr val="FFB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1016000" y="4140200"/>
            <a:ext cx="63500" cy="63500"/>
          </a:xfrm>
          <a:prstGeom prst="roundRect">
            <a:avLst/>
          </a:prstGeom>
          <a:solidFill>
            <a:srgbClr val="00C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imanage.png"/>
          <p:cNvPicPr>
            <a:picLocks noChangeAspect="1"/>
          </p:cNvPicPr>
          <p:nvPr/>
        </p:nvPicPr>
        <p:blipFill>
          <a:blip r:embed="rId4"/>
          <a:stretch>
            <a:fillRect/>
          </a:stretch>
        </p:blipFill>
        <p:spPr>
          <a:xfrm>
            <a:off x="965200" y="4168254"/>
            <a:ext cx="152400" cy="58191"/>
          </a:xfrm>
          <a:prstGeom prst="rect">
            <a:avLst/>
          </a:prstGeom>
        </p:spPr>
      </p:pic>
      <p:sp>
        <p:nvSpPr>
          <p:cNvPr id="40" name="TextBox 39"/>
          <p:cNvSpPr txBox="1"/>
          <p:nvPr/>
        </p:nvSpPr>
        <p:spPr>
          <a:xfrm>
            <a:off x="1155700" y="4102099"/>
            <a:ext cx="1714500" cy="190500"/>
          </a:xfrm>
          <a:prstGeom prst="rect">
            <a:avLst/>
          </a:prstGeom>
          <a:noFill/>
        </p:spPr>
        <p:txBody>
          <a:bodyPr wrap="square" anchor="ctr" lIns="25400" rIns="25400" tIns="0" bIns="0">
            <a:noAutofit/>
          </a:bodyPr>
          <a:lstStyle/>
          <a:p>
            <a:pPr algn="l">
              <a:lnSpc>
                <a:spcPct val="100000"/>
              </a:lnSpc>
            </a:pPr>
            <a:r>
              <a:rPr sz="1700" b="1">
                <a:solidFill>
                  <a:srgbClr val="F6F1E8"/>
                </a:solidFill>
                <a:latin typeface="Arial"/>
              </a:rPr>
              <a:t>iManage</a:t>
            </a:r>
          </a:p>
        </p:txBody>
      </p:sp>
      <p:sp>
        <p:nvSpPr>
          <p:cNvPr id="41" name="Rounded Rectangle 40"/>
          <p:cNvSpPr/>
          <p:nvPr/>
        </p:nvSpPr>
        <p:spPr>
          <a:xfrm>
            <a:off x="825500" y="4394200"/>
            <a:ext cx="2032000" cy="279400"/>
          </a:xfrm>
          <a:prstGeom prst="roundRect">
            <a:avLst/>
          </a:prstGeom>
          <a:solidFill>
            <a:srgbClr val="1025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89000" y="4425950"/>
            <a:ext cx="1905000" cy="203200"/>
          </a:xfrm>
          <a:prstGeom prst="rect">
            <a:avLst/>
          </a:prstGeom>
          <a:noFill/>
        </p:spPr>
        <p:txBody>
          <a:bodyPr wrap="square" anchor="ctr" lIns="25400" rIns="25400" tIns="0" bIns="0">
            <a:noAutofit/>
          </a:bodyPr>
          <a:lstStyle/>
          <a:p>
            <a:pPr algn="l">
              <a:lnSpc>
                <a:spcPct val="100000"/>
              </a:lnSpc>
            </a:pPr>
            <a:r>
              <a:rPr sz="1300" b="1">
                <a:solidFill>
                  <a:srgbClr val="67E8F9"/>
                </a:solidFill>
                <a:latin typeface="Arial"/>
              </a:rPr>
              <a:t>Save down, version up, browse versions, organize matter files</a:t>
            </a:r>
          </a:p>
        </p:txBody>
      </p:sp>
      <p:sp>
        <p:nvSpPr>
          <p:cNvPr id="43" name="Rounded Rectangle 42"/>
          <p:cNvSpPr/>
          <p:nvPr/>
        </p:nvSpPr>
        <p:spPr>
          <a:xfrm>
            <a:off x="825500" y="4800600"/>
            <a:ext cx="1968500" cy="88900"/>
          </a:xfrm>
          <a:prstGeom prst="roundRect">
            <a:avLst/>
          </a:prstGeom>
          <a:solidFill>
            <a:srgbClr val="1730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825500" y="4978400"/>
            <a:ext cx="1968500" cy="88900"/>
          </a:xfrm>
          <a:prstGeom prst="roundRect">
            <a:avLst/>
          </a:prstGeom>
          <a:solidFill>
            <a:srgbClr val="1730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825500" y="5156200"/>
            <a:ext cx="1968500" cy="88900"/>
          </a:xfrm>
          <a:prstGeom prst="roundRect">
            <a:avLst/>
          </a:prstGeom>
          <a:solidFill>
            <a:srgbClr val="1730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825500" y="5334000"/>
            <a:ext cx="1219200" cy="88900"/>
          </a:xfrm>
          <a:prstGeom prst="roundRect">
            <a:avLst/>
          </a:prstGeom>
          <a:solidFill>
            <a:srgbClr val="1730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3175000" y="4076699"/>
            <a:ext cx="2286000" cy="1587500"/>
          </a:xfrm>
          <a:prstGeom prst="roundRect">
            <a:avLst/>
          </a:prstGeom>
          <a:solidFill>
            <a:srgbClr val="0D1B2C"/>
          </a:solidFill>
          <a:ln w="15875">
            <a:solidFill>
              <a:srgbClr val="3046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3175000" y="4076699"/>
            <a:ext cx="2286000" cy="241300"/>
          </a:xfrm>
          <a:prstGeom prst="roundRect">
            <a:avLst/>
          </a:prstGeom>
          <a:solidFill>
            <a:srgbClr val="11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3263900" y="4140200"/>
            <a:ext cx="63500" cy="63500"/>
          </a:xfrm>
          <a:prstGeom prst="roundRect">
            <a:avLst/>
          </a:prstGeom>
          <a:solidFill>
            <a:srgbClr val="FF61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3378200" y="4140200"/>
            <a:ext cx="63500" cy="63500"/>
          </a:xfrm>
          <a:prstGeom prst="roundRect">
            <a:avLst/>
          </a:prstGeom>
          <a:solidFill>
            <a:srgbClr val="FFB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3492500" y="4140200"/>
            <a:ext cx="63500" cy="63500"/>
          </a:xfrm>
          <a:prstGeom prst="roundRect">
            <a:avLst/>
          </a:prstGeom>
          <a:solidFill>
            <a:srgbClr val="00C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2" name="Picture 51" descr="docusign.png"/>
          <p:cNvPicPr>
            <a:picLocks noChangeAspect="1"/>
          </p:cNvPicPr>
          <p:nvPr/>
        </p:nvPicPr>
        <p:blipFill>
          <a:blip r:embed="rId5"/>
          <a:stretch>
            <a:fillRect/>
          </a:stretch>
        </p:blipFill>
        <p:spPr>
          <a:xfrm>
            <a:off x="3448050" y="4127500"/>
            <a:ext cx="139700" cy="139700"/>
          </a:xfrm>
          <a:prstGeom prst="rect">
            <a:avLst/>
          </a:prstGeom>
        </p:spPr>
      </p:pic>
      <p:sp>
        <p:nvSpPr>
          <p:cNvPr id="53" name="TextBox 52"/>
          <p:cNvSpPr txBox="1"/>
          <p:nvPr/>
        </p:nvSpPr>
        <p:spPr>
          <a:xfrm>
            <a:off x="3632200" y="4102099"/>
            <a:ext cx="1714500" cy="190500"/>
          </a:xfrm>
          <a:prstGeom prst="rect">
            <a:avLst/>
          </a:prstGeom>
          <a:noFill/>
        </p:spPr>
        <p:txBody>
          <a:bodyPr wrap="square" anchor="ctr" lIns="25400" rIns="25400" tIns="0" bIns="0">
            <a:noAutofit/>
          </a:bodyPr>
          <a:lstStyle/>
          <a:p>
            <a:pPr algn="l">
              <a:lnSpc>
                <a:spcPct val="100000"/>
              </a:lnSpc>
            </a:pPr>
            <a:r>
              <a:rPr sz="1700" b="1">
                <a:solidFill>
                  <a:srgbClr val="F6F1E8"/>
                </a:solidFill>
                <a:latin typeface="Arial"/>
              </a:rPr>
              <a:t>Litera + DocuSign</a:t>
            </a:r>
          </a:p>
        </p:txBody>
      </p:sp>
      <p:sp>
        <p:nvSpPr>
          <p:cNvPr id="54" name="Rounded Rectangle 53"/>
          <p:cNvSpPr/>
          <p:nvPr/>
        </p:nvSpPr>
        <p:spPr>
          <a:xfrm>
            <a:off x="3302000" y="4394200"/>
            <a:ext cx="2032000" cy="279400"/>
          </a:xfrm>
          <a:prstGeom prst="roundRect">
            <a:avLst/>
          </a:prstGeom>
          <a:solidFill>
            <a:srgbClr val="1025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365500" y="4425950"/>
            <a:ext cx="1905000" cy="203200"/>
          </a:xfrm>
          <a:prstGeom prst="rect">
            <a:avLst/>
          </a:prstGeom>
          <a:noFill/>
        </p:spPr>
        <p:txBody>
          <a:bodyPr wrap="square" anchor="ctr" lIns="25400" rIns="25400" tIns="0" bIns="0">
            <a:noAutofit/>
          </a:bodyPr>
          <a:lstStyle/>
          <a:p>
            <a:pPr algn="l">
              <a:lnSpc>
                <a:spcPct val="100000"/>
              </a:lnSpc>
            </a:pPr>
            <a:r>
              <a:rPr sz="1300" b="1">
                <a:solidFill>
                  <a:srgbClr val="FB923C"/>
                </a:solidFill>
                <a:latin typeface="Arial"/>
              </a:rPr>
              <a:t>Run redlines, create sig packets, assemble executed pages</a:t>
            </a:r>
          </a:p>
        </p:txBody>
      </p:sp>
      <p:sp>
        <p:nvSpPr>
          <p:cNvPr id="56" name="Rounded Rectangle 55"/>
          <p:cNvSpPr/>
          <p:nvPr/>
        </p:nvSpPr>
        <p:spPr>
          <a:xfrm>
            <a:off x="3302000" y="4800600"/>
            <a:ext cx="1968500" cy="88900"/>
          </a:xfrm>
          <a:prstGeom prst="roundRect">
            <a:avLst/>
          </a:prstGeom>
          <a:solidFill>
            <a:srgbClr val="1730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3302000" y="4978400"/>
            <a:ext cx="1968500" cy="88900"/>
          </a:xfrm>
          <a:prstGeom prst="roundRect">
            <a:avLst/>
          </a:prstGeom>
          <a:solidFill>
            <a:srgbClr val="1730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3302000" y="5156200"/>
            <a:ext cx="1968500" cy="88900"/>
          </a:xfrm>
          <a:prstGeom prst="roundRect">
            <a:avLst/>
          </a:prstGeom>
          <a:solidFill>
            <a:srgbClr val="1730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3302000" y="5334000"/>
            <a:ext cx="1219200" cy="88900"/>
          </a:xfrm>
          <a:prstGeom prst="roundRect">
            <a:avLst/>
          </a:prstGeom>
          <a:solidFill>
            <a:srgbClr val="1730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5829300" y="2222500"/>
            <a:ext cx="76200" cy="76200"/>
          </a:xfrm>
          <a:prstGeom prst="roundRect">
            <a:avLst/>
          </a:prstGeom>
          <a:solidFill>
            <a:srgbClr val="2843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5829300" y="2400300"/>
            <a:ext cx="76200" cy="76200"/>
          </a:xfrm>
          <a:prstGeom prst="roundRect">
            <a:avLst/>
          </a:prstGeom>
          <a:solidFill>
            <a:srgbClr val="2843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ounded Rectangle 61"/>
          <p:cNvSpPr/>
          <p:nvPr/>
        </p:nvSpPr>
        <p:spPr>
          <a:xfrm>
            <a:off x="5829300" y="2578100"/>
            <a:ext cx="76200" cy="76200"/>
          </a:xfrm>
          <a:prstGeom prst="roundRect">
            <a:avLst/>
          </a:prstGeom>
          <a:solidFill>
            <a:srgbClr val="2843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5829300" y="2755900"/>
            <a:ext cx="76200" cy="76200"/>
          </a:xfrm>
          <a:prstGeom prst="roundRect">
            <a:avLst/>
          </a:prstGeom>
          <a:solidFill>
            <a:srgbClr val="2843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5829300" y="2933700"/>
            <a:ext cx="76200" cy="76200"/>
          </a:xfrm>
          <a:prstGeom prst="roundRect">
            <a:avLst/>
          </a:prstGeom>
          <a:solidFill>
            <a:srgbClr val="2843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5829300" y="3111500"/>
            <a:ext cx="76200" cy="76200"/>
          </a:xfrm>
          <a:prstGeom prst="roundRect">
            <a:avLst/>
          </a:prstGeom>
          <a:solidFill>
            <a:srgbClr val="2843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ounded Rectangle 65"/>
          <p:cNvSpPr/>
          <p:nvPr/>
        </p:nvSpPr>
        <p:spPr>
          <a:xfrm>
            <a:off x="5829300" y="3289300"/>
            <a:ext cx="76200" cy="76200"/>
          </a:xfrm>
          <a:prstGeom prst="roundRect">
            <a:avLst/>
          </a:prstGeom>
          <a:solidFill>
            <a:srgbClr val="2843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ounded Rectangle 66"/>
          <p:cNvSpPr/>
          <p:nvPr/>
        </p:nvSpPr>
        <p:spPr>
          <a:xfrm>
            <a:off x="5829300" y="3467100"/>
            <a:ext cx="76200" cy="76200"/>
          </a:xfrm>
          <a:prstGeom prst="roundRect">
            <a:avLst/>
          </a:prstGeom>
          <a:solidFill>
            <a:srgbClr val="2843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ounded Rectangle 67"/>
          <p:cNvSpPr/>
          <p:nvPr/>
        </p:nvSpPr>
        <p:spPr>
          <a:xfrm>
            <a:off x="5829300" y="3644900"/>
            <a:ext cx="76200" cy="76200"/>
          </a:xfrm>
          <a:prstGeom prst="roundRect">
            <a:avLst/>
          </a:prstGeom>
          <a:solidFill>
            <a:srgbClr val="2843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ounded Rectangle 68"/>
          <p:cNvSpPr/>
          <p:nvPr/>
        </p:nvSpPr>
        <p:spPr>
          <a:xfrm>
            <a:off x="5829300" y="3822700"/>
            <a:ext cx="76200" cy="76200"/>
          </a:xfrm>
          <a:prstGeom prst="roundRect">
            <a:avLst/>
          </a:prstGeom>
          <a:solidFill>
            <a:srgbClr val="2843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ounded Rectangle 69"/>
          <p:cNvSpPr/>
          <p:nvPr/>
        </p:nvSpPr>
        <p:spPr>
          <a:xfrm>
            <a:off x="5829300" y="4000500"/>
            <a:ext cx="76200" cy="76200"/>
          </a:xfrm>
          <a:prstGeom prst="roundRect">
            <a:avLst/>
          </a:prstGeom>
          <a:solidFill>
            <a:srgbClr val="2843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5829300" y="4178300"/>
            <a:ext cx="76200" cy="76200"/>
          </a:xfrm>
          <a:prstGeom prst="roundRect">
            <a:avLst/>
          </a:prstGeom>
          <a:solidFill>
            <a:srgbClr val="2843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ounded Rectangle 71"/>
          <p:cNvSpPr/>
          <p:nvPr/>
        </p:nvSpPr>
        <p:spPr>
          <a:xfrm>
            <a:off x="5829300" y="4356100"/>
            <a:ext cx="76200" cy="76200"/>
          </a:xfrm>
          <a:prstGeom prst="roundRect">
            <a:avLst/>
          </a:prstGeom>
          <a:solidFill>
            <a:srgbClr val="2843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ounded Rectangle 72"/>
          <p:cNvSpPr/>
          <p:nvPr/>
        </p:nvSpPr>
        <p:spPr>
          <a:xfrm>
            <a:off x="5829300" y="4533900"/>
            <a:ext cx="76200" cy="76200"/>
          </a:xfrm>
          <a:prstGeom prst="roundRect">
            <a:avLst/>
          </a:prstGeom>
          <a:solidFill>
            <a:srgbClr val="2843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ounded Rectangle 73"/>
          <p:cNvSpPr/>
          <p:nvPr/>
        </p:nvSpPr>
        <p:spPr>
          <a:xfrm>
            <a:off x="5829300" y="4711700"/>
            <a:ext cx="76200" cy="76200"/>
          </a:xfrm>
          <a:prstGeom prst="roundRect">
            <a:avLst/>
          </a:prstGeom>
          <a:solidFill>
            <a:srgbClr val="2843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ounded Rectangle 74"/>
          <p:cNvSpPr/>
          <p:nvPr/>
        </p:nvSpPr>
        <p:spPr>
          <a:xfrm>
            <a:off x="5829300" y="4889500"/>
            <a:ext cx="76200" cy="76200"/>
          </a:xfrm>
          <a:prstGeom prst="roundRect">
            <a:avLst/>
          </a:prstGeom>
          <a:solidFill>
            <a:srgbClr val="2843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ounded Rectangle 75"/>
          <p:cNvSpPr/>
          <p:nvPr/>
        </p:nvSpPr>
        <p:spPr>
          <a:xfrm>
            <a:off x="5829300" y="5067300"/>
            <a:ext cx="76200" cy="76200"/>
          </a:xfrm>
          <a:prstGeom prst="roundRect">
            <a:avLst/>
          </a:prstGeom>
          <a:solidFill>
            <a:srgbClr val="2843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5829300" y="5245100"/>
            <a:ext cx="76200" cy="76200"/>
          </a:xfrm>
          <a:prstGeom prst="roundRect">
            <a:avLst/>
          </a:prstGeom>
          <a:solidFill>
            <a:srgbClr val="2843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ounded Rectangle 77"/>
          <p:cNvSpPr/>
          <p:nvPr/>
        </p:nvSpPr>
        <p:spPr>
          <a:xfrm>
            <a:off x="5829300" y="5422900"/>
            <a:ext cx="76200" cy="76200"/>
          </a:xfrm>
          <a:prstGeom prst="roundRect">
            <a:avLst/>
          </a:prstGeom>
          <a:solidFill>
            <a:srgbClr val="2843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537200" y="5702300"/>
            <a:ext cx="952500" cy="139700"/>
          </a:xfrm>
          <a:prstGeom prst="rect">
            <a:avLst/>
          </a:prstGeom>
          <a:noFill/>
        </p:spPr>
        <p:txBody>
          <a:bodyPr wrap="square" anchor="t" lIns="25400" rIns="25400" tIns="0" bIns="0">
            <a:noAutofit/>
          </a:bodyPr>
          <a:lstStyle/>
          <a:p>
            <a:pPr algn="l">
              <a:lnSpc>
                <a:spcPct val="100000"/>
              </a:lnSpc>
            </a:pPr>
            <a:r>
              <a:rPr sz="1100" b="1">
                <a:solidFill>
                  <a:srgbClr val="7D8EA7"/>
                </a:solidFill>
                <a:latin typeface="Arial"/>
              </a:rPr>
              <a:t>SYSTEM BOUNDARY</a:t>
            </a:r>
          </a:p>
        </p:txBody>
      </p:sp>
      <p:sp>
        <p:nvSpPr>
          <p:cNvPr id="80" name="Rounded Rectangle 79"/>
          <p:cNvSpPr/>
          <p:nvPr/>
        </p:nvSpPr>
        <p:spPr>
          <a:xfrm>
            <a:off x="6223000" y="2298700"/>
            <a:ext cx="5334000" cy="2984500"/>
          </a:xfrm>
          <a:prstGeom prst="roundRect">
            <a:avLst/>
          </a:prstGeom>
          <a:solidFill>
            <a:srgbClr val="0B1322"/>
          </a:solidFill>
          <a:ln w="19050">
            <a:solidFill>
              <a:srgbClr val="3048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6413500" y="2438400"/>
            <a:ext cx="1905000" cy="139700"/>
          </a:xfrm>
          <a:prstGeom prst="rect">
            <a:avLst/>
          </a:prstGeom>
          <a:noFill/>
        </p:spPr>
        <p:txBody>
          <a:bodyPr wrap="square" anchor="t" lIns="25400" rIns="25400" tIns="0" bIns="0">
            <a:noAutofit/>
          </a:bodyPr>
          <a:lstStyle/>
          <a:p>
            <a:pPr algn="l">
              <a:lnSpc>
                <a:spcPct val="100000"/>
              </a:lnSpc>
            </a:pPr>
            <a:r>
              <a:rPr sz="1300" b="1">
                <a:solidFill>
                  <a:srgbClr val="FBBF24"/>
                </a:solidFill>
                <a:latin typeface="Arial"/>
              </a:rPr>
              <a:t>Representative cloud-AI constraint</a:t>
            </a:r>
          </a:p>
        </p:txBody>
      </p:sp>
      <p:sp>
        <p:nvSpPr>
          <p:cNvPr id="82" name="Rounded Rectangle 81"/>
          <p:cNvSpPr/>
          <p:nvPr/>
        </p:nvSpPr>
        <p:spPr>
          <a:xfrm>
            <a:off x="6413500" y="2654300"/>
            <a:ext cx="2667000" cy="254000"/>
          </a:xfrm>
          <a:prstGeom prst="roundRect">
            <a:avLst/>
          </a:prstGeom>
          <a:solidFill>
            <a:srgbClr val="171315"/>
          </a:solidFill>
          <a:ln w="15875">
            <a:solidFill>
              <a:srgbClr val="2D2A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3" name="Picture 82" descr="harvey.png"/>
          <p:cNvPicPr>
            <a:picLocks noChangeAspect="1"/>
          </p:cNvPicPr>
          <p:nvPr/>
        </p:nvPicPr>
        <p:blipFill>
          <a:blip r:embed="rId6"/>
          <a:stretch>
            <a:fillRect/>
          </a:stretch>
        </p:blipFill>
        <p:spPr>
          <a:xfrm>
            <a:off x="6489700" y="2692400"/>
            <a:ext cx="177800" cy="177800"/>
          </a:xfrm>
          <a:prstGeom prst="rect">
            <a:avLst/>
          </a:prstGeom>
        </p:spPr>
      </p:pic>
      <p:sp>
        <p:nvSpPr>
          <p:cNvPr id="84" name="TextBox 83"/>
          <p:cNvSpPr txBox="1"/>
          <p:nvPr/>
        </p:nvSpPr>
        <p:spPr>
          <a:xfrm>
            <a:off x="6731000" y="2686050"/>
            <a:ext cx="2311400" cy="190500"/>
          </a:xfrm>
          <a:prstGeom prst="rect">
            <a:avLst/>
          </a:prstGeom>
          <a:noFill/>
        </p:spPr>
        <p:txBody>
          <a:bodyPr wrap="none" anchor="ctr" lIns="25400" rIns="25400" tIns="12700" bIns="12700">
            <a:noAutofit/>
          </a:bodyPr>
          <a:lstStyle/>
          <a:p>
            <a:pPr algn="l">
              <a:lnSpc>
                <a:spcPct val="100000"/>
              </a:lnSpc>
            </a:pPr>
            <a:r>
              <a:rPr sz="1500" b="1">
                <a:solidFill>
                  <a:srgbClr val="F6F1E8"/>
                </a:solidFill>
                <a:latin typeface="Arial"/>
              </a:rPr>
              <a:t>Harvey / other reasoning model</a:t>
            </a:r>
          </a:p>
        </p:txBody>
      </p:sp>
      <p:sp>
        <p:nvSpPr>
          <p:cNvPr id="85" name="TextBox 84"/>
          <p:cNvSpPr txBox="1"/>
          <p:nvPr/>
        </p:nvSpPr>
        <p:spPr>
          <a:xfrm>
            <a:off x="6413500" y="3098800"/>
            <a:ext cx="4572000" cy="889000"/>
          </a:xfrm>
          <a:prstGeom prst="rect">
            <a:avLst/>
          </a:prstGeom>
          <a:noFill/>
        </p:spPr>
        <p:txBody>
          <a:bodyPr wrap="square" anchor="t" lIns="25400" rIns="25400" tIns="0" bIns="0">
            <a:noAutofit/>
          </a:bodyPr>
          <a:lstStyle/>
          <a:p>
            <a:pPr algn="l">
              <a:lnSpc>
                <a:spcPct val="100000"/>
              </a:lnSpc>
            </a:pPr>
            <a:r>
              <a:rPr sz="2800" b="1">
                <a:solidFill>
                  <a:srgbClr val="F6F1E8"/>
                </a:solidFill>
                <a:latin typeface="Arial Narrow"/>
              </a:rPr>
              <a:t>“I can analyze this agreement, but I cannot create a sig packet, run Litera, or save a version into iManage from your desktop.”</a:t>
            </a:r>
          </a:p>
        </p:txBody>
      </p:sp>
      <p:sp>
        <p:nvSpPr>
          <p:cNvPr id="86" name="TextBox 85"/>
          <p:cNvSpPr txBox="1"/>
          <p:nvPr/>
        </p:nvSpPr>
        <p:spPr>
          <a:xfrm>
            <a:off x="6413500" y="4483100"/>
            <a:ext cx="4445000" cy="304800"/>
          </a:xfrm>
          <a:prstGeom prst="rect">
            <a:avLst/>
          </a:prstGeom>
          <a:noFill/>
        </p:spPr>
        <p:txBody>
          <a:bodyPr wrap="square" anchor="t" lIns="25400" rIns="25400" tIns="0" bIns="0">
            <a:noAutofit/>
          </a:bodyPr>
          <a:lstStyle/>
          <a:p>
            <a:pPr algn="l">
              <a:lnSpc>
                <a:spcPct val="100000"/>
              </a:lnSpc>
            </a:pPr>
            <a:r>
              <a:rPr sz="1800" b="1">
                <a:solidFill>
                  <a:srgbClr val="A8B5C8"/>
                </a:solidFill>
                <a:latin typeface="Arial"/>
              </a:rPr>
              <a:t>The reasoning layer is in the cloud. The work still lives across local files, desktop applications, and firm systems.</a:t>
            </a:r>
          </a:p>
        </p:txBody>
      </p:sp>
      <p:sp>
        <p:nvSpPr>
          <p:cNvPr id="87" name="Rounded Rectangle 86"/>
          <p:cNvSpPr/>
          <p:nvPr/>
        </p:nvSpPr>
        <p:spPr>
          <a:xfrm>
            <a:off x="571500" y="5727700"/>
            <a:ext cx="10922000" cy="533400"/>
          </a:xfrm>
          <a:prstGeom prst="roundRect">
            <a:avLst/>
          </a:prstGeom>
          <a:solidFill>
            <a:srgbClr val="0B1524"/>
          </a:solidFill>
          <a:ln w="19050">
            <a:solidFill>
              <a:srgbClr val="2A40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749300" y="5892800"/>
            <a:ext cx="10160000" cy="177800"/>
          </a:xfrm>
          <a:prstGeom prst="rect">
            <a:avLst/>
          </a:prstGeom>
          <a:noFill/>
        </p:spPr>
        <p:txBody>
          <a:bodyPr wrap="square" anchor="t" lIns="25400" rIns="25400" tIns="0" bIns="0">
            <a:noAutofit/>
          </a:bodyPr>
          <a:lstStyle/>
          <a:p>
            <a:pPr algn="l">
              <a:lnSpc>
                <a:spcPct val="100000"/>
              </a:lnSpc>
            </a:pPr>
            <a:r>
              <a:rPr sz="1600" b="1">
                <a:solidFill>
                  <a:srgbClr val="FBBF24"/>
                </a:solidFill>
                <a:latin typeface="Arial"/>
              </a:rPr>
              <a:t>Result: attorneys and paralegals still do high-volume operational work manually, and partners often write the time off anyway.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917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10800000">
            <a:off x="9271000" y="-63500"/>
            <a:ext cx="2984500" cy="2032000"/>
          </a:xfrm>
          <a:prstGeom prst="rtTriangl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ight Triangle 3"/>
          <p:cNvSpPr/>
          <p:nvPr/>
        </p:nvSpPr>
        <p:spPr>
          <a:xfrm>
            <a:off x="-127000" y="5207000"/>
            <a:ext cx="2286000" cy="1778000"/>
          </a:xfrm>
          <a:prstGeom prst="rtTriangle">
            <a:avLst/>
          </a:prstGeom>
          <a:solidFill>
            <a:srgbClr val="67E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71500" y="355600"/>
            <a:ext cx="10160000" cy="977900"/>
          </a:xfrm>
          <a:prstGeom prst="rect">
            <a:avLst/>
          </a:prstGeom>
          <a:noFill/>
        </p:spPr>
        <p:txBody>
          <a:bodyPr wrap="square" anchor="t" lIns="25400" rIns="25400" tIns="0" bIns="0">
            <a:noAutofit/>
          </a:bodyPr>
          <a:lstStyle/>
          <a:p>
            <a:pPr algn="l">
              <a:lnSpc>
                <a:spcPct val="95000"/>
              </a:lnSpc>
            </a:pPr>
            <a:r>
              <a:rPr sz="4200" b="1">
                <a:solidFill>
                  <a:srgbClr val="F6F1E8"/>
                </a:solidFill>
                <a:latin typeface="Arial Narrow"/>
              </a:rPr>
              <a:t>EmmaNeigh unifies the AI layer and the</a:t>
            </a:r>
          </a:p>
          <a:p>
            <a:pPr algn="l">
              <a:lnSpc>
                <a:spcPct val="95000"/>
              </a:lnSpc>
            </a:pPr>
            <a:r>
              <a:rPr sz="4200" b="1">
                <a:solidFill>
                  <a:srgbClr val="F6F1E8"/>
                </a:solidFill>
                <a:latin typeface="Arial Narrow"/>
              </a:rPr>
              <a:t>systems-integration layer.</a:t>
            </a:r>
          </a:p>
        </p:txBody>
      </p:sp>
      <p:sp>
        <p:nvSpPr>
          <p:cNvPr id="6" name="TextBox 5"/>
          <p:cNvSpPr txBox="1"/>
          <p:nvPr/>
        </p:nvSpPr>
        <p:spPr>
          <a:xfrm>
            <a:off x="571500" y="1435100"/>
            <a:ext cx="10160000" cy="482600"/>
          </a:xfrm>
          <a:prstGeom prst="rect">
            <a:avLst/>
          </a:prstGeom>
          <a:noFill/>
        </p:spPr>
        <p:txBody>
          <a:bodyPr wrap="square" anchor="t" lIns="25400" rIns="25400" tIns="0" bIns="0">
            <a:noAutofit/>
          </a:bodyPr>
          <a:lstStyle/>
          <a:p>
            <a:pPr algn="l">
              <a:lnSpc>
                <a:spcPct val="100000"/>
              </a:lnSpc>
            </a:pPr>
            <a:r>
              <a:rPr sz="1800" b="1">
                <a:solidFill>
                  <a:srgbClr val="A8B5C8"/>
                </a:solidFill>
                <a:latin typeface="Arial"/>
              </a:rPr>
              <a:t>Think of it as a USB-C hub for legal work: one execution layer that plugs models into Outlook, Adobe, Litera, iManage, DocuSign, files, and checklists.</a:t>
            </a:r>
          </a:p>
        </p:txBody>
      </p:sp>
      <p:sp>
        <p:nvSpPr>
          <p:cNvPr id="7" name="TextBox 6"/>
          <p:cNvSpPr txBox="1"/>
          <p:nvPr/>
        </p:nvSpPr>
        <p:spPr>
          <a:xfrm>
            <a:off x="698500" y="2019300"/>
            <a:ext cx="2413000" cy="190500"/>
          </a:xfrm>
          <a:prstGeom prst="rect">
            <a:avLst/>
          </a:prstGeom>
          <a:noFill/>
        </p:spPr>
        <p:txBody>
          <a:bodyPr wrap="square" anchor="t" lIns="25400" rIns="25400" tIns="0" bIns="0">
            <a:noAutofit/>
          </a:bodyPr>
          <a:lstStyle/>
          <a:p>
            <a:pPr algn="l">
              <a:lnSpc>
                <a:spcPct val="100000"/>
              </a:lnSpc>
            </a:pPr>
            <a:r>
              <a:rPr sz="1500" b="1">
                <a:solidFill>
                  <a:srgbClr val="67E8F9"/>
                </a:solidFill>
                <a:latin typeface="Arial"/>
              </a:rPr>
              <a:t>1. Model-agnostic reasoning layer</a:t>
            </a:r>
          </a:p>
        </p:txBody>
      </p:sp>
      <p:sp>
        <p:nvSpPr>
          <p:cNvPr id="8" name="Rounded Rectangle 7"/>
          <p:cNvSpPr/>
          <p:nvPr/>
        </p:nvSpPr>
        <p:spPr>
          <a:xfrm>
            <a:off x="698500" y="2247900"/>
            <a:ext cx="533400" cy="279400"/>
          </a:xfrm>
          <a:prstGeom prst="roundRect">
            <a:avLst/>
          </a:prstGeom>
          <a:solidFill>
            <a:srgbClr val="111B2D"/>
          </a:solidFill>
          <a:ln w="15875">
            <a:solidFill>
              <a:srgbClr val="2941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7400" y="2279650"/>
            <a:ext cx="355600" cy="215900"/>
          </a:xfrm>
          <a:prstGeom prst="rect">
            <a:avLst/>
          </a:prstGeom>
          <a:noFill/>
        </p:spPr>
        <p:txBody>
          <a:bodyPr wrap="none" anchor="ctr" lIns="25400" rIns="25400" tIns="12700" bIns="12700">
            <a:noAutofit/>
          </a:bodyPr>
          <a:lstStyle/>
          <a:p>
            <a:pPr algn="l">
              <a:lnSpc>
                <a:spcPct val="100000"/>
              </a:lnSpc>
            </a:pPr>
            <a:r>
              <a:rPr sz="1500" b="1">
                <a:solidFill>
                  <a:srgbClr val="F6F1E8"/>
                </a:solidFill>
                <a:latin typeface="Arial"/>
              </a:rPr>
              <a:t>Harvey</a:t>
            </a:r>
          </a:p>
        </p:txBody>
      </p:sp>
      <p:sp>
        <p:nvSpPr>
          <p:cNvPr id="10" name="Rounded Rectangle 9"/>
          <p:cNvSpPr/>
          <p:nvPr/>
        </p:nvSpPr>
        <p:spPr>
          <a:xfrm>
            <a:off x="1333500" y="2247900"/>
            <a:ext cx="533400" cy="279400"/>
          </a:xfrm>
          <a:prstGeom prst="roundRect">
            <a:avLst/>
          </a:prstGeom>
          <a:solidFill>
            <a:srgbClr val="111B2D"/>
          </a:solidFill>
          <a:ln w="15875">
            <a:solidFill>
              <a:srgbClr val="2941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22400" y="2279650"/>
            <a:ext cx="355600" cy="215900"/>
          </a:xfrm>
          <a:prstGeom prst="rect">
            <a:avLst/>
          </a:prstGeom>
          <a:noFill/>
        </p:spPr>
        <p:txBody>
          <a:bodyPr wrap="none" anchor="ctr" lIns="25400" rIns="25400" tIns="12700" bIns="12700">
            <a:noAutofit/>
          </a:bodyPr>
          <a:lstStyle/>
          <a:p>
            <a:pPr algn="l">
              <a:lnSpc>
                <a:spcPct val="100000"/>
              </a:lnSpc>
            </a:pPr>
            <a:r>
              <a:rPr sz="1500" b="1">
                <a:solidFill>
                  <a:srgbClr val="F6F1E8"/>
                </a:solidFill>
                <a:latin typeface="Arial"/>
              </a:rPr>
              <a:t>Claude</a:t>
            </a:r>
          </a:p>
        </p:txBody>
      </p:sp>
      <p:sp>
        <p:nvSpPr>
          <p:cNvPr id="12" name="Rounded Rectangle 11"/>
          <p:cNvSpPr/>
          <p:nvPr/>
        </p:nvSpPr>
        <p:spPr>
          <a:xfrm>
            <a:off x="1968500" y="2247900"/>
            <a:ext cx="558800" cy="279400"/>
          </a:xfrm>
          <a:prstGeom prst="roundRect">
            <a:avLst/>
          </a:prstGeom>
          <a:solidFill>
            <a:srgbClr val="111B2D"/>
          </a:solidFill>
          <a:ln w="15875">
            <a:solidFill>
              <a:srgbClr val="2941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057400" y="2279650"/>
            <a:ext cx="381000" cy="215900"/>
          </a:xfrm>
          <a:prstGeom prst="rect">
            <a:avLst/>
          </a:prstGeom>
          <a:noFill/>
        </p:spPr>
        <p:txBody>
          <a:bodyPr wrap="none" anchor="ctr" lIns="25400" rIns="25400" tIns="12700" bIns="12700">
            <a:noAutofit/>
          </a:bodyPr>
          <a:lstStyle/>
          <a:p>
            <a:pPr algn="l">
              <a:lnSpc>
                <a:spcPct val="100000"/>
              </a:lnSpc>
            </a:pPr>
            <a:r>
              <a:rPr sz="1500" b="1">
                <a:solidFill>
                  <a:srgbClr val="F6F1E8"/>
                </a:solidFill>
                <a:latin typeface="Arial"/>
              </a:rPr>
              <a:t>GPT</a:t>
            </a:r>
          </a:p>
        </p:txBody>
      </p:sp>
      <p:sp>
        <p:nvSpPr>
          <p:cNvPr id="14" name="Rounded Rectangle 13"/>
          <p:cNvSpPr/>
          <p:nvPr/>
        </p:nvSpPr>
        <p:spPr>
          <a:xfrm>
            <a:off x="2628900" y="2247900"/>
            <a:ext cx="952500" cy="279400"/>
          </a:xfrm>
          <a:prstGeom prst="roundRect">
            <a:avLst/>
          </a:prstGeom>
          <a:solidFill>
            <a:srgbClr val="111B2D"/>
          </a:solidFill>
          <a:ln w="15875">
            <a:solidFill>
              <a:srgbClr val="2941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17800" y="2279650"/>
            <a:ext cx="774700" cy="215900"/>
          </a:xfrm>
          <a:prstGeom prst="rect">
            <a:avLst/>
          </a:prstGeom>
          <a:noFill/>
        </p:spPr>
        <p:txBody>
          <a:bodyPr wrap="none" anchor="ctr" lIns="25400" rIns="25400" tIns="12700" bIns="12700">
            <a:noAutofit/>
          </a:bodyPr>
          <a:lstStyle/>
          <a:p>
            <a:pPr algn="l">
              <a:lnSpc>
                <a:spcPct val="100000"/>
              </a:lnSpc>
            </a:pPr>
            <a:r>
              <a:rPr sz="1500" b="1">
                <a:solidFill>
                  <a:srgbClr val="F6F1E8"/>
                </a:solidFill>
                <a:latin typeface="Arial"/>
              </a:rPr>
              <a:t>Groq / Qwen</a:t>
            </a:r>
          </a:p>
        </p:txBody>
      </p:sp>
      <p:sp>
        <p:nvSpPr>
          <p:cNvPr id="16" name="Rounded Rectangle 15"/>
          <p:cNvSpPr/>
          <p:nvPr/>
        </p:nvSpPr>
        <p:spPr>
          <a:xfrm>
            <a:off x="3708400" y="2247900"/>
            <a:ext cx="952500" cy="279400"/>
          </a:xfrm>
          <a:prstGeom prst="roundRect">
            <a:avLst/>
          </a:prstGeom>
          <a:solidFill>
            <a:srgbClr val="111B2D"/>
          </a:solidFill>
          <a:ln w="15875">
            <a:solidFill>
              <a:srgbClr val="2941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97300" y="2279650"/>
            <a:ext cx="774700" cy="215900"/>
          </a:xfrm>
          <a:prstGeom prst="rect">
            <a:avLst/>
          </a:prstGeom>
          <a:noFill/>
        </p:spPr>
        <p:txBody>
          <a:bodyPr wrap="none" anchor="ctr" lIns="25400" rIns="25400" tIns="12700" bIns="12700">
            <a:noAutofit/>
          </a:bodyPr>
          <a:lstStyle/>
          <a:p>
            <a:pPr algn="l">
              <a:lnSpc>
                <a:spcPct val="100000"/>
              </a:lnSpc>
            </a:pPr>
            <a:r>
              <a:rPr sz="1500" b="1">
                <a:solidFill>
                  <a:srgbClr val="F6F1E8"/>
                </a:solidFill>
                <a:latin typeface="Arial"/>
              </a:rPr>
              <a:t>Local model</a:t>
            </a:r>
          </a:p>
        </p:txBody>
      </p:sp>
      <p:cxnSp>
        <p:nvCxnSpPr>
          <p:cNvPr id="18" name="Connector 17"/>
          <p:cNvCxnSpPr/>
          <p:nvPr/>
        </p:nvCxnSpPr>
        <p:spPr>
          <a:xfrm>
            <a:off x="965200" y="2527300"/>
            <a:ext cx="0" cy="254000"/>
          </a:xfrm>
          <a:prstGeom prst="line">
            <a:avLst/>
          </a:prstGeom>
          <a:ln w="28575">
            <a:solidFill>
              <a:srgbClr val="67E8F9"/>
            </a:solidFill>
          </a:ln>
        </p:spPr>
        <p:style>
          <a:lnRef idx="2">
            <a:schemeClr val="accent1"/>
          </a:lnRef>
          <a:fillRef idx="0">
            <a:schemeClr val="accent1"/>
          </a:fillRef>
          <a:effectRef idx="1">
            <a:schemeClr val="accent1"/>
          </a:effectRef>
          <a:fontRef idx="minor">
            <a:schemeClr val="tx1"/>
          </a:fontRef>
        </p:style>
      </p:cxnSp>
      <p:sp>
        <p:nvSpPr>
          <p:cNvPr id="19" name="Isosceles Triangle 18"/>
          <p:cNvSpPr/>
          <p:nvPr/>
        </p:nvSpPr>
        <p:spPr>
          <a:xfrm rot="10800000">
            <a:off x="914400" y="2768600"/>
            <a:ext cx="101600" cy="101600"/>
          </a:xfrm>
          <a:prstGeom prst="triangle">
            <a:avLst/>
          </a:prstGeom>
          <a:solidFill>
            <a:srgbClr val="67E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1600200" y="2527300"/>
            <a:ext cx="0" cy="254000"/>
          </a:xfrm>
          <a:prstGeom prst="line">
            <a:avLst/>
          </a:prstGeom>
          <a:ln w="28575">
            <a:solidFill>
              <a:srgbClr val="67E8F9"/>
            </a:solidFill>
          </a:ln>
        </p:spPr>
        <p:style>
          <a:lnRef idx="2">
            <a:schemeClr val="accent1"/>
          </a:lnRef>
          <a:fillRef idx="0">
            <a:schemeClr val="accent1"/>
          </a:fillRef>
          <a:effectRef idx="1">
            <a:schemeClr val="accent1"/>
          </a:effectRef>
          <a:fontRef idx="minor">
            <a:schemeClr val="tx1"/>
          </a:fontRef>
        </p:style>
      </p:cxnSp>
      <p:sp>
        <p:nvSpPr>
          <p:cNvPr id="21" name="Isosceles Triangle 20"/>
          <p:cNvSpPr/>
          <p:nvPr/>
        </p:nvSpPr>
        <p:spPr>
          <a:xfrm rot="10800000">
            <a:off x="1549400" y="2768600"/>
            <a:ext cx="101600" cy="101600"/>
          </a:xfrm>
          <a:prstGeom prst="triangle">
            <a:avLst/>
          </a:prstGeom>
          <a:solidFill>
            <a:srgbClr val="67E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 name="Connector 21"/>
          <p:cNvCxnSpPr/>
          <p:nvPr/>
        </p:nvCxnSpPr>
        <p:spPr>
          <a:xfrm>
            <a:off x="2247900" y="2527300"/>
            <a:ext cx="0" cy="254000"/>
          </a:xfrm>
          <a:prstGeom prst="line">
            <a:avLst/>
          </a:prstGeom>
          <a:ln w="28575">
            <a:solidFill>
              <a:srgbClr val="67E8F9"/>
            </a:solidFill>
          </a:ln>
        </p:spPr>
        <p:style>
          <a:lnRef idx="2">
            <a:schemeClr val="accent1"/>
          </a:lnRef>
          <a:fillRef idx="0">
            <a:schemeClr val="accent1"/>
          </a:fillRef>
          <a:effectRef idx="1">
            <a:schemeClr val="accent1"/>
          </a:effectRef>
          <a:fontRef idx="minor">
            <a:schemeClr val="tx1"/>
          </a:fontRef>
        </p:style>
      </p:cxnSp>
      <p:sp>
        <p:nvSpPr>
          <p:cNvPr id="23" name="Isosceles Triangle 22"/>
          <p:cNvSpPr/>
          <p:nvPr/>
        </p:nvSpPr>
        <p:spPr>
          <a:xfrm rot="10800000">
            <a:off x="2197100" y="2768600"/>
            <a:ext cx="101600" cy="101600"/>
          </a:xfrm>
          <a:prstGeom prst="triangle">
            <a:avLst/>
          </a:prstGeom>
          <a:solidFill>
            <a:srgbClr val="67E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Connector 23"/>
          <p:cNvCxnSpPr/>
          <p:nvPr/>
        </p:nvCxnSpPr>
        <p:spPr>
          <a:xfrm>
            <a:off x="3105150" y="2527300"/>
            <a:ext cx="0" cy="254000"/>
          </a:xfrm>
          <a:prstGeom prst="line">
            <a:avLst/>
          </a:prstGeom>
          <a:ln w="28575">
            <a:solidFill>
              <a:srgbClr val="67E8F9"/>
            </a:solidFill>
          </a:ln>
        </p:spPr>
        <p:style>
          <a:lnRef idx="2">
            <a:schemeClr val="accent1"/>
          </a:lnRef>
          <a:fillRef idx="0">
            <a:schemeClr val="accent1"/>
          </a:fillRef>
          <a:effectRef idx="1">
            <a:schemeClr val="accent1"/>
          </a:effectRef>
          <a:fontRef idx="minor">
            <a:schemeClr val="tx1"/>
          </a:fontRef>
        </p:style>
      </p:cxnSp>
      <p:sp>
        <p:nvSpPr>
          <p:cNvPr id="25" name="Isosceles Triangle 24"/>
          <p:cNvSpPr/>
          <p:nvPr/>
        </p:nvSpPr>
        <p:spPr>
          <a:xfrm rot="10800000">
            <a:off x="3054350" y="2768600"/>
            <a:ext cx="101600" cy="101600"/>
          </a:xfrm>
          <a:prstGeom prst="triangle">
            <a:avLst/>
          </a:prstGeom>
          <a:solidFill>
            <a:srgbClr val="67E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 name="Connector 25"/>
          <p:cNvCxnSpPr/>
          <p:nvPr/>
        </p:nvCxnSpPr>
        <p:spPr>
          <a:xfrm>
            <a:off x="4184650" y="2527300"/>
            <a:ext cx="0" cy="254000"/>
          </a:xfrm>
          <a:prstGeom prst="line">
            <a:avLst/>
          </a:prstGeom>
          <a:ln w="28575">
            <a:solidFill>
              <a:srgbClr val="67E8F9"/>
            </a:solidFill>
          </a:ln>
        </p:spPr>
        <p:style>
          <a:lnRef idx="2">
            <a:schemeClr val="accent1"/>
          </a:lnRef>
          <a:fillRef idx="0">
            <a:schemeClr val="accent1"/>
          </a:fillRef>
          <a:effectRef idx="1">
            <a:schemeClr val="accent1"/>
          </a:effectRef>
          <a:fontRef idx="minor">
            <a:schemeClr val="tx1"/>
          </a:fontRef>
        </p:style>
      </p:cxnSp>
      <p:sp>
        <p:nvSpPr>
          <p:cNvPr id="27" name="Isosceles Triangle 26"/>
          <p:cNvSpPr/>
          <p:nvPr/>
        </p:nvSpPr>
        <p:spPr>
          <a:xfrm rot="10800000">
            <a:off x="4133849" y="2768600"/>
            <a:ext cx="101600" cy="101600"/>
          </a:xfrm>
          <a:prstGeom prst="triangle">
            <a:avLst/>
          </a:prstGeom>
          <a:solidFill>
            <a:srgbClr val="67E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98500" y="2908300"/>
            <a:ext cx="10795000" cy="571500"/>
          </a:xfrm>
          <a:prstGeom prst="roundRect">
            <a:avLst/>
          </a:prstGeom>
          <a:solidFill>
            <a:srgbClr val="17304B"/>
          </a:solidFill>
          <a:ln w="19050">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9799" y="3041650"/>
            <a:ext cx="3302000" cy="228600"/>
          </a:xfrm>
          <a:prstGeom prst="rect">
            <a:avLst/>
          </a:prstGeom>
          <a:noFill/>
        </p:spPr>
        <p:txBody>
          <a:bodyPr wrap="square" anchor="t" lIns="25400" rIns="25400" tIns="0" bIns="0">
            <a:noAutofit/>
          </a:bodyPr>
          <a:lstStyle/>
          <a:p>
            <a:pPr algn="l">
              <a:lnSpc>
                <a:spcPct val="100000"/>
              </a:lnSpc>
            </a:pPr>
            <a:r>
              <a:rPr sz="2600" b="1">
                <a:solidFill>
                  <a:srgbClr val="F6F1E8"/>
                </a:solidFill>
                <a:latin typeface="Arial Narrow"/>
              </a:rPr>
              <a:t>2. EmmaNeigh execution layer</a:t>
            </a:r>
          </a:p>
        </p:txBody>
      </p:sp>
      <p:sp>
        <p:nvSpPr>
          <p:cNvPr id="30" name="TextBox 29"/>
          <p:cNvSpPr txBox="1"/>
          <p:nvPr/>
        </p:nvSpPr>
        <p:spPr>
          <a:xfrm>
            <a:off x="6477000" y="2997200"/>
            <a:ext cx="4445000" cy="254000"/>
          </a:xfrm>
          <a:prstGeom prst="rect">
            <a:avLst/>
          </a:prstGeom>
          <a:noFill/>
        </p:spPr>
        <p:txBody>
          <a:bodyPr wrap="square" anchor="t" lIns="25400" rIns="25400" tIns="0" bIns="0">
            <a:noAutofit/>
          </a:bodyPr>
          <a:lstStyle/>
          <a:p>
            <a:pPr algn="l">
              <a:lnSpc>
                <a:spcPct val="100000"/>
              </a:lnSpc>
            </a:pPr>
            <a:r>
              <a:rPr sz="1500" b="1">
                <a:solidFill>
                  <a:srgbClr val="A8B5C8"/>
                </a:solidFill>
                <a:latin typeface="Arial"/>
              </a:rPr>
              <a:t>Translates natural-language intent into machine-readable commands and then executes them deterministically.</a:t>
            </a:r>
          </a:p>
        </p:txBody>
      </p:sp>
      <p:sp>
        <p:nvSpPr>
          <p:cNvPr id="31" name="TextBox 30"/>
          <p:cNvSpPr txBox="1"/>
          <p:nvPr/>
        </p:nvSpPr>
        <p:spPr>
          <a:xfrm>
            <a:off x="698500" y="3797300"/>
            <a:ext cx="3556000" cy="165100"/>
          </a:xfrm>
          <a:prstGeom prst="rect">
            <a:avLst/>
          </a:prstGeom>
          <a:noFill/>
        </p:spPr>
        <p:txBody>
          <a:bodyPr wrap="square" anchor="t" lIns="25400" rIns="25400" tIns="0" bIns="0">
            <a:noAutofit/>
          </a:bodyPr>
          <a:lstStyle/>
          <a:p>
            <a:pPr algn="l">
              <a:lnSpc>
                <a:spcPct val="100000"/>
              </a:lnSpc>
            </a:pPr>
            <a:r>
              <a:rPr sz="1500" b="1">
                <a:solidFill>
                  <a:srgbClr val="FB923C"/>
                </a:solidFill>
                <a:latin typeface="Arial"/>
              </a:rPr>
              <a:t>3. Actual operating systems and applications</a:t>
            </a:r>
          </a:p>
        </p:txBody>
      </p:sp>
      <p:sp>
        <p:nvSpPr>
          <p:cNvPr id="32" name="Rounded Rectangle 31"/>
          <p:cNvSpPr/>
          <p:nvPr/>
        </p:nvSpPr>
        <p:spPr>
          <a:xfrm>
            <a:off x="698500" y="4025900"/>
            <a:ext cx="1079500" cy="342900"/>
          </a:xfrm>
          <a:prstGeom prst="roundRect">
            <a:avLst/>
          </a:prstGeom>
          <a:solidFill>
            <a:srgbClr val="0D1B2C"/>
          </a:solidFill>
          <a:ln w="15875">
            <a:solidFill>
              <a:srgbClr val="3046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87400" y="4057650"/>
            <a:ext cx="901700" cy="279400"/>
          </a:xfrm>
          <a:prstGeom prst="rect">
            <a:avLst/>
          </a:prstGeom>
          <a:noFill/>
        </p:spPr>
        <p:txBody>
          <a:bodyPr wrap="none" anchor="ctr" lIns="25400" rIns="25400" tIns="12700" bIns="12700">
            <a:noAutofit/>
          </a:bodyPr>
          <a:lstStyle/>
          <a:p>
            <a:pPr algn="l">
              <a:lnSpc>
                <a:spcPct val="100000"/>
              </a:lnSpc>
            </a:pPr>
            <a:r>
              <a:rPr sz="1500" b="1">
                <a:solidFill>
                  <a:srgbClr val="F6F1E8"/>
                </a:solidFill>
                <a:latin typeface="Arial"/>
              </a:rPr>
              <a:t>Local files</a:t>
            </a:r>
          </a:p>
        </p:txBody>
      </p:sp>
      <p:sp>
        <p:nvSpPr>
          <p:cNvPr id="34" name="Rounded Rectangle 33"/>
          <p:cNvSpPr/>
          <p:nvPr/>
        </p:nvSpPr>
        <p:spPr>
          <a:xfrm>
            <a:off x="1968500" y="4025900"/>
            <a:ext cx="1174750" cy="342900"/>
          </a:xfrm>
          <a:prstGeom prst="roundRect">
            <a:avLst/>
          </a:prstGeom>
          <a:solidFill>
            <a:srgbClr val="0D1B2C"/>
          </a:solidFill>
          <a:ln w="15875">
            <a:solidFill>
              <a:srgbClr val="3046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outlook.png"/>
          <p:cNvPicPr>
            <a:picLocks noChangeAspect="1"/>
          </p:cNvPicPr>
          <p:nvPr/>
        </p:nvPicPr>
        <p:blipFill>
          <a:blip r:embed="rId2"/>
          <a:stretch>
            <a:fillRect/>
          </a:stretch>
        </p:blipFill>
        <p:spPr>
          <a:xfrm>
            <a:off x="2044700" y="4070350"/>
            <a:ext cx="254000" cy="254000"/>
          </a:xfrm>
          <a:prstGeom prst="rect">
            <a:avLst/>
          </a:prstGeom>
        </p:spPr>
      </p:pic>
      <p:sp>
        <p:nvSpPr>
          <p:cNvPr id="36" name="TextBox 35"/>
          <p:cNvSpPr txBox="1"/>
          <p:nvPr/>
        </p:nvSpPr>
        <p:spPr>
          <a:xfrm>
            <a:off x="2362200" y="4057650"/>
            <a:ext cx="742950" cy="279400"/>
          </a:xfrm>
          <a:prstGeom prst="rect">
            <a:avLst/>
          </a:prstGeom>
          <a:noFill/>
        </p:spPr>
        <p:txBody>
          <a:bodyPr wrap="none" anchor="ctr" lIns="25400" rIns="25400" tIns="12700" bIns="12700">
            <a:noAutofit/>
          </a:bodyPr>
          <a:lstStyle/>
          <a:p>
            <a:pPr algn="l">
              <a:lnSpc>
                <a:spcPct val="100000"/>
              </a:lnSpc>
            </a:pPr>
            <a:r>
              <a:rPr sz="1500" b="1">
                <a:solidFill>
                  <a:srgbClr val="F6F1E8"/>
                </a:solidFill>
                <a:latin typeface="Arial"/>
              </a:rPr>
              <a:t>Outlook</a:t>
            </a:r>
          </a:p>
        </p:txBody>
      </p:sp>
      <p:sp>
        <p:nvSpPr>
          <p:cNvPr id="37" name="Rounded Rectangle 36"/>
          <p:cNvSpPr/>
          <p:nvPr/>
        </p:nvSpPr>
        <p:spPr>
          <a:xfrm>
            <a:off x="3302000" y="4025900"/>
            <a:ext cx="1079500" cy="342900"/>
          </a:xfrm>
          <a:prstGeom prst="roundRect">
            <a:avLst/>
          </a:prstGeom>
          <a:solidFill>
            <a:srgbClr val="0D1B2C"/>
          </a:solidFill>
          <a:ln w="15875">
            <a:solidFill>
              <a:srgbClr val="3046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adobe.png"/>
          <p:cNvPicPr>
            <a:picLocks noChangeAspect="1"/>
          </p:cNvPicPr>
          <p:nvPr/>
        </p:nvPicPr>
        <p:blipFill>
          <a:blip r:embed="rId3"/>
          <a:stretch>
            <a:fillRect/>
          </a:stretch>
        </p:blipFill>
        <p:spPr>
          <a:xfrm>
            <a:off x="3378200" y="4070350"/>
            <a:ext cx="254000" cy="254000"/>
          </a:xfrm>
          <a:prstGeom prst="rect">
            <a:avLst/>
          </a:prstGeom>
        </p:spPr>
      </p:pic>
      <p:sp>
        <p:nvSpPr>
          <p:cNvPr id="39" name="TextBox 38"/>
          <p:cNvSpPr txBox="1"/>
          <p:nvPr/>
        </p:nvSpPr>
        <p:spPr>
          <a:xfrm>
            <a:off x="3695700" y="4057650"/>
            <a:ext cx="647700" cy="279400"/>
          </a:xfrm>
          <a:prstGeom prst="rect">
            <a:avLst/>
          </a:prstGeom>
          <a:noFill/>
        </p:spPr>
        <p:txBody>
          <a:bodyPr wrap="none" anchor="ctr" lIns="25400" rIns="25400" tIns="12700" bIns="12700">
            <a:noAutofit/>
          </a:bodyPr>
          <a:lstStyle/>
          <a:p>
            <a:pPr algn="l">
              <a:lnSpc>
                <a:spcPct val="100000"/>
              </a:lnSpc>
            </a:pPr>
            <a:r>
              <a:rPr sz="1500" b="1">
                <a:solidFill>
                  <a:srgbClr val="F6F1E8"/>
                </a:solidFill>
                <a:latin typeface="Arial"/>
              </a:rPr>
              <a:t>Adobe</a:t>
            </a:r>
          </a:p>
        </p:txBody>
      </p:sp>
      <p:sp>
        <p:nvSpPr>
          <p:cNvPr id="40" name="Rounded Rectangle 39"/>
          <p:cNvSpPr/>
          <p:nvPr/>
        </p:nvSpPr>
        <p:spPr>
          <a:xfrm>
            <a:off x="4540250" y="4025900"/>
            <a:ext cx="1079500" cy="342900"/>
          </a:xfrm>
          <a:prstGeom prst="roundRect">
            <a:avLst/>
          </a:prstGeom>
          <a:solidFill>
            <a:srgbClr val="0D1B2C"/>
          </a:solidFill>
          <a:ln w="15875">
            <a:solidFill>
              <a:srgbClr val="3046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litera_favicon.png"/>
          <p:cNvPicPr>
            <a:picLocks noChangeAspect="1"/>
          </p:cNvPicPr>
          <p:nvPr/>
        </p:nvPicPr>
        <p:blipFill>
          <a:blip r:embed="rId4"/>
          <a:stretch>
            <a:fillRect/>
          </a:stretch>
        </p:blipFill>
        <p:spPr>
          <a:xfrm>
            <a:off x="4616450" y="4070350"/>
            <a:ext cx="254000" cy="254000"/>
          </a:xfrm>
          <a:prstGeom prst="rect">
            <a:avLst/>
          </a:prstGeom>
        </p:spPr>
      </p:pic>
      <p:sp>
        <p:nvSpPr>
          <p:cNvPr id="42" name="TextBox 41"/>
          <p:cNvSpPr txBox="1"/>
          <p:nvPr/>
        </p:nvSpPr>
        <p:spPr>
          <a:xfrm>
            <a:off x="4933950" y="4057650"/>
            <a:ext cx="647700" cy="279400"/>
          </a:xfrm>
          <a:prstGeom prst="rect">
            <a:avLst/>
          </a:prstGeom>
          <a:noFill/>
        </p:spPr>
        <p:txBody>
          <a:bodyPr wrap="none" anchor="ctr" lIns="25400" rIns="25400" tIns="12700" bIns="12700">
            <a:noAutofit/>
          </a:bodyPr>
          <a:lstStyle/>
          <a:p>
            <a:pPr algn="l">
              <a:lnSpc>
                <a:spcPct val="100000"/>
              </a:lnSpc>
            </a:pPr>
            <a:r>
              <a:rPr sz="1500" b="1">
                <a:solidFill>
                  <a:srgbClr val="F6F1E8"/>
                </a:solidFill>
                <a:latin typeface="Arial"/>
              </a:rPr>
              <a:t>Litera</a:t>
            </a:r>
          </a:p>
        </p:txBody>
      </p:sp>
      <p:sp>
        <p:nvSpPr>
          <p:cNvPr id="43" name="Rounded Rectangle 42"/>
          <p:cNvSpPr/>
          <p:nvPr/>
        </p:nvSpPr>
        <p:spPr>
          <a:xfrm>
            <a:off x="5905500" y="4025900"/>
            <a:ext cx="1301750" cy="342900"/>
          </a:xfrm>
          <a:prstGeom prst="roundRect">
            <a:avLst/>
          </a:prstGeom>
          <a:solidFill>
            <a:srgbClr val="0D1B2C"/>
          </a:solidFill>
          <a:ln w="15875">
            <a:solidFill>
              <a:srgbClr val="3046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Picture 43" descr="docusign.png"/>
          <p:cNvPicPr>
            <a:picLocks noChangeAspect="1"/>
          </p:cNvPicPr>
          <p:nvPr/>
        </p:nvPicPr>
        <p:blipFill>
          <a:blip r:embed="rId5"/>
          <a:stretch>
            <a:fillRect/>
          </a:stretch>
        </p:blipFill>
        <p:spPr>
          <a:xfrm>
            <a:off x="5981700" y="4070350"/>
            <a:ext cx="254000" cy="254000"/>
          </a:xfrm>
          <a:prstGeom prst="rect">
            <a:avLst/>
          </a:prstGeom>
        </p:spPr>
      </p:pic>
      <p:sp>
        <p:nvSpPr>
          <p:cNvPr id="45" name="TextBox 44"/>
          <p:cNvSpPr txBox="1"/>
          <p:nvPr/>
        </p:nvSpPr>
        <p:spPr>
          <a:xfrm>
            <a:off x="6299200" y="4057650"/>
            <a:ext cx="869950" cy="279400"/>
          </a:xfrm>
          <a:prstGeom prst="rect">
            <a:avLst/>
          </a:prstGeom>
          <a:noFill/>
        </p:spPr>
        <p:txBody>
          <a:bodyPr wrap="none" anchor="ctr" lIns="25400" rIns="25400" tIns="12700" bIns="12700">
            <a:noAutofit/>
          </a:bodyPr>
          <a:lstStyle/>
          <a:p>
            <a:pPr algn="l">
              <a:lnSpc>
                <a:spcPct val="100000"/>
              </a:lnSpc>
            </a:pPr>
            <a:r>
              <a:rPr sz="1500" b="1">
                <a:solidFill>
                  <a:srgbClr val="F6F1E8"/>
                </a:solidFill>
                <a:latin typeface="Arial"/>
              </a:rPr>
              <a:t>DocuSign</a:t>
            </a:r>
          </a:p>
        </p:txBody>
      </p:sp>
      <p:sp>
        <p:nvSpPr>
          <p:cNvPr id="46" name="Rounded Rectangle 45"/>
          <p:cNvSpPr/>
          <p:nvPr/>
        </p:nvSpPr>
        <p:spPr>
          <a:xfrm>
            <a:off x="7366000" y="4025900"/>
            <a:ext cx="1587500" cy="342900"/>
          </a:xfrm>
          <a:prstGeom prst="roundRect">
            <a:avLst/>
          </a:prstGeom>
          <a:solidFill>
            <a:srgbClr val="0D1B2C"/>
          </a:solidFill>
          <a:ln w="15875">
            <a:solidFill>
              <a:srgbClr val="3046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7" name="Picture 46" descr="imanage.png"/>
          <p:cNvPicPr>
            <a:picLocks noChangeAspect="1"/>
          </p:cNvPicPr>
          <p:nvPr/>
        </p:nvPicPr>
        <p:blipFill>
          <a:blip r:embed="rId6"/>
          <a:stretch>
            <a:fillRect/>
          </a:stretch>
        </p:blipFill>
        <p:spPr>
          <a:xfrm>
            <a:off x="7442200" y="4148857"/>
            <a:ext cx="254000" cy="96985"/>
          </a:xfrm>
          <a:prstGeom prst="rect">
            <a:avLst/>
          </a:prstGeom>
        </p:spPr>
      </p:pic>
      <p:sp>
        <p:nvSpPr>
          <p:cNvPr id="48" name="TextBox 47"/>
          <p:cNvSpPr txBox="1"/>
          <p:nvPr/>
        </p:nvSpPr>
        <p:spPr>
          <a:xfrm>
            <a:off x="7759700" y="4057650"/>
            <a:ext cx="1155700" cy="279400"/>
          </a:xfrm>
          <a:prstGeom prst="rect">
            <a:avLst/>
          </a:prstGeom>
          <a:noFill/>
        </p:spPr>
        <p:txBody>
          <a:bodyPr wrap="none" anchor="ctr" lIns="25400" rIns="25400" tIns="12700" bIns="12700">
            <a:noAutofit/>
          </a:bodyPr>
          <a:lstStyle/>
          <a:p>
            <a:pPr algn="l">
              <a:lnSpc>
                <a:spcPct val="100000"/>
              </a:lnSpc>
            </a:pPr>
            <a:r>
              <a:rPr sz="1500" b="1">
                <a:solidFill>
                  <a:srgbClr val="F6F1E8"/>
                </a:solidFill>
                <a:latin typeface="Arial"/>
              </a:rPr>
              <a:t>iManage</a:t>
            </a:r>
          </a:p>
        </p:txBody>
      </p:sp>
      <p:sp>
        <p:nvSpPr>
          <p:cNvPr id="49" name="Rounded Rectangle 48"/>
          <p:cNvSpPr/>
          <p:nvPr/>
        </p:nvSpPr>
        <p:spPr>
          <a:xfrm>
            <a:off x="698500" y="4559300"/>
            <a:ext cx="50800" cy="50800"/>
          </a:xfrm>
          <a:prstGeom prst="round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25500" y="4508500"/>
            <a:ext cx="9652000" cy="165100"/>
          </a:xfrm>
          <a:prstGeom prst="rect">
            <a:avLst/>
          </a:prstGeom>
          <a:noFill/>
        </p:spPr>
        <p:txBody>
          <a:bodyPr wrap="square" anchor="t" lIns="25400" rIns="25400" tIns="0" bIns="0">
            <a:noAutofit/>
          </a:bodyPr>
          <a:lstStyle/>
          <a:p>
            <a:pPr algn="l">
              <a:lnSpc>
                <a:spcPct val="100000"/>
              </a:lnSpc>
            </a:pPr>
            <a:r>
              <a:rPr sz="1500" b="0">
                <a:solidFill>
                  <a:srgbClr val="F6F1E8"/>
                </a:solidFill>
                <a:latin typeface="Arial"/>
              </a:rPr>
              <a:t>AI is used for translation and routing, not for performing the underlying deterministic work.</a:t>
            </a:r>
          </a:p>
        </p:txBody>
      </p:sp>
      <p:sp>
        <p:nvSpPr>
          <p:cNvPr id="51" name="Rounded Rectangle 50"/>
          <p:cNvSpPr/>
          <p:nvPr/>
        </p:nvSpPr>
        <p:spPr>
          <a:xfrm>
            <a:off x="698500" y="4787900"/>
            <a:ext cx="50800" cy="50800"/>
          </a:xfrm>
          <a:prstGeom prst="round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25500" y="4737100"/>
            <a:ext cx="9652000" cy="165100"/>
          </a:xfrm>
          <a:prstGeom prst="rect">
            <a:avLst/>
          </a:prstGeom>
          <a:noFill/>
        </p:spPr>
        <p:txBody>
          <a:bodyPr wrap="square" anchor="t" lIns="25400" rIns="25400" tIns="0" bIns="0">
            <a:noAutofit/>
          </a:bodyPr>
          <a:lstStyle/>
          <a:p>
            <a:pPr algn="l">
              <a:lnSpc>
                <a:spcPct val="100000"/>
              </a:lnSpc>
            </a:pPr>
            <a:r>
              <a:rPr sz="1500" b="0">
                <a:solidFill>
                  <a:srgbClr val="F6F1E8"/>
                </a:solidFill>
                <a:latin typeface="Arial"/>
              </a:rPr>
              <a:t>No browser-click agent is required for core execution. The value comes from software integrations, file operations, and operating-system access.</a:t>
            </a:r>
          </a:p>
        </p:txBody>
      </p:sp>
      <p:sp>
        <p:nvSpPr>
          <p:cNvPr id="53" name="Rounded Rectangle 52"/>
          <p:cNvSpPr/>
          <p:nvPr/>
        </p:nvSpPr>
        <p:spPr>
          <a:xfrm>
            <a:off x="698500" y="5016500"/>
            <a:ext cx="50800" cy="50800"/>
          </a:xfrm>
          <a:prstGeom prst="round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25500" y="4965700"/>
            <a:ext cx="9652000" cy="165100"/>
          </a:xfrm>
          <a:prstGeom prst="rect">
            <a:avLst/>
          </a:prstGeom>
          <a:noFill/>
        </p:spPr>
        <p:txBody>
          <a:bodyPr wrap="square" anchor="t" lIns="25400" rIns="25400" tIns="0" bIns="0">
            <a:noAutofit/>
          </a:bodyPr>
          <a:lstStyle/>
          <a:p>
            <a:pPr algn="l">
              <a:lnSpc>
                <a:spcPct val="100000"/>
              </a:lnSpc>
            </a:pPr>
            <a:r>
              <a:rPr sz="1500" b="0">
                <a:solidFill>
                  <a:srgbClr val="F6F1E8"/>
                </a:solidFill>
                <a:latin typeface="Arial"/>
              </a:rPr>
              <a:t>Because the layer is model agnostic, the reasoning system can change without rebuilding the workflow engine.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917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10800000">
            <a:off x="9271000" y="-63500"/>
            <a:ext cx="2984500" cy="2032000"/>
          </a:xfrm>
          <a:prstGeom prst="rtTriangl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ight Triangle 3"/>
          <p:cNvSpPr/>
          <p:nvPr/>
        </p:nvSpPr>
        <p:spPr>
          <a:xfrm>
            <a:off x="-127000" y="5207000"/>
            <a:ext cx="2286000" cy="1778000"/>
          </a:xfrm>
          <a:prstGeom prst="rtTriangle">
            <a:avLst/>
          </a:prstGeom>
          <a:solidFill>
            <a:srgbClr val="67E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71500" y="355600"/>
            <a:ext cx="10160000" cy="977900"/>
          </a:xfrm>
          <a:prstGeom prst="rect">
            <a:avLst/>
          </a:prstGeom>
          <a:noFill/>
        </p:spPr>
        <p:txBody>
          <a:bodyPr wrap="square" anchor="t" lIns="25400" rIns="25400" tIns="0" bIns="0">
            <a:noAutofit/>
          </a:bodyPr>
          <a:lstStyle/>
          <a:p>
            <a:pPr algn="l">
              <a:lnSpc>
                <a:spcPct val="95000"/>
              </a:lnSpc>
            </a:pPr>
            <a:r>
              <a:rPr sz="4200" b="1">
                <a:solidFill>
                  <a:srgbClr val="F6F1E8"/>
                </a:solidFill>
                <a:latin typeface="Arial Narrow"/>
              </a:rPr>
              <a:t>What EmmaNeigh already executes</a:t>
            </a:r>
          </a:p>
        </p:txBody>
      </p:sp>
      <p:sp>
        <p:nvSpPr>
          <p:cNvPr id="6" name="TextBox 5"/>
          <p:cNvSpPr txBox="1"/>
          <p:nvPr/>
        </p:nvSpPr>
        <p:spPr>
          <a:xfrm>
            <a:off x="571500" y="1435100"/>
            <a:ext cx="10160000" cy="482600"/>
          </a:xfrm>
          <a:prstGeom prst="rect">
            <a:avLst/>
          </a:prstGeom>
          <a:noFill/>
        </p:spPr>
        <p:txBody>
          <a:bodyPr wrap="square" anchor="t" lIns="25400" rIns="25400" tIns="0" bIns="0">
            <a:noAutofit/>
          </a:bodyPr>
          <a:lstStyle/>
          <a:p>
            <a:pPr algn="l">
              <a:lnSpc>
                <a:spcPct val="100000"/>
              </a:lnSpc>
            </a:pPr>
            <a:r>
              <a:rPr sz="1800" b="1">
                <a:solidFill>
                  <a:srgbClr val="A8B5C8"/>
                </a:solidFill>
                <a:latin typeface="Arial"/>
              </a:rPr>
              <a:t>The product is already organized around recurring legal operations, not generic chat.</a:t>
            </a:r>
          </a:p>
        </p:txBody>
      </p:sp>
      <p:sp>
        <p:nvSpPr>
          <p:cNvPr id="7" name="Rounded Rectangle 6"/>
          <p:cNvSpPr/>
          <p:nvPr/>
        </p:nvSpPr>
        <p:spPr>
          <a:xfrm>
            <a:off x="571500" y="2032000"/>
            <a:ext cx="2603500" cy="1079500"/>
          </a:xfrm>
          <a:prstGeom prst="roundRect">
            <a:avLst/>
          </a:prstGeom>
          <a:solidFill>
            <a:srgbClr val="0D1B2C"/>
          </a:solidFill>
          <a:ln w="19050">
            <a:solidFill>
              <a:srgbClr val="3046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outlook.png"/>
          <p:cNvPicPr>
            <a:picLocks noChangeAspect="1"/>
          </p:cNvPicPr>
          <p:nvPr/>
        </p:nvPicPr>
        <p:blipFill>
          <a:blip r:embed="rId2"/>
          <a:stretch>
            <a:fillRect/>
          </a:stretch>
        </p:blipFill>
        <p:spPr>
          <a:xfrm>
            <a:off x="685800" y="2146300"/>
            <a:ext cx="177800" cy="177800"/>
          </a:xfrm>
          <a:prstGeom prst="rect">
            <a:avLst/>
          </a:prstGeom>
        </p:spPr>
      </p:pic>
      <p:sp>
        <p:nvSpPr>
          <p:cNvPr id="9" name="TextBox 8"/>
          <p:cNvSpPr txBox="1"/>
          <p:nvPr/>
        </p:nvSpPr>
        <p:spPr>
          <a:xfrm>
            <a:off x="927100" y="2120900"/>
            <a:ext cx="2133600" cy="215900"/>
          </a:xfrm>
          <a:prstGeom prst="rect">
            <a:avLst/>
          </a:prstGeom>
          <a:noFill/>
        </p:spPr>
        <p:txBody>
          <a:bodyPr wrap="square" anchor="t" lIns="25400" rIns="25400" tIns="0" bIns="0">
            <a:noAutofit/>
          </a:bodyPr>
          <a:lstStyle/>
          <a:p>
            <a:pPr algn="l">
              <a:lnSpc>
                <a:spcPct val="100000"/>
              </a:lnSpc>
            </a:pPr>
            <a:r>
              <a:rPr sz="2000" b="1">
                <a:solidFill>
                  <a:srgbClr val="F6F1E8"/>
                </a:solidFill>
                <a:latin typeface="Arial Narrow"/>
              </a:rPr>
              <a:t>Email &amp; attachments</a:t>
            </a:r>
          </a:p>
        </p:txBody>
      </p:sp>
      <p:sp>
        <p:nvSpPr>
          <p:cNvPr id="10" name="TextBox 9"/>
          <p:cNvSpPr txBox="1"/>
          <p:nvPr/>
        </p:nvSpPr>
        <p:spPr>
          <a:xfrm>
            <a:off x="685800" y="2400300"/>
            <a:ext cx="2374900" cy="635000"/>
          </a:xfrm>
          <a:prstGeom prst="rect">
            <a:avLst/>
          </a:prstGeom>
          <a:noFill/>
        </p:spPr>
        <p:txBody>
          <a:bodyPr wrap="square" anchor="t" lIns="25400" rIns="25400" tIns="0" bIns="0">
            <a:noAutofit/>
          </a:bodyPr>
          <a:lstStyle/>
          <a:p>
            <a:pPr algn="l">
              <a:lnSpc>
                <a:spcPct val="100000"/>
              </a:lnSpc>
            </a:pPr>
            <a:r>
              <a:rPr sz="1500" b="1">
                <a:solidFill>
                  <a:srgbClr val="A8B5C8"/>
                </a:solidFill>
                <a:latin typeface="Arial"/>
              </a:rPr>
              <a:t>Search folders, determine whether a draft was received or sent, save attachments, and prepare follow-ups.</a:t>
            </a:r>
          </a:p>
        </p:txBody>
      </p:sp>
      <p:sp>
        <p:nvSpPr>
          <p:cNvPr id="11" name="Rounded Rectangle 10"/>
          <p:cNvSpPr/>
          <p:nvPr/>
        </p:nvSpPr>
        <p:spPr>
          <a:xfrm>
            <a:off x="3403600" y="2032000"/>
            <a:ext cx="2603500" cy="1079500"/>
          </a:xfrm>
          <a:prstGeom prst="roundRect">
            <a:avLst/>
          </a:prstGeom>
          <a:solidFill>
            <a:srgbClr val="0D1B2C"/>
          </a:solidFill>
          <a:ln w="19050">
            <a:solidFill>
              <a:srgbClr val="3046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outlook.png"/>
          <p:cNvPicPr>
            <a:picLocks noChangeAspect="1"/>
          </p:cNvPicPr>
          <p:nvPr/>
        </p:nvPicPr>
        <p:blipFill>
          <a:blip r:embed="rId2"/>
          <a:stretch>
            <a:fillRect/>
          </a:stretch>
        </p:blipFill>
        <p:spPr>
          <a:xfrm>
            <a:off x="3517900" y="2146300"/>
            <a:ext cx="177800" cy="177800"/>
          </a:xfrm>
          <a:prstGeom prst="rect">
            <a:avLst/>
          </a:prstGeom>
        </p:spPr>
      </p:pic>
      <p:sp>
        <p:nvSpPr>
          <p:cNvPr id="13" name="TextBox 12"/>
          <p:cNvSpPr txBox="1"/>
          <p:nvPr/>
        </p:nvSpPr>
        <p:spPr>
          <a:xfrm>
            <a:off x="3759199" y="2120900"/>
            <a:ext cx="2133600" cy="215900"/>
          </a:xfrm>
          <a:prstGeom prst="rect">
            <a:avLst/>
          </a:prstGeom>
          <a:noFill/>
        </p:spPr>
        <p:txBody>
          <a:bodyPr wrap="square" anchor="t" lIns="25400" rIns="25400" tIns="0" bIns="0">
            <a:noAutofit/>
          </a:bodyPr>
          <a:lstStyle/>
          <a:p>
            <a:pPr algn="l">
              <a:lnSpc>
                <a:spcPct val="100000"/>
              </a:lnSpc>
            </a:pPr>
            <a:r>
              <a:rPr sz="2000" b="1">
                <a:solidFill>
                  <a:srgbClr val="F6F1E8"/>
                </a:solidFill>
                <a:latin typeface="Arial Narrow"/>
              </a:rPr>
              <a:t>Checklist updates</a:t>
            </a:r>
          </a:p>
        </p:txBody>
      </p:sp>
      <p:sp>
        <p:nvSpPr>
          <p:cNvPr id="14" name="TextBox 13"/>
          <p:cNvSpPr txBox="1"/>
          <p:nvPr/>
        </p:nvSpPr>
        <p:spPr>
          <a:xfrm>
            <a:off x="3517900" y="2400300"/>
            <a:ext cx="2374900" cy="635000"/>
          </a:xfrm>
          <a:prstGeom prst="rect">
            <a:avLst/>
          </a:prstGeom>
          <a:noFill/>
        </p:spPr>
        <p:txBody>
          <a:bodyPr wrap="square" anchor="t" lIns="25400" rIns="25400" tIns="0" bIns="0">
            <a:noAutofit/>
          </a:bodyPr>
          <a:lstStyle/>
          <a:p>
            <a:pPr algn="l">
              <a:lnSpc>
                <a:spcPct val="100000"/>
              </a:lnSpc>
            </a:pPr>
            <a:r>
              <a:rPr sz="1500" b="1">
                <a:solidFill>
                  <a:srgbClr val="A8B5C8"/>
                </a:solidFill>
                <a:latin typeface="Arial"/>
              </a:rPr>
              <a:t>Upload a checklist, scan Outlook activity, and update comments/status based on actual matter traffic.</a:t>
            </a:r>
          </a:p>
        </p:txBody>
      </p:sp>
      <p:sp>
        <p:nvSpPr>
          <p:cNvPr id="15" name="Rounded Rectangle 14"/>
          <p:cNvSpPr/>
          <p:nvPr/>
        </p:nvSpPr>
        <p:spPr>
          <a:xfrm>
            <a:off x="6235700" y="2032000"/>
            <a:ext cx="2603500" cy="1079500"/>
          </a:xfrm>
          <a:prstGeom prst="roundRect">
            <a:avLst/>
          </a:prstGeom>
          <a:solidFill>
            <a:srgbClr val="0D1B2C"/>
          </a:solidFill>
          <a:ln w="19050">
            <a:solidFill>
              <a:srgbClr val="3046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imanage.png"/>
          <p:cNvPicPr>
            <a:picLocks noChangeAspect="1"/>
          </p:cNvPicPr>
          <p:nvPr/>
        </p:nvPicPr>
        <p:blipFill>
          <a:blip r:embed="rId3"/>
          <a:stretch>
            <a:fillRect/>
          </a:stretch>
        </p:blipFill>
        <p:spPr>
          <a:xfrm>
            <a:off x="6350000" y="2201254"/>
            <a:ext cx="177800" cy="67890"/>
          </a:xfrm>
          <a:prstGeom prst="rect">
            <a:avLst/>
          </a:prstGeom>
        </p:spPr>
      </p:pic>
      <p:sp>
        <p:nvSpPr>
          <p:cNvPr id="17" name="TextBox 16"/>
          <p:cNvSpPr txBox="1"/>
          <p:nvPr/>
        </p:nvSpPr>
        <p:spPr>
          <a:xfrm>
            <a:off x="6591300" y="2120900"/>
            <a:ext cx="2133600" cy="215900"/>
          </a:xfrm>
          <a:prstGeom prst="rect">
            <a:avLst/>
          </a:prstGeom>
          <a:noFill/>
        </p:spPr>
        <p:txBody>
          <a:bodyPr wrap="square" anchor="t" lIns="25400" rIns="25400" tIns="0" bIns="0">
            <a:noAutofit/>
          </a:bodyPr>
          <a:lstStyle/>
          <a:p>
            <a:pPr algn="l">
              <a:lnSpc>
                <a:spcPct val="100000"/>
              </a:lnSpc>
            </a:pPr>
            <a:r>
              <a:rPr sz="2000" b="1">
                <a:solidFill>
                  <a:srgbClr val="F6F1E8"/>
                </a:solidFill>
                <a:latin typeface="Arial Narrow"/>
              </a:rPr>
              <a:t>Punchlists</a:t>
            </a:r>
          </a:p>
        </p:txBody>
      </p:sp>
      <p:sp>
        <p:nvSpPr>
          <p:cNvPr id="18" name="TextBox 17"/>
          <p:cNvSpPr txBox="1"/>
          <p:nvPr/>
        </p:nvSpPr>
        <p:spPr>
          <a:xfrm>
            <a:off x="6350000" y="2400300"/>
            <a:ext cx="2374900" cy="635000"/>
          </a:xfrm>
          <a:prstGeom prst="rect">
            <a:avLst/>
          </a:prstGeom>
          <a:noFill/>
        </p:spPr>
        <p:txBody>
          <a:bodyPr wrap="square" anchor="t" lIns="25400" rIns="25400" tIns="0" bIns="0">
            <a:noAutofit/>
          </a:bodyPr>
          <a:lstStyle/>
          <a:p>
            <a:pPr algn="l">
              <a:lnSpc>
                <a:spcPct val="100000"/>
              </a:lnSpc>
            </a:pPr>
            <a:r>
              <a:rPr sz="1500" b="1">
                <a:solidFill>
                  <a:srgbClr val="A8B5C8"/>
                </a:solidFill>
                <a:latin typeface="Arial"/>
              </a:rPr>
              <a:t>Turn a working checklist into a cleaner punchlist format for transaction management and follow-up.</a:t>
            </a:r>
          </a:p>
        </p:txBody>
      </p:sp>
      <p:sp>
        <p:nvSpPr>
          <p:cNvPr id="19" name="Rounded Rectangle 18"/>
          <p:cNvSpPr/>
          <p:nvPr/>
        </p:nvSpPr>
        <p:spPr>
          <a:xfrm>
            <a:off x="9067800" y="2032000"/>
            <a:ext cx="2603500" cy="1079500"/>
          </a:xfrm>
          <a:prstGeom prst="roundRect">
            <a:avLst/>
          </a:prstGeom>
          <a:solidFill>
            <a:srgbClr val="0D1B2C"/>
          </a:solidFill>
          <a:ln w="19050">
            <a:solidFill>
              <a:srgbClr val="3046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litera_favicon.png"/>
          <p:cNvPicPr>
            <a:picLocks noChangeAspect="1"/>
          </p:cNvPicPr>
          <p:nvPr/>
        </p:nvPicPr>
        <p:blipFill>
          <a:blip r:embed="rId4"/>
          <a:stretch>
            <a:fillRect/>
          </a:stretch>
        </p:blipFill>
        <p:spPr>
          <a:xfrm>
            <a:off x="9182100" y="2146300"/>
            <a:ext cx="177800" cy="177800"/>
          </a:xfrm>
          <a:prstGeom prst="rect">
            <a:avLst/>
          </a:prstGeom>
        </p:spPr>
      </p:pic>
      <p:sp>
        <p:nvSpPr>
          <p:cNvPr id="21" name="TextBox 20"/>
          <p:cNvSpPr txBox="1"/>
          <p:nvPr/>
        </p:nvSpPr>
        <p:spPr>
          <a:xfrm>
            <a:off x="9423400" y="2120900"/>
            <a:ext cx="2133600" cy="215900"/>
          </a:xfrm>
          <a:prstGeom prst="rect">
            <a:avLst/>
          </a:prstGeom>
          <a:noFill/>
        </p:spPr>
        <p:txBody>
          <a:bodyPr wrap="square" anchor="t" lIns="25400" rIns="25400" tIns="0" bIns="0">
            <a:noAutofit/>
          </a:bodyPr>
          <a:lstStyle/>
          <a:p>
            <a:pPr algn="l">
              <a:lnSpc>
                <a:spcPct val="100000"/>
              </a:lnSpc>
            </a:pPr>
            <a:r>
              <a:rPr sz="2000" b="1">
                <a:solidFill>
                  <a:srgbClr val="F6F1E8"/>
                </a:solidFill>
                <a:latin typeface="Arial Narrow"/>
              </a:rPr>
              <a:t>Redlines</a:t>
            </a:r>
          </a:p>
        </p:txBody>
      </p:sp>
      <p:sp>
        <p:nvSpPr>
          <p:cNvPr id="22" name="TextBox 21"/>
          <p:cNvSpPr txBox="1"/>
          <p:nvPr/>
        </p:nvSpPr>
        <p:spPr>
          <a:xfrm>
            <a:off x="9182100" y="2400300"/>
            <a:ext cx="2374900" cy="635000"/>
          </a:xfrm>
          <a:prstGeom prst="rect">
            <a:avLst/>
          </a:prstGeom>
          <a:noFill/>
        </p:spPr>
        <p:txBody>
          <a:bodyPr wrap="square" anchor="t" lIns="25400" rIns="25400" tIns="0" bIns="0">
            <a:noAutofit/>
          </a:bodyPr>
          <a:lstStyle/>
          <a:p>
            <a:pPr algn="l">
              <a:lnSpc>
                <a:spcPct val="100000"/>
              </a:lnSpc>
            </a:pPr>
            <a:r>
              <a:rPr sz="1500" b="1">
                <a:solidFill>
                  <a:srgbClr val="A8B5C8"/>
                </a:solidFill>
                <a:latin typeface="Arial"/>
              </a:rPr>
              <a:t>Run Litera comparisons and output full-document or targeted comparison sets.</a:t>
            </a:r>
          </a:p>
        </p:txBody>
      </p:sp>
      <p:sp>
        <p:nvSpPr>
          <p:cNvPr id="23" name="Rounded Rectangle 22"/>
          <p:cNvSpPr/>
          <p:nvPr/>
        </p:nvSpPr>
        <p:spPr>
          <a:xfrm>
            <a:off x="571500" y="3263900"/>
            <a:ext cx="2603500" cy="1079500"/>
          </a:xfrm>
          <a:prstGeom prst="roundRect">
            <a:avLst/>
          </a:prstGeom>
          <a:solidFill>
            <a:srgbClr val="0D1B2C"/>
          </a:solidFill>
          <a:ln w="19050">
            <a:solidFill>
              <a:srgbClr val="3046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adobe.png"/>
          <p:cNvPicPr>
            <a:picLocks noChangeAspect="1"/>
          </p:cNvPicPr>
          <p:nvPr/>
        </p:nvPicPr>
        <p:blipFill>
          <a:blip r:embed="rId5"/>
          <a:stretch>
            <a:fillRect/>
          </a:stretch>
        </p:blipFill>
        <p:spPr>
          <a:xfrm>
            <a:off x="685800" y="3378200"/>
            <a:ext cx="177800" cy="177800"/>
          </a:xfrm>
          <a:prstGeom prst="rect">
            <a:avLst/>
          </a:prstGeom>
        </p:spPr>
      </p:pic>
      <p:sp>
        <p:nvSpPr>
          <p:cNvPr id="25" name="TextBox 24"/>
          <p:cNvSpPr txBox="1"/>
          <p:nvPr/>
        </p:nvSpPr>
        <p:spPr>
          <a:xfrm>
            <a:off x="927100" y="3352800"/>
            <a:ext cx="2133600" cy="215900"/>
          </a:xfrm>
          <a:prstGeom prst="rect">
            <a:avLst/>
          </a:prstGeom>
          <a:noFill/>
        </p:spPr>
        <p:txBody>
          <a:bodyPr wrap="square" anchor="t" lIns="25400" rIns="25400" tIns="0" bIns="0">
            <a:noAutofit/>
          </a:bodyPr>
          <a:lstStyle/>
          <a:p>
            <a:pPr algn="l">
              <a:lnSpc>
                <a:spcPct val="100000"/>
              </a:lnSpc>
            </a:pPr>
            <a:r>
              <a:rPr sz="2000" b="1">
                <a:solidFill>
                  <a:srgbClr val="F6F1E8"/>
                </a:solidFill>
                <a:latin typeface="Arial Narrow"/>
              </a:rPr>
              <a:t>PDF workflows</a:t>
            </a:r>
          </a:p>
        </p:txBody>
      </p:sp>
      <p:sp>
        <p:nvSpPr>
          <p:cNvPr id="26" name="TextBox 25"/>
          <p:cNvSpPr txBox="1"/>
          <p:nvPr/>
        </p:nvSpPr>
        <p:spPr>
          <a:xfrm>
            <a:off x="685800" y="3632200"/>
            <a:ext cx="2374900" cy="635000"/>
          </a:xfrm>
          <a:prstGeom prst="rect">
            <a:avLst/>
          </a:prstGeom>
          <a:noFill/>
        </p:spPr>
        <p:txBody>
          <a:bodyPr wrap="square" anchor="t" lIns="25400" rIns="25400" tIns="0" bIns="0">
            <a:noAutofit/>
          </a:bodyPr>
          <a:lstStyle/>
          <a:p>
            <a:pPr algn="l">
              <a:lnSpc>
                <a:spcPct val="100000"/>
              </a:lnSpc>
            </a:pPr>
            <a:r>
              <a:rPr sz="1500" b="1">
                <a:solidFill>
                  <a:srgbClr val="A8B5C8"/>
                </a:solidFill>
                <a:latin typeface="Arial"/>
              </a:rPr>
              <a:t>Split, combine, clean, and prep signature and closing PDFs.</a:t>
            </a:r>
          </a:p>
        </p:txBody>
      </p:sp>
      <p:sp>
        <p:nvSpPr>
          <p:cNvPr id="27" name="Rounded Rectangle 26"/>
          <p:cNvSpPr/>
          <p:nvPr/>
        </p:nvSpPr>
        <p:spPr>
          <a:xfrm>
            <a:off x="3403600" y="3263900"/>
            <a:ext cx="2603500" cy="1079500"/>
          </a:xfrm>
          <a:prstGeom prst="roundRect">
            <a:avLst/>
          </a:prstGeom>
          <a:solidFill>
            <a:srgbClr val="0D1B2C"/>
          </a:solidFill>
          <a:ln w="19050">
            <a:solidFill>
              <a:srgbClr val="3046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docusign.png"/>
          <p:cNvPicPr>
            <a:picLocks noChangeAspect="1"/>
          </p:cNvPicPr>
          <p:nvPr/>
        </p:nvPicPr>
        <p:blipFill>
          <a:blip r:embed="rId6"/>
          <a:stretch>
            <a:fillRect/>
          </a:stretch>
        </p:blipFill>
        <p:spPr>
          <a:xfrm>
            <a:off x="3517900" y="3378200"/>
            <a:ext cx="177800" cy="177800"/>
          </a:xfrm>
          <a:prstGeom prst="rect">
            <a:avLst/>
          </a:prstGeom>
        </p:spPr>
      </p:pic>
      <p:sp>
        <p:nvSpPr>
          <p:cNvPr id="29" name="TextBox 28"/>
          <p:cNvSpPr txBox="1"/>
          <p:nvPr/>
        </p:nvSpPr>
        <p:spPr>
          <a:xfrm>
            <a:off x="3759199" y="3352800"/>
            <a:ext cx="2133600" cy="215900"/>
          </a:xfrm>
          <a:prstGeom prst="rect">
            <a:avLst/>
          </a:prstGeom>
          <a:noFill/>
        </p:spPr>
        <p:txBody>
          <a:bodyPr wrap="square" anchor="t" lIns="25400" rIns="25400" tIns="0" bIns="0">
            <a:noAutofit/>
          </a:bodyPr>
          <a:lstStyle/>
          <a:p>
            <a:pPr algn="l">
              <a:lnSpc>
                <a:spcPct val="100000"/>
              </a:lnSpc>
            </a:pPr>
            <a:r>
              <a:rPr sz="2000" b="1">
                <a:solidFill>
                  <a:srgbClr val="F6F1E8"/>
                </a:solidFill>
                <a:latin typeface="Arial Narrow"/>
              </a:rPr>
              <a:t>Executed versions</a:t>
            </a:r>
          </a:p>
        </p:txBody>
      </p:sp>
      <p:sp>
        <p:nvSpPr>
          <p:cNvPr id="30" name="TextBox 29"/>
          <p:cNvSpPr txBox="1"/>
          <p:nvPr/>
        </p:nvSpPr>
        <p:spPr>
          <a:xfrm>
            <a:off x="3517900" y="3632200"/>
            <a:ext cx="2374900" cy="635000"/>
          </a:xfrm>
          <a:prstGeom prst="rect">
            <a:avLst/>
          </a:prstGeom>
          <a:noFill/>
        </p:spPr>
        <p:txBody>
          <a:bodyPr wrap="square" anchor="t" lIns="25400" rIns="25400" tIns="0" bIns="0">
            <a:noAutofit/>
          </a:bodyPr>
          <a:lstStyle/>
          <a:p>
            <a:pPr algn="l">
              <a:lnSpc>
                <a:spcPct val="100000"/>
              </a:lnSpc>
            </a:pPr>
            <a:r>
              <a:rPr sz="1500" b="1">
                <a:solidFill>
                  <a:srgbClr val="A8B5C8"/>
                </a:solidFill>
                <a:latin typeface="Arial"/>
              </a:rPr>
              <a:t>Match signed pages back into the correct agreements and rebuild executed sets at scale.</a:t>
            </a:r>
          </a:p>
        </p:txBody>
      </p:sp>
      <p:sp>
        <p:nvSpPr>
          <p:cNvPr id="31" name="Rounded Rectangle 30"/>
          <p:cNvSpPr/>
          <p:nvPr/>
        </p:nvSpPr>
        <p:spPr>
          <a:xfrm>
            <a:off x="6235700" y="3263900"/>
            <a:ext cx="2603500" cy="1079500"/>
          </a:xfrm>
          <a:prstGeom prst="roundRect">
            <a:avLst/>
          </a:prstGeom>
          <a:solidFill>
            <a:srgbClr val="0D1B2C"/>
          </a:solidFill>
          <a:ln w="19050">
            <a:solidFill>
              <a:srgbClr val="3046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imanage.png"/>
          <p:cNvPicPr>
            <a:picLocks noChangeAspect="1"/>
          </p:cNvPicPr>
          <p:nvPr/>
        </p:nvPicPr>
        <p:blipFill>
          <a:blip r:embed="rId3"/>
          <a:stretch>
            <a:fillRect/>
          </a:stretch>
        </p:blipFill>
        <p:spPr>
          <a:xfrm>
            <a:off x="6350000" y="3433154"/>
            <a:ext cx="177800" cy="67890"/>
          </a:xfrm>
          <a:prstGeom prst="rect">
            <a:avLst/>
          </a:prstGeom>
        </p:spPr>
      </p:pic>
      <p:sp>
        <p:nvSpPr>
          <p:cNvPr id="33" name="TextBox 32"/>
          <p:cNvSpPr txBox="1"/>
          <p:nvPr/>
        </p:nvSpPr>
        <p:spPr>
          <a:xfrm>
            <a:off x="6591300" y="3352800"/>
            <a:ext cx="2133600" cy="215900"/>
          </a:xfrm>
          <a:prstGeom prst="rect">
            <a:avLst/>
          </a:prstGeom>
          <a:noFill/>
        </p:spPr>
        <p:txBody>
          <a:bodyPr wrap="square" anchor="t" lIns="25400" rIns="25400" tIns="0" bIns="0">
            <a:noAutofit/>
          </a:bodyPr>
          <a:lstStyle/>
          <a:p>
            <a:pPr algn="l">
              <a:lnSpc>
                <a:spcPct val="100000"/>
              </a:lnSpc>
            </a:pPr>
            <a:r>
              <a:rPr sz="2000" b="1">
                <a:solidFill>
                  <a:srgbClr val="F6F1E8"/>
                </a:solidFill>
                <a:latin typeface="Arial Narrow"/>
              </a:rPr>
              <a:t>Document management</a:t>
            </a:r>
          </a:p>
        </p:txBody>
      </p:sp>
      <p:sp>
        <p:nvSpPr>
          <p:cNvPr id="34" name="TextBox 33"/>
          <p:cNvSpPr txBox="1"/>
          <p:nvPr/>
        </p:nvSpPr>
        <p:spPr>
          <a:xfrm>
            <a:off x="6350000" y="3632200"/>
            <a:ext cx="2374900" cy="635000"/>
          </a:xfrm>
          <a:prstGeom prst="rect">
            <a:avLst/>
          </a:prstGeom>
          <a:noFill/>
        </p:spPr>
        <p:txBody>
          <a:bodyPr wrap="square" anchor="t" lIns="25400" rIns="25400" tIns="0" bIns="0">
            <a:noAutofit/>
          </a:bodyPr>
          <a:lstStyle/>
          <a:p>
            <a:pPr algn="l">
              <a:lnSpc>
                <a:spcPct val="100000"/>
              </a:lnSpc>
            </a:pPr>
            <a:r>
              <a:rPr sz="1500" b="1">
                <a:solidFill>
                  <a:srgbClr val="A8B5C8"/>
                </a:solidFill>
                <a:latin typeface="Arial"/>
              </a:rPr>
              <a:t>Browse, save, organize, and version documents where the environment allows it.</a:t>
            </a:r>
          </a:p>
        </p:txBody>
      </p:sp>
      <p:sp>
        <p:nvSpPr>
          <p:cNvPr id="35" name="Rounded Rectangle 34"/>
          <p:cNvSpPr/>
          <p:nvPr/>
        </p:nvSpPr>
        <p:spPr>
          <a:xfrm>
            <a:off x="9067800" y="3263900"/>
            <a:ext cx="2603500" cy="1079500"/>
          </a:xfrm>
          <a:prstGeom prst="roundRect">
            <a:avLst/>
          </a:prstGeom>
          <a:solidFill>
            <a:srgbClr val="0D1B2C"/>
          </a:solidFill>
          <a:ln w="19050">
            <a:solidFill>
              <a:srgbClr val="3046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adobe.png"/>
          <p:cNvPicPr>
            <a:picLocks noChangeAspect="1"/>
          </p:cNvPicPr>
          <p:nvPr/>
        </p:nvPicPr>
        <p:blipFill>
          <a:blip r:embed="rId5"/>
          <a:stretch>
            <a:fillRect/>
          </a:stretch>
        </p:blipFill>
        <p:spPr>
          <a:xfrm>
            <a:off x="9182100" y="3378200"/>
            <a:ext cx="177800" cy="177800"/>
          </a:xfrm>
          <a:prstGeom prst="rect">
            <a:avLst/>
          </a:prstGeom>
        </p:spPr>
      </p:pic>
      <p:sp>
        <p:nvSpPr>
          <p:cNvPr id="37" name="TextBox 36"/>
          <p:cNvSpPr txBox="1"/>
          <p:nvPr/>
        </p:nvSpPr>
        <p:spPr>
          <a:xfrm>
            <a:off x="9423400" y="3352800"/>
            <a:ext cx="2133600" cy="215900"/>
          </a:xfrm>
          <a:prstGeom prst="rect">
            <a:avLst/>
          </a:prstGeom>
          <a:noFill/>
        </p:spPr>
        <p:txBody>
          <a:bodyPr wrap="square" anchor="t" lIns="25400" rIns="25400" tIns="0" bIns="0">
            <a:noAutofit/>
          </a:bodyPr>
          <a:lstStyle/>
          <a:p>
            <a:pPr algn="l">
              <a:lnSpc>
                <a:spcPct val="100000"/>
              </a:lnSpc>
            </a:pPr>
            <a:r>
              <a:rPr sz="2000" b="1">
                <a:solidFill>
                  <a:srgbClr val="F6F1E8"/>
                </a:solidFill>
                <a:latin typeface="Arial Narrow"/>
              </a:rPr>
              <a:t>File operations</a:t>
            </a:r>
          </a:p>
        </p:txBody>
      </p:sp>
      <p:sp>
        <p:nvSpPr>
          <p:cNvPr id="38" name="TextBox 37"/>
          <p:cNvSpPr txBox="1"/>
          <p:nvPr/>
        </p:nvSpPr>
        <p:spPr>
          <a:xfrm>
            <a:off x="9182100" y="3632200"/>
            <a:ext cx="2374900" cy="635000"/>
          </a:xfrm>
          <a:prstGeom prst="rect">
            <a:avLst/>
          </a:prstGeom>
          <a:noFill/>
        </p:spPr>
        <p:txBody>
          <a:bodyPr wrap="square" anchor="t" lIns="25400" rIns="25400" tIns="0" bIns="0">
            <a:noAutofit/>
          </a:bodyPr>
          <a:lstStyle/>
          <a:p>
            <a:pPr algn="l">
              <a:lnSpc>
                <a:spcPct val="100000"/>
              </a:lnSpc>
            </a:pPr>
            <a:r>
              <a:rPr sz="1500" b="1">
                <a:solidFill>
                  <a:srgbClr val="A8B5C8"/>
                </a:solidFill>
                <a:latin typeface="Arial"/>
              </a:rPr>
              <a:t>Convert files, save outputs, move deliverables, and handle repetitive desktop document actions.</a:t>
            </a:r>
          </a:p>
        </p:txBody>
      </p:sp>
      <p:sp>
        <p:nvSpPr>
          <p:cNvPr id="39" name="Rounded Rectangle 38"/>
          <p:cNvSpPr/>
          <p:nvPr/>
        </p:nvSpPr>
        <p:spPr>
          <a:xfrm>
            <a:off x="571500" y="5740400"/>
            <a:ext cx="11049000" cy="495299"/>
          </a:xfrm>
          <a:prstGeom prst="roundRect">
            <a:avLst/>
          </a:prstGeom>
          <a:solidFill>
            <a:srgbClr val="0C1828"/>
          </a:solidFill>
          <a:ln w="19050">
            <a:solidFill>
              <a:srgbClr val="273D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62000" y="5880100"/>
            <a:ext cx="10541000" cy="203200"/>
          </a:xfrm>
          <a:prstGeom prst="rect">
            <a:avLst/>
          </a:prstGeom>
          <a:noFill/>
        </p:spPr>
        <p:txBody>
          <a:bodyPr wrap="square" anchor="t" lIns="25400" rIns="25400" tIns="0" bIns="0">
            <a:noAutofit/>
          </a:bodyPr>
          <a:lstStyle/>
          <a:p>
            <a:pPr algn="l">
              <a:lnSpc>
                <a:spcPct val="100000"/>
              </a:lnSpc>
            </a:pPr>
            <a:r>
              <a:rPr sz="1700" b="1">
                <a:solidFill>
                  <a:srgbClr val="F6F1E8"/>
                </a:solidFill>
                <a:latin typeface="Arial"/>
              </a:rPr>
              <a:t>Core point: the execution layer is useful even without AI. AI simply makes it accessible through natural-language prompts instead of menus and macros.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917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10800000">
            <a:off x="9271000" y="-63500"/>
            <a:ext cx="2984500" cy="2032000"/>
          </a:xfrm>
          <a:prstGeom prst="rtTriangl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ight Triangle 3"/>
          <p:cNvSpPr/>
          <p:nvPr/>
        </p:nvSpPr>
        <p:spPr>
          <a:xfrm>
            <a:off x="-127000" y="5207000"/>
            <a:ext cx="2286000" cy="1778000"/>
          </a:xfrm>
          <a:prstGeom prst="rtTriangle">
            <a:avLst/>
          </a:prstGeom>
          <a:solidFill>
            <a:srgbClr val="67E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71500" y="355600"/>
            <a:ext cx="10160000" cy="977900"/>
          </a:xfrm>
          <a:prstGeom prst="rect">
            <a:avLst/>
          </a:prstGeom>
          <a:noFill/>
        </p:spPr>
        <p:txBody>
          <a:bodyPr wrap="square" anchor="t" lIns="25400" rIns="25400" tIns="0" bIns="0">
            <a:noAutofit/>
          </a:bodyPr>
          <a:lstStyle/>
          <a:p>
            <a:pPr algn="l">
              <a:lnSpc>
                <a:spcPct val="95000"/>
              </a:lnSpc>
            </a:pPr>
            <a:r>
              <a:rPr sz="4200" b="1">
                <a:solidFill>
                  <a:srgbClr val="F6F1E8"/>
                </a:solidFill>
                <a:latin typeface="Arial Narrow"/>
              </a:rPr>
              <a:t>Why firms care: this is matter administration and</a:t>
            </a:r>
          </a:p>
          <a:p>
            <a:pPr algn="l">
              <a:lnSpc>
                <a:spcPct val="95000"/>
              </a:lnSpc>
            </a:pPr>
            <a:r>
              <a:rPr sz="4200" b="1">
                <a:solidFill>
                  <a:srgbClr val="F6F1E8"/>
                </a:solidFill>
                <a:latin typeface="Arial Narrow"/>
              </a:rPr>
              <a:t>paralegal work that leaks into lawyer time.</a:t>
            </a:r>
          </a:p>
        </p:txBody>
      </p:sp>
      <p:sp>
        <p:nvSpPr>
          <p:cNvPr id="6" name="Rounded Rectangle 5"/>
          <p:cNvSpPr/>
          <p:nvPr/>
        </p:nvSpPr>
        <p:spPr>
          <a:xfrm>
            <a:off x="571500" y="1905000"/>
            <a:ext cx="3429000" cy="2070100"/>
          </a:xfrm>
          <a:prstGeom prst="roundRect">
            <a:avLst/>
          </a:prstGeom>
          <a:solidFill>
            <a:srgbClr val="0D1A2C"/>
          </a:solidFill>
          <a:ln w="19050">
            <a:solidFill>
              <a:srgbClr val="273D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7400" y="2108200"/>
            <a:ext cx="2730500" cy="406400"/>
          </a:xfrm>
          <a:prstGeom prst="rect">
            <a:avLst/>
          </a:prstGeom>
          <a:noFill/>
        </p:spPr>
        <p:txBody>
          <a:bodyPr wrap="square" anchor="t" lIns="25400" rIns="25400" tIns="0" bIns="0">
            <a:noAutofit/>
          </a:bodyPr>
          <a:lstStyle/>
          <a:p>
            <a:pPr algn="l">
              <a:lnSpc>
                <a:spcPct val="95000"/>
              </a:lnSpc>
            </a:pPr>
            <a:r>
              <a:rPr sz="2600" b="1">
                <a:solidFill>
                  <a:srgbClr val="F6F1E8"/>
                </a:solidFill>
                <a:latin typeface="Arial Narrow"/>
              </a:rPr>
              <a:t>Matter administration</a:t>
            </a:r>
          </a:p>
        </p:txBody>
      </p:sp>
      <p:sp>
        <p:nvSpPr>
          <p:cNvPr id="8" name="Rectangle 7"/>
          <p:cNvSpPr/>
          <p:nvPr/>
        </p:nvSpPr>
        <p:spPr>
          <a:xfrm>
            <a:off x="787400" y="2514600"/>
            <a:ext cx="660400" cy="3810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7400" y="2730500"/>
            <a:ext cx="2857500" cy="939799"/>
          </a:xfrm>
          <a:prstGeom prst="rect">
            <a:avLst/>
          </a:prstGeom>
          <a:noFill/>
        </p:spPr>
        <p:txBody>
          <a:bodyPr wrap="square" anchor="t" lIns="25400" rIns="25400" tIns="0" bIns="0">
            <a:noAutofit/>
          </a:bodyPr>
          <a:lstStyle/>
          <a:p>
            <a:pPr algn="l">
              <a:lnSpc>
                <a:spcPct val="100000"/>
              </a:lnSpc>
            </a:pPr>
            <a:r>
              <a:rPr sz="1600" b="1">
                <a:solidFill>
                  <a:srgbClr val="A8B5C8"/>
                </a:solidFill>
                <a:latin typeface="Arial"/>
              </a:rPr>
              <a:t>Checklists, packet assembly, version handling, distribution tracking, and status chasing are necessary but operational.</a:t>
            </a:r>
          </a:p>
        </p:txBody>
      </p:sp>
      <p:sp>
        <p:nvSpPr>
          <p:cNvPr id="10" name="Rounded Rectangle 9"/>
          <p:cNvSpPr/>
          <p:nvPr/>
        </p:nvSpPr>
        <p:spPr>
          <a:xfrm>
            <a:off x="4318000" y="1905000"/>
            <a:ext cx="3429000" cy="2070100"/>
          </a:xfrm>
          <a:prstGeom prst="roundRect">
            <a:avLst/>
          </a:prstGeom>
          <a:solidFill>
            <a:srgbClr val="0D1A2C"/>
          </a:solidFill>
          <a:ln w="19050">
            <a:solidFill>
              <a:srgbClr val="273D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33900" y="2108200"/>
            <a:ext cx="2730500" cy="406400"/>
          </a:xfrm>
          <a:prstGeom prst="rect">
            <a:avLst/>
          </a:prstGeom>
          <a:noFill/>
        </p:spPr>
        <p:txBody>
          <a:bodyPr wrap="square" anchor="t" lIns="25400" rIns="25400" tIns="0" bIns="0">
            <a:noAutofit/>
          </a:bodyPr>
          <a:lstStyle/>
          <a:p>
            <a:pPr algn="l">
              <a:lnSpc>
                <a:spcPct val="95000"/>
              </a:lnSpc>
            </a:pPr>
            <a:r>
              <a:rPr sz="2600" b="1">
                <a:solidFill>
                  <a:srgbClr val="F6F1E8"/>
                </a:solidFill>
                <a:latin typeface="Arial Narrow"/>
              </a:rPr>
              <a:t>Paralegal workflows</a:t>
            </a:r>
          </a:p>
        </p:txBody>
      </p:sp>
      <p:sp>
        <p:nvSpPr>
          <p:cNvPr id="12" name="Rectangle 11"/>
          <p:cNvSpPr/>
          <p:nvPr/>
        </p:nvSpPr>
        <p:spPr>
          <a:xfrm>
            <a:off x="4533900" y="2514600"/>
            <a:ext cx="660400" cy="38100"/>
          </a:xfrm>
          <a:prstGeom prst="rect">
            <a:avLst/>
          </a:prstGeom>
          <a:solidFill>
            <a:srgbClr val="67E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3900" y="2730500"/>
            <a:ext cx="2857500" cy="939799"/>
          </a:xfrm>
          <a:prstGeom prst="rect">
            <a:avLst/>
          </a:prstGeom>
          <a:noFill/>
        </p:spPr>
        <p:txBody>
          <a:bodyPr wrap="square" anchor="t" lIns="25400" rIns="25400" tIns="0" bIns="0">
            <a:noAutofit/>
          </a:bodyPr>
          <a:lstStyle/>
          <a:p>
            <a:pPr algn="l">
              <a:lnSpc>
                <a:spcPct val="100000"/>
              </a:lnSpc>
            </a:pPr>
            <a:r>
              <a:rPr sz="1600" b="1">
                <a:solidFill>
                  <a:srgbClr val="A8B5C8"/>
                </a:solidFill>
                <a:latin typeface="Arial"/>
              </a:rPr>
              <a:t>Much of the work is rules-based, repetitive, and document-centric. It does not require high-end legal reasoning to execute correctly.</a:t>
            </a:r>
          </a:p>
        </p:txBody>
      </p:sp>
      <p:sp>
        <p:nvSpPr>
          <p:cNvPr id="14" name="Rounded Rectangle 13"/>
          <p:cNvSpPr/>
          <p:nvPr/>
        </p:nvSpPr>
        <p:spPr>
          <a:xfrm>
            <a:off x="8064500" y="1905000"/>
            <a:ext cx="3429000" cy="2070100"/>
          </a:xfrm>
          <a:prstGeom prst="roundRect">
            <a:avLst/>
          </a:prstGeom>
          <a:solidFill>
            <a:srgbClr val="0D1A2C"/>
          </a:solidFill>
          <a:ln w="19050">
            <a:solidFill>
              <a:srgbClr val="273D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80400" y="2108200"/>
            <a:ext cx="2730500" cy="406400"/>
          </a:xfrm>
          <a:prstGeom prst="rect">
            <a:avLst/>
          </a:prstGeom>
          <a:noFill/>
        </p:spPr>
        <p:txBody>
          <a:bodyPr wrap="square" anchor="t" lIns="25400" rIns="25400" tIns="0" bIns="0">
            <a:noAutofit/>
          </a:bodyPr>
          <a:lstStyle/>
          <a:p>
            <a:pPr algn="l">
              <a:lnSpc>
                <a:spcPct val="95000"/>
              </a:lnSpc>
            </a:pPr>
            <a:r>
              <a:rPr sz="2600" b="1">
                <a:solidFill>
                  <a:srgbClr val="F6F1E8"/>
                </a:solidFill>
                <a:latin typeface="Arial Narrow"/>
              </a:rPr>
              <a:t>Partner write-offs</a:t>
            </a:r>
          </a:p>
        </p:txBody>
      </p:sp>
      <p:sp>
        <p:nvSpPr>
          <p:cNvPr id="16" name="Rectangle 15"/>
          <p:cNvSpPr/>
          <p:nvPr/>
        </p:nvSpPr>
        <p:spPr>
          <a:xfrm>
            <a:off x="8280400" y="2514600"/>
            <a:ext cx="660400" cy="38100"/>
          </a:xfrm>
          <a:prstGeom prst="rect">
            <a:avLst/>
          </a:prstGeom>
          <a:solidFill>
            <a:srgbClr val="FB9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80400" y="2730500"/>
            <a:ext cx="2857500" cy="939799"/>
          </a:xfrm>
          <a:prstGeom prst="rect">
            <a:avLst/>
          </a:prstGeom>
          <a:noFill/>
        </p:spPr>
        <p:txBody>
          <a:bodyPr wrap="square" anchor="t" lIns="25400" rIns="25400" tIns="0" bIns="0">
            <a:noAutofit/>
          </a:bodyPr>
          <a:lstStyle/>
          <a:p>
            <a:pPr algn="l">
              <a:lnSpc>
                <a:spcPct val="100000"/>
              </a:lnSpc>
            </a:pPr>
            <a:r>
              <a:rPr sz="1600" b="1">
                <a:solidFill>
                  <a:srgbClr val="A8B5C8"/>
                </a:solidFill>
                <a:latin typeface="Arial"/>
              </a:rPr>
              <a:t>When lawyers do these tasks anyway, the time is hard to bill, easy to discount, and distracting from higher-value work.</a:t>
            </a:r>
          </a:p>
        </p:txBody>
      </p:sp>
      <p:sp>
        <p:nvSpPr>
          <p:cNvPr id="18" name="Rounded Rectangle 17"/>
          <p:cNvSpPr/>
          <p:nvPr/>
        </p:nvSpPr>
        <p:spPr>
          <a:xfrm>
            <a:off x="571500" y="4318000"/>
            <a:ext cx="11049000" cy="1206500"/>
          </a:xfrm>
          <a:prstGeom prst="roundRect">
            <a:avLst/>
          </a:prstGeom>
          <a:solidFill>
            <a:srgbClr val="0E2137"/>
          </a:solidFill>
          <a:ln w="19050">
            <a:solidFill>
              <a:srgbClr val="2B46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7400" y="4508500"/>
            <a:ext cx="2286000" cy="165100"/>
          </a:xfrm>
          <a:prstGeom prst="rect">
            <a:avLst/>
          </a:prstGeom>
          <a:noFill/>
        </p:spPr>
        <p:txBody>
          <a:bodyPr wrap="square" anchor="t" lIns="25400" rIns="25400" tIns="0" bIns="0">
            <a:noAutofit/>
          </a:bodyPr>
          <a:lstStyle/>
          <a:p>
            <a:pPr algn="l">
              <a:lnSpc>
                <a:spcPct val="100000"/>
              </a:lnSpc>
            </a:pPr>
            <a:r>
              <a:rPr sz="1500" b="1">
                <a:solidFill>
                  <a:srgbClr val="67E8F9"/>
                </a:solidFill>
                <a:latin typeface="Arial"/>
              </a:rPr>
              <a:t>The pitch to the firm is simple:</a:t>
            </a:r>
          </a:p>
        </p:txBody>
      </p:sp>
      <p:sp>
        <p:nvSpPr>
          <p:cNvPr id="20" name="TextBox 19"/>
          <p:cNvSpPr txBox="1"/>
          <p:nvPr/>
        </p:nvSpPr>
        <p:spPr>
          <a:xfrm>
            <a:off x="787400" y="4775200"/>
            <a:ext cx="10033000" cy="660400"/>
          </a:xfrm>
          <a:prstGeom prst="rect">
            <a:avLst/>
          </a:prstGeom>
          <a:noFill/>
        </p:spPr>
        <p:txBody>
          <a:bodyPr wrap="square" anchor="t" lIns="25400" rIns="25400" tIns="0" bIns="0">
            <a:noAutofit/>
          </a:bodyPr>
          <a:lstStyle/>
          <a:p>
            <a:pPr algn="l">
              <a:lnSpc>
                <a:spcPct val="100000"/>
              </a:lnSpc>
            </a:pPr>
            <a:r>
              <a:rPr sz="1700" b="1">
                <a:solidFill>
                  <a:srgbClr val="F6F1E8"/>
                </a:solidFill>
                <a:latin typeface="Arial"/>
              </a:rPr>
              <a:t>EmmaNeigh does not replace legal judgment. It compresses the operational execution time around documents, signatures, redlines, checklists, and matter administration so lawyers spend less time on work clients resist paying for.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917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10800000">
            <a:off x="9271000" y="-63500"/>
            <a:ext cx="2984500" cy="2032000"/>
          </a:xfrm>
          <a:prstGeom prst="rtTriangl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ight Triangle 3"/>
          <p:cNvSpPr/>
          <p:nvPr/>
        </p:nvSpPr>
        <p:spPr>
          <a:xfrm>
            <a:off x="-127000" y="5207000"/>
            <a:ext cx="2286000" cy="1778000"/>
          </a:xfrm>
          <a:prstGeom prst="rtTriangle">
            <a:avLst/>
          </a:prstGeom>
          <a:solidFill>
            <a:srgbClr val="67E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71500" y="355600"/>
            <a:ext cx="10160000" cy="977900"/>
          </a:xfrm>
          <a:prstGeom prst="rect">
            <a:avLst/>
          </a:prstGeom>
          <a:noFill/>
        </p:spPr>
        <p:txBody>
          <a:bodyPr wrap="square" anchor="t" lIns="25400" rIns="25400" tIns="0" bIns="0">
            <a:noAutofit/>
          </a:bodyPr>
          <a:lstStyle/>
          <a:p>
            <a:pPr algn="l">
              <a:lnSpc>
                <a:spcPct val="95000"/>
              </a:lnSpc>
            </a:pPr>
            <a:r>
              <a:rPr sz="4200" b="1">
                <a:solidFill>
                  <a:srgbClr val="F6F1E8"/>
                </a:solidFill>
                <a:latin typeface="Arial Narrow"/>
              </a:rPr>
              <a:t>Why this is interesting for Kirkland AI</a:t>
            </a:r>
          </a:p>
        </p:txBody>
      </p:sp>
      <p:sp>
        <p:nvSpPr>
          <p:cNvPr id="6" name="TextBox 5"/>
          <p:cNvSpPr txBox="1"/>
          <p:nvPr/>
        </p:nvSpPr>
        <p:spPr>
          <a:xfrm>
            <a:off x="571500" y="1435100"/>
            <a:ext cx="10160000" cy="482600"/>
          </a:xfrm>
          <a:prstGeom prst="rect">
            <a:avLst/>
          </a:prstGeom>
          <a:noFill/>
        </p:spPr>
        <p:txBody>
          <a:bodyPr wrap="square" anchor="t" lIns="25400" rIns="25400" tIns="0" bIns="0">
            <a:noAutofit/>
          </a:bodyPr>
          <a:lstStyle/>
          <a:p>
            <a:pPr algn="l">
              <a:lnSpc>
                <a:spcPct val="100000"/>
              </a:lnSpc>
            </a:pPr>
            <a:r>
              <a:rPr sz="1800" b="1">
                <a:solidFill>
                  <a:srgbClr val="A8B5C8"/>
                </a:solidFill>
                <a:latin typeface="Arial"/>
              </a:rPr>
              <a:t>EmmaNeigh is not another standalone model. It is the execution surface that can sit beneath the reasoning layer Kirkland chooses to use.</a:t>
            </a:r>
          </a:p>
        </p:txBody>
      </p:sp>
      <p:sp>
        <p:nvSpPr>
          <p:cNvPr id="7" name="Rounded Rectangle 6"/>
          <p:cNvSpPr/>
          <p:nvPr/>
        </p:nvSpPr>
        <p:spPr>
          <a:xfrm>
            <a:off x="571500" y="1828800"/>
            <a:ext cx="6032500" cy="3873499"/>
          </a:xfrm>
          <a:prstGeom prst="roundRect">
            <a:avLst/>
          </a:prstGeom>
          <a:solidFill>
            <a:srgbClr val="0C1728"/>
          </a:solidFill>
          <a:ln w="19050">
            <a:solidFill>
              <a:srgbClr val="273D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5500" y="2032000"/>
            <a:ext cx="1905000" cy="190500"/>
          </a:xfrm>
          <a:prstGeom prst="rect">
            <a:avLst/>
          </a:prstGeom>
          <a:noFill/>
        </p:spPr>
        <p:txBody>
          <a:bodyPr wrap="square" anchor="t" lIns="25400" rIns="25400" tIns="0" bIns="0">
            <a:noAutofit/>
          </a:bodyPr>
          <a:lstStyle/>
          <a:p>
            <a:pPr algn="l">
              <a:lnSpc>
                <a:spcPct val="100000"/>
              </a:lnSpc>
            </a:pPr>
            <a:r>
              <a:rPr sz="1500" b="1">
                <a:solidFill>
                  <a:srgbClr val="67E8F9"/>
                </a:solidFill>
                <a:latin typeface="Arial"/>
              </a:rPr>
              <a:t>Reasoning system</a:t>
            </a:r>
          </a:p>
        </p:txBody>
      </p:sp>
      <p:sp>
        <p:nvSpPr>
          <p:cNvPr id="9" name="Rounded Rectangle 8"/>
          <p:cNvSpPr/>
          <p:nvPr/>
        </p:nvSpPr>
        <p:spPr>
          <a:xfrm>
            <a:off x="825500" y="2286000"/>
            <a:ext cx="1206500" cy="342900"/>
          </a:xfrm>
          <a:prstGeom prst="roundRect">
            <a:avLst/>
          </a:prstGeom>
          <a:solidFill>
            <a:srgbClr val="171315"/>
          </a:solidFill>
          <a:ln w="15875">
            <a:solidFill>
              <a:srgbClr val="2D2A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harvey.png"/>
          <p:cNvPicPr>
            <a:picLocks noChangeAspect="1"/>
          </p:cNvPicPr>
          <p:nvPr/>
        </p:nvPicPr>
        <p:blipFill>
          <a:blip r:embed="rId2"/>
          <a:stretch>
            <a:fillRect/>
          </a:stretch>
        </p:blipFill>
        <p:spPr>
          <a:xfrm>
            <a:off x="901700" y="2330450"/>
            <a:ext cx="254000" cy="254000"/>
          </a:xfrm>
          <a:prstGeom prst="rect">
            <a:avLst/>
          </a:prstGeom>
        </p:spPr>
      </p:pic>
      <p:sp>
        <p:nvSpPr>
          <p:cNvPr id="11" name="TextBox 10"/>
          <p:cNvSpPr txBox="1"/>
          <p:nvPr/>
        </p:nvSpPr>
        <p:spPr>
          <a:xfrm>
            <a:off x="1219200" y="2317750"/>
            <a:ext cx="774700" cy="279400"/>
          </a:xfrm>
          <a:prstGeom prst="rect">
            <a:avLst/>
          </a:prstGeom>
          <a:noFill/>
        </p:spPr>
        <p:txBody>
          <a:bodyPr wrap="none" anchor="ctr" lIns="25400" rIns="25400" tIns="12700" bIns="12700">
            <a:noAutofit/>
          </a:bodyPr>
          <a:lstStyle/>
          <a:p>
            <a:pPr algn="l">
              <a:lnSpc>
                <a:spcPct val="100000"/>
              </a:lnSpc>
            </a:pPr>
            <a:r>
              <a:rPr sz="1600" b="1">
                <a:solidFill>
                  <a:srgbClr val="F6F1E8"/>
                </a:solidFill>
                <a:latin typeface="Arial"/>
              </a:rPr>
              <a:t>Harvey</a:t>
            </a:r>
          </a:p>
        </p:txBody>
      </p:sp>
      <p:sp>
        <p:nvSpPr>
          <p:cNvPr id="12" name="Rounded Rectangle 11"/>
          <p:cNvSpPr/>
          <p:nvPr/>
        </p:nvSpPr>
        <p:spPr>
          <a:xfrm>
            <a:off x="2667000" y="2286000"/>
            <a:ext cx="1968500" cy="292100"/>
          </a:xfrm>
          <a:prstGeom prst="roundRect">
            <a:avLst/>
          </a:prstGeom>
          <a:solidFill>
            <a:srgbClr val="121D2F"/>
          </a:solidFill>
          <a:ln w="15875">
            <a:solidFill>
              <a:srgbClr val="3249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55900" y="2317750"/>
            <a:ext cx="1790700" cy="228600"/>
          </a:xfrm>
          <a:prstGeom prst="rect">
            <a:avLst/>
          </a:prstGeom>
          <a:noFill/>
        </p:spPr>
        <p:txBody>
          <a:bodyPr wrap="none" anchor="ctr" lIns="25400" rIns="25400" tIns="12700" bIns="12700">
            <a:noAutofit/>
          </a:bodyPr>
          <a:lstStyle/>
          <a:p>
            <a:pPr algn="l">
              <a:lnSpc>
                <a:spcPct val="100000"/>
              </a:lnSpc>
            </a:pPr>
            <a:r>
              <a:rPr sz="1500" b="1">
                <a:solidFill>
                  <a:srgbClr val="F6F1E8"/>
                </a:solidFill>
                <a:latin typeface="Arial"/>
              </a:rPr>
              <a:t>Other frontier model</a:t>
            </a:r>
          </a:p>
        </p:txBody>
      </p:sp>
      <p:sp>
        <p:nvSpPr>
          <p:cNvPr id="14" name="Rounded Rectangle 13"/>
          <p:cNvSpPr/>
          <p:nvPr/>
        </p:nvSpPr>
        <p:spPr>
          <a:xfrm>
            <a:off x="2667000" y="2730500"/>
            <a:ext cx="1968500" cy="292100"/>
          </a:xfrm>
          <a:prstGeom prst="roundRect">
            <a:avLst/>
          </a:prstGeom>
          <a:solidFill>
            <a:srgbClr val="121D2F"/>
          </a:solidFill>
          <a:ln w="15875">
            <a:solidFill>
              <a:srgbClr val="3249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55900" y="2762250"/>
            <a:ext cx="1790700" cy="228600"/>
          </a:xfrm>
          <a:prstGeom prst="rect">
            <a:avLst/>
          </a:prstGeom>
          <a:noFill/>
        </p:spPr>
        <p:txBody>
          <a:bodyPr wrap="none" anchor="ctr" lIns="25400" rIns="25400" tIns="12700" bIns="12700">
            <a:noAutofit/>
          </a:bodyPr>
          <a:lstStyle/>
          <a:p>
            <a:pPr algn="l">
              <a:lnSpc>
                <a:spcPct val="100000"/>
              </a:lnSpc>
            </a:pPr>
            <a:r>
              <a:rPr sz="1500" b="1">
                <a:solidFill>
                  <a:srgbClr val="F6F1E8"/>
                </a:solidFill>
                <a:latin typeface="Arial"/>
              </a:rPr>
              <a:t>Open model</a:t>
            </a:r>
          </a:p>
        </p:txBody>
      </p:sp>
      <p:sp>
        <p:nvSpPr>
          <p:cNvPr id="16" name="Rounded Rectangle 15"/>
          <p:cNvSpPr/>
          <p:nvPr/>
        </p:nvSpPr>
        <p:spPr>
          <a:xfrm>
            <a:off x="2667000" y="3175000"/>
            <a:ext cx="1968500" cy="292100"/>
          </a:xfrm>
          <a:prstGeom prst="roundRect">
            <a:avLst/>
          </a:prstGeom>
          <a:solidFill>
            <a:srgbClr val="121D2F"/>
          </a:solidFill>
          <a:ln w="15875">
            <a:solidFill>
              <a:srgbClr val="3249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55900" y="3206750"/>
            <a:ext cx="1790700" cy="228600"/>
          </a:xfrm>
          <a:prstGeom prst="rect">
            <a:avLst/>
          </a:prstGeom>
          <a:noFill/>
        </p:spPr>
        <p:txBody>
          <a:bodyPr wrap="none" anchor="ctr" lIns="25400" rIns="25400" tIns="12700" bIns="12700">
            <a:noAutofit/>
          </a:bodyPr>
          <a:lstStyle/>
          <a:p>
            <a:pPr algn="l">
              <a:lnSpc>
                <a:spcPct val="100000"/>
              </a:lnSpc>
            </a:pPr>
            <a:r>
              <a:rPr sz="1500" b="1">
                <a:solidFill>
                  <a:srgbClr val="F6F1E8"/>
                </a:solidFill>
                <a:latin typeface="Arial"/>
              </a:rPr>
              <a:t>Future internal model</a:t>
            </a:r>
          </a:p>
        </p:txBody>
      </p:sp>
      <p:cxnSp>
        <p:nvCxnSpPr>
          <p:cNvPr id="18" name="Connector 17"/>
          <p:cNvCxnSpPr/>
          <p:nvPr/>
        </p:nvCxnSpPr>
        <p:spPr>
          <a:xfrm>
            <a:off x="1968500" y="2628900"/>
            <a:ext cx="0" cy="863600"/>
          </a:xfrm>
          <a:prstGeom prst="line">
            <a:avLst/>
          </a:prstGeom>
          <a:ln w="25400">
            <a:solidFill>
              <a:srgbClr val="67E8F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968500" y="3048000"/>
            <a:ext cx="1651000" cy="0"/>
          </a:xfrm>
          <a:prstGeom prst="line">
            <a:avLst/>
          </a:prstGeom>
          <a:ln w="25400">
            <a:solidFill>
              <a:srgbClr val="67E8F9"/>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825500" y="3556000"/>
            <a:ext cx="5397500" cy="469899"/>
          </a:xfrm>
          <a:prstGeom prst="roundRect">
            <a:avLst/>
          </a:prstGeom>
          <a:solidFill>
            <a:srgbClr val="17304B"/>
          </a:solidFill>
          <a:ln w="19050">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16000" y="3657600"/>
            <a:ext cx="2667000" cy="190500"/>
          </a:xfrm>
          <a:prstGeom prst="rect">
            <a:avLst/>
          </a:prstGeom>
          <a:noFill/>
        </p:spPr>
        <p:txBody>
          <a:bodyPr wrap="square" anchor="t" lIns="25400" rIns="25400" tIns="0" bIns="0">
            <a:noAutofit/>
          </a:bodyPr>
          <a:lstStyle/>
          <a:p>
            <a:pPr algn="l">
              <a:lnSpc>
                <a:spcPct val="100000"/>
              </a:lnSpc>
            </a:pPr>
            <a:r>
              <a:rPr sz="2200" b="1">
                <a:solidFill>
                  <a:srgbClr val="F6F1E8"/>
                </a:solidFill>
                <a:latin typeface="Arial Narrow"/>
              </a:rPr>
              <a:t>EmmaNeigh execution layer</a:t>
            </a:r>
          </a:p>
        </p:txBody>
      </p:sp>
      <p:sp>
        <p:nvSpPr>
          <p:cNvPr id="22" name="TextBox 21"/>
          <p:cNvSpPr txBox="1"/>
          <p:nvPr/>
        </p:nvSpPr>
        <p:spPr>
          <a:xfrm>
            <a:off x="1016000" y="4178300"/>
            <a:ext cx="1524000" cy="152400"/>
          </a:xfrm>
          <a:prstGeom prst="rect">
            <a:avLst/>
          </a:prstGeom>
          <a:noFill/>
        </p:spPr>
        <p:txBody>
          <a:bodyPr wrap="square" anchor="t" lIns="25400" rIns="25400" tIns="0" bIns="0">
            <a:noAutofit/>
          </a:bodyPr>
          <a:lstStyle/>
          <a:p>
            <a:pPr algn="l">
              <a:lnSpc>
                <a:spcPct val="100000"/>
              </a:lnSpc>
            </a:pPr>
            <a:r>
              <a:rPr sz="1400" b="1">
                <a:solidFill>
                  <a:srgbClr val="FB923C"/>
                </a:solidFill>
                <a:latin typeface="Arial"/>
              </a:rPr>
              <a:t>Firm operating stack</a:t>
            </a:r>
          </a:p>
        </p:txBody>
      </p:sp>
      <p:sp>
        <p:nvSpPr>
          <p:cNvPr id="23" name="Rounded Rectangle 22"/>
          <p:cNvSpPr/>
          <p:nvPr/>
        </p:nvSpPr>
        <p:spPr>
          <a:xfrm>
            <a:off x="825500" y="4419600"/>
            <a:ext cx="1143000" cy="330200"/>
          </a:xfrm>
          <a:prstGeom prst="roundRect">
            <a:avLst/>
          </a:prstGeom>
          <a:solidFill>
            <a:srgbClr val="0E1D30"/>
          </a:solidFill>
          <a:ln w="15875">
            <a:solidFill>
              <a:srgbClr val="3046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outlook.png"/>
          <p:cNvPicPr>
            <a:picLocks noChangeAspect="1"/>
          </p:cNvPicPr>
          <p:nvPr/>
        </p:nvPicPr>
        <p:blipFill>
          <a:blip r:embed="rId3"/>
          <a:stretch>
            <a:fillRect/>
          </a:stretch>
        </p:blipFill>
        <p:spPr>
          <a:xfrm>
            <a:off x="901700" y="4457700"/>
            <a:ext cx="254000" cy="254000"/>
          </a:xfrm>
          <a:prstGeom prst="rect">
            <a:avLst/>
          </a:prstGeom>
        </p:spPr>
      </p:pic>
      <p:sp>
        <p:nvSpPr>
          <p:cNvPr id="25" name="TextBox 24"/>
          <p:cNvSpPr txBox="1"/>
          <p:nvPr/>
        </p:nvSpPr>
        <p:spPr>
          <a:xfrm>
            <a:off x="1219200" y="4451350"/>
            <a:ext cx="711200" cy="266700"/>
          </a:xfrm>
          <a:prstGeom prst="rect">
            <a:avLst/>
          </a:prstGeom>
          <a:noFill/>
        </p:spPr>
        <p:txBody>
          <a:bodyPr wrap="none" anchor="ctr" lIns="25400" rIns="25400" tIns="12700" bIns="12700">
            <a:noAutofit/>
          </a:bodyPr>
          <a:lstStyle/>
          <a:p>
            <a:pPr algn="l">
              <a:lnSpc>
                <a:spcPct val="100000"/>
              </a:lnSpc>
            </a:pPr>
            <a:r>
              <a:rPr sz="1500" b="1">
                <a:solidFill>
                  <a:srgbClr val="F6F1E8"/>
                </a:solidFill>
                <a:latin typeface="Arial"/>
              </a:rPr>
              <a:t>Outlook</a:t>
            </a:r>
          </a:p>
        </p:txBody>
      </p:sp>
      <p:sp>
        <p:nvSpPr>
          <p:cNvPr id="26" name="Rounded Rectangle 25"/>
          <p:cNvSpPr/>
          <p:nvPr/>
        </p:nvSpPr>
        <p:spPr>
          <a:xfrm>
            <a:off x="2095499" y="4419600"/>
            <a:ext cx="1079500" cy="330200"/>
          </a:xfrm>
          <a:prstGeom prst="roundRect">
            <a:avLst/>
          </a:prstGeom>
          <a:solidFill>
            <a:srgbClr val="0E1D30"/>
          </a:solidFill>
          <a:ln w="15875">
            <a:solidFill>
              <a:srgbClr val="3046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adobe.png"/>
          <p:cNvPicPr>
            <a:picLocks noChangeAspect="1"/>
          </p:cNvPicPr>
          <p:nvPr/>
        </p:nvPicPr>
        <p:blipFill>
          <a:blip r:embed="rId4"/>
          <a:stretch>
            <a:fillRect/>
          </a:stretch>
        </p:blipFill>
        <p:spPr>
          <a:xfrm>
            <a:off x="2171700" y="4457700"/>
            <a:ext cx="254000" cy="254000"/>
          </a:xfrm>
          <a:prstGeom prst="rect">
            <a:avLst/>
          </a:prstGeom>
        </p:spPr>
      </p:pic>
      <p:sp>
        <p:nvSpPr>
          <p:cNvPr id="28" name="TextBox 27"/>
          <p:cNvSpPr txBox="1"/>
          <p:nvPr/>
        </p:nvSpPr>
        <p:spPr>
          <a:xfrm>
            <a:off x="2489200" y="4451350"/>
            <a:ext cx="647700" cy="266700"/>
          </a:xfrm>
          <a:prstGeom prst="rect">
            <a:avLst/>
          </a:prstGeom>
          <a:noFill/>
        </p:spPr>
        <p:txBody>
          <a:bodyPr wrap="none" anchor="ctr" lIns="25400" rIns="25400" tIns="12700" bIns="12700">
            <a:noAutofit/>
          </a:bodyPr>
          <a:lstStyle/>
          <a:p>
            <a:pPr algn="l">
              <a:lnSpc>
                <a:spcPct val="100000"/>
              </a:lnSpc>
            </a:pPr>
            <a:r>
              <a:rPr sz="1500" b="1">
                <a:solidFill>
                  <a:srgbClr val="F6F1E8"/>
                </a:solidFill>
                <a:latin typeface="Arial"/>
              </a:rPr>
              <a:t>Adobe</a:t>
            </a:r>
          </a:p>
        </p:txBody>
      </p:sp>
      <p:sp>
        <p:nvSpPr>
          <p:cNvPr id="29" name="Rounded Rectangle 28"/>
          <p:cNvSpPr/>
          <p:nvPr/>
        </p:nvSpPr>
        <p:spPr>
          <a:xfrm>
            <a:off x="3302000" y="4419600"/>
            <a:ext cx="1079500" cy="330200"/>
          </a:xfrm>
          <a:prstGeom prst="roundRect">
            <a:avLst/>
          </a:prstGeom>
          <a:solidFill>
            <a:srgbClr val="0E1D30"/>
          </a:solidFill>
          <a:ln w="15875">
            <a:solidFill>
              <a:srgbClr val="3046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litera_favicon.png"/>
          <p:cNvPicPr>
            <a:picLocks noChangeAspect="1"/>
          </p:cNvPicPr>
          <p:nvPr/>
        </p:nvPicPr>
        <p:blipFill>
          <a:blip r:embed="rId5"/>
          <a:stretch>
            <a:fillRect/>
          </a:stretch>
        </p:blipFill>
        <p:spPr>
          <a:xfrm>
            <a:off x="3378200" y="4457700"/>
            <a:ext cx="254000" cy="254000"/>
          </a:xfrm>
          <a:prstGeom prst="rect">
            <a:avLst/>
          </a:prstGeom>
        </p:spPr>
      </p:pic>
      <p:sp>
        <p:nvSpPr>
          <p:cNvPr id="31" name="TextBox 30"/>
          <p:cNvSpPr txBox="1"/>
          <p:nvPr/>
        </p:nvSpPr>
        <p:spPr>
          <a:xfrm>
            <a:off x="3695700" y="4451350"/>
            <a:ext cx="647700" cy="266700"/>
          </a:xfrm>
          <a:prstGeom prst="rect">
            <a:avLst/>
          </a:prstGeom>
          <a:noFill/>
        </p:spPr>
        <p:txBody>
          <a:bodyPr wrap="none" anchor="ctr" lIns="25400" rIns="25400" tIns="12700" bIns="12700">
            <a:noAutofit/>
          </a:bodyPr>
          <a:lstStyle/>
          <a:p>
            <a:pPr algn="l">
              <a:lnSpc>
                <a:spcPct val="100000"/>
              </a:lnSpc>
            </a:pPr>
            <a:r>
              <a:rPr sz="1500" b="1">
                <a:solidFill>
                  <a:srgbClr val="F6F1E8"/>
                </a:solidFill>
                <a:latin typeface="Arial"/>
              </a:rPr>
              <a:t>Litera</a:t>
            </a:r>
          </a:p>
        </p:txBody>
      </p:sp>
      <p:sp>
        <p:nvSpPr>
          <p:cNvPr id="32" name="Rounded Rectangle 31"/>
          <p:cNvSpPr/>
          <p:nvPr/>
        </p:nvSpPr>
        <p:spPr>
          <a:xfrm>
            <a:off x="4508500" y="4419600"/>
            <a:ext cx="1397000" cy="330200"/>
          </a:xfrm>
          <a:prstGeom prst="roundRect">
            <a:avLst/>
          </a:prstGeom>
          <a:solidFill>
            <a:srgbClr val="0E1D30"/>
          </a:solidFill>
          <a:ln w="15875">
            <a:solidFill>
              <a:srgbClr val="3046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imanage.png"/>
          <p:cNvPicPr>
            <a:picLocks noChangeAspect="1"/>
          </p:cNvPicPr>
          <p:nvPr/>
        </p:nvPicPr>
        <p:blipFill>
          <a:blip r:embed="rId6"/>
          <a:stretch>
            <a:fillRect/>
          </a:stretch>
        </p:blipFill>
        <p:spPr>
          <a:xfrm>
            <a:off x="4584700" y="4536207"/>
            <a:ext cx="254000" cy="96985"/>
          </a:xfrm>
          <a:prstGeom prst="rect">
            <a:avLst/>
          </a:prstGeom>
        </p:spPr>
      </p:pic>
      <p:sp>
        <p:nvSpPr>
          <p:cNvPr id="34" name="TextBox 33"/>
          <p:cNvSpPr txBox="1"/>
          <p:nvPr/>
        </p:nvSpPr>
        <p:spPr>
          <a:xfrm>
            <a:off x="4902200" y="4451350"/>
            <a:ext cx="965200" cy="266700"/>
          </a:xfrm>
          <a:prstGeom prst="rect">
            <a:avLst/>
          </a:prstGeom>
          <a:noFill/>
        </p:spPr>
        <p:txBody>
          <a:bodyPr wrap="none" anchor="ctr" lIns="25400" rIns="25400" tIns="12700" bIns="12700">
            <a:noAutofit/>
          </a:bodyPr>
          <a:lstStyle/>
          <a:p>
            <a:pPr algn="l">
              <a:lnSpc>
                <a:spcPct val="100000"/>
              </a:lnSpc>
            </a:pPr>
            <a:r>
              <a:rPr sz="1500" b="1">
                <a:solidFill>
                  <a:srgbClr val="F6F1E8"/>
                </a:solidFill>
                <a:latin typeface="Arial"/>
              </a:rPr>
              <a:t>iManage</a:t>
            </a:r>
          </a:p>
        </p:txBody>
      </p:sp>
      <p:sp>
        <p:nvSpPr>
          <p:cNvPr id="35" name="Rounded Rectangle 34"/>
          <p:cNvSpPr/>
          <p:nvPr/>
        </p:nvSpPr>
        <p:spPr>
          <a:xfrm>
            <a:off x="7112000" y="1828800"/>
            <a:ext cx="4508500" cy="3873499"/>
          </a:xfrm>
          <a:prstGeom prst="roundRect">
            <a:avLst/>
          </a:prstGeom>
          <a:solidFill>
            <a:srgbClr val="0C1728"/>
          </a:solidFill>
          <a:ln w="19050">
            <a:solidFill>
              <a:srgbClr val="273D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66000" y="2057400"/>
            <a:ext cx="3302000" cy="596900"/>
          </a:xfrm>
          <a:prstGeom prst="rect">
            <a:avLst/>
          </a:prstGeom>
          <a:noFill/>
        </p:spPr>
        <p:txBody>
          <a:bodyPr wrap="square" anchor="t" lIns="25400" rIns="25400" tIns="0" bIns="0">
            <a:noAutofit/>
          </a:bodyPr>
          <a:lstStyle/>
          <a:p>
            <a:pPr algn="l">
              <a:lnSpc>
                <a:spcPct val="100000"/>
              </a:lnSpc>
            </a:pPr>
            <a:r>
              <a:rPr sz="3200" b="1">
                <a:solidFill>
                  <a:srgbClr val="F6F1E8"/>
                </a:solidFill>
                <a:latin typeface="Arial Narrow"/>
              </a:rPr>
              <a:t>What Kirkland gets if this</a:t>
            </a:r>
          </a:p>
          <a:p>
            <a:pPr algn="l">
              <a:lnSpc>
                <a:spcPct val="100000"/>
              </a:lnSpc>
            </a:pPr>
            <a:r>
              <a:rPr sz="3200" b="1">
                <a:solidFill>
                  <a:srgbClr val="F6F1E8"/>
                </a:solidFill>
                <a:latin typeface="Arial Narrow"/>
              </a:rPr>
              <a:t>works</a:t>
            </a:r>
          </a:p>
        </p:txBody>
      </p:sp>
      <p:sp>
        <p:nvSpPr>
          <p:cNvPr id="37" name="Rounded Rectangle 36"/>
          <p:cNvSpPr/>
          <p:nvPr/>
        </p:nvSpPr>
        <p:spPr>
          <a:xfrm>
            <a:off x="7366000" y="2882900"/>
            <a:ext cx="50800" cy="50800"/>
          </a:xfrm>
          <a:prstGeom prst="round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493000" y="2832100"/>
            <a:ext cx="3683000" cy="304800"/>
          </a:xfrm>
          <a:prstGeom prst="rect">
            <a:avLst/>
          </a:prstGeom>
          <a:noFill/>
        </p:spPr>
        <p:txBody>
          <a:bodyPr wrap="square" anchor="t" lIns="25400" rIns="25400" tIns="0" bIns="0">
            <a:noAutofit/>
          </a:bodyPr>
          <a:lstStyle/>
          <a:p>
            <a:pPr algn="l">
              <a:lnSpc>
                <a:spcPct val="100000"/>
              </a:lnSpc>
            </a:pPr>
            <a:r>
              <a:rPr sz="1700" b="0">
                <a:solidFill>
                  <a:srgbClr val="F6F1E8"/>
                </a:solidFill>
                <a:latin typeface="Arial"/>
              </a:rPr>
              <a:t>A model-agnostic control plane that can work with Harvey today and a different reasoning system tomorrow.</a:t>
            </a:r>
          </a:p>
        </p:txBody>
      </p:sp>
      <p:sp>
        <p:nvSpPr>
          <p:cNvPr id="39" name="Rounded Rectangle 38"/>
          <p:cNvSpPr/>
          <p:nvPr/>
        </p:nvSpPr>
        <p:spPr>
          <a:xfrm>
            <a:off x="7366000" y="3263900"/>
            <a:ext cx="50800" cy="50800"/>
          </a:xfrm>
          <a:prstGeom prst="round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493000" y="3213100"/>
            <a:ext cx="3683000" cy="304800"/>
          </a:xfrm>
          <a:prstGeom prst="rect">
            <a:avLst/>
          </a:prstGeom>
          <a:noFill/>
        </p:spPr>
        <p:txBody>
          <a:bodyPr wrap="square" anchor="t" lIns="25400" rIns="25400" tIns="0" bIns="0">
            <a:noAutofit/>
          </a:bodyPr>
          <a:lstStyle/>
          <a:p>
            <a:pPr algn="l">
              <a:lnSpc>
                <a:spcPct val="100000"/>
              </a:lnSpc>
            </a:pPr>
            <a:r>
              <a:rPr sz="1700" b="0">
                <a:solidFill>
                  <a:srgbClr val="F6F1E8"/>
                </a:solidFill>
                <a:latin typeface="Arial"/>
              </a:rPr>
              <a:t>A way to extend the AI discussion from drafting and analysis into concrete execution across the existing desktop and DMS stack.</a:t>
            </a:r>
          </a:p>
        </p:txBody>
      </p:sp>
      <p:sp>
        <p:nvSpPr>
          <p:cNvPr id="41" name="Rounded Rectangle 40"/>
          <p:cNvSpPr/>
          <p:nvPr/>
        </p:nvSpPr>
        <p:spPr>
          <a:xfrm>
            <a:off x="7366000" y="3644900"/>
            <a:ext cx="50800" cy="50800"/>
          </a:xfrm>
          <a:prstGeom prst="round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493000" y="3594100"/>
            <a:ext cx="3683000" cy="304800"/>
          </a:xfrm>
          <a:prstGeom prst="rect">
            <a:avLst/>
          </a:prstGeom>
          <a:noFill/>
        </p:spPr>
        <p:txBody>
          <a:bodyPr wrap="square" anchor="t" lIns="25400" rIns="25400" tIns="0" bIns="0">
            <a:noAutofit/>
          </a:bodyPr>
          <a:lstStyle/>
          <a:p>
            <a:pPr algn="l">
              <a:lnSpc>
                <a:spcPct val="100000"/>
              </a:lnSpc>
            </a:pPr>
            <a:r>
              <a:rPr sz="1700" b="0">
                <a:solidFill>
                  <a:srgbClr val="F6F1E8"/>
                </a:solidFill>
                <a:latin typeface="Arial"/>
              </a:rPr>
              <a:t>A path to operational leverage without requiring lawyers to manually bridge the gap between cloud AI and local applications.</a:t>
            </a:r>
          </a:p>
        </p:txBody>
      </p:sp>
      <p:sp>
        <p:nvSpPr>
          <p:cNvPr id="43" name="Rounded Rectangle 42"/>
          <p:cNvSpPr/>
          <p:nvPr/>
        </p:nvSpPr>
        <p:spPr>
          <a:xfrm>
            <a:off x="7366000" y="4025900"/>
            <a:ext cx="50800" cy="50800"/>
          </a:xfrm>
          <a:prstGeom prst="round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493000" y="3975100"/>
            <a:ext cx="3683000" cy="304800"/>
          </a:xfrm>
          <a:prstGeom prst="rect">
            <a:avLst/>
          </a:prstGeom>
          <a:noFill/>
        </p:spPr>
        <p:txBody>
          <a:bodyPr wrap="square" anchor="t" lIns="25400" rIns="25400" tIns="0" bIns="0">
            <a:noAutofit/>
          </a:bodyPr>
          <a:lstStyle/>
          <a:p>
            <a:pPr algn="l">
              <a:lnSpc>
                <a:spcPct val="100000"/>
              </a:lnSpc>
            </a:pPr>
            <a:r>
              <a:rPr sz="1700" b="0">
                <a:solidFill>
                  <a:srgbClr val="F6F1E8"/>
                </a:solidFill>
                <a:latin typeface="Arial"/>
              </a:rPr>
              <a:t>No rip-and-replace: the product is designed to sit on top of the tools the firm already uses.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917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10800000">
            <a:off x="9271000" y="-63500"/>
            <a:ext cx="2984500" cy="2032000"/>
          </a:xfrm>
          <a:prstGeom prst="rtTriangl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ight Triangle 3"/>
          <p:cNvSpPr/>
          <p:nvPr/>
        </p:nvSpPr>
        <p:spPr>
          <a:xfrm>
            <a:off x="-127000" y="5207000"/>
            <a:ext cx="2286000" cy="1778000"/>
          </a:xfrm>
          <a:prstGeom prst="rtTriangle">
            <a:avLst/>
          </a:prstGeom>
          <a:solidFill>
            <a:srgbClr val="67E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71500" y="355600"/>
            <a:ext cx="10160000" cy="977900"/>
          </a:xfrm>
          <a:prstGeom prst="rect">
            <a:avLst/>
          </a:prstGeom>
          <a:noFill/>
        </p:spPr>
        <p:txBody>
          <a:bodyPr wrap="square" anchor="t" lIns="25400" rIns="25400" tIns="0" bIns="0">
            <a:noAutofit/>
          </a:bodyPr>
          <a:lstStyle/>
          <a:p>
            <a:pPr algn="l">
              <a:lnSpc>
                <a:spcPct val="95000"/>
              </a:lnSpc>
            </a:pPr>
            <a:r>
              <a:rPr sz="4200" b="1">
                <a:solidFill>
                  <a:srgbClr val="F6F1E8"/>
                </a:solidFill>
                <a:latin typeface="Arial Narrow"/>
              </a:rPr>
              <a:t>Two asks would materially improve the</a:t>
            </a:r>
          </a:p>
          <a:p>
            <a:pPr algn="l">
              <a:lnSpc>
                <a:spcPct val="95000"/>
              </a:lnSpc>
            </a:pPr>
            <a:r>
              <a:rPr sz="4200" b="1">
                <a:solidFill>
                  <a:srgbClr val="F6F1E8"/>
                </a:solidFill>
                <a:latin typeface="Arial Narrow"/>
              </a:rPr>
              <a:t>product in a Kirkland environment.</a:t>
            </a:r>
          </a:p>
        </p:txBody>
      </p:sp>
      <p:sp>
        <p:nvSpPr>
          <p:cNvPr id="6" name="TextBox 5"/>
          <p:cNvSpPr txBox="1"/>
          <p:nvPr/>
        </p:nvSpPr>
        <p:spPr>
          <a:xfrm>
            <a:off x="571500" y="1435100"/>
            <a:ext cx="10160000" cy="482600"/>
          </a:xfrm>
          <a:prstGeom prst="rect">
            <a:avLst/>
          </a:prstGeom>
          <a:noFill/>
        </p:spPr>
        <p:txBody>
          <a:bodyPr wrap="square" anchor="t" lIns="25400" rIns="25400" tIns="0" bIns="0">
            <a:noAutofit/>
          </a:bodyPr>
          <a:lstStyle/>
          <a:p>
            <a:pPr algn="l">
              <a:lnSpc>
                <a:spcPct val="100000"/>
              </a:lnSpc>
            </a:pPr>
            <a:r>
              <a:rPr sz="1800" b="1">
                <a:solidFill>
                  <a:srgbClr val="A8B5C8"/>
                </a:solidFill>
                <a:latin typeface="Arial"/>
              </a:rPr>
              <a:t>These are not cosmetic asks. They unlock the exact execution depth that the current stack otherwise blocks.</a:t>
            </a:r>
          </a:p>
        </p:txBody>
      </p:sp>
      <p:sp>
        <p:nvSpPr>
          <p:cNvPr id="7" name="Rounded Rectangle 6"/>
          <p:cNvSpPr/>
          <p:nvPr/>
        </p:nvSpPr>
        <p:spPr>
          <a:xfrm>
            <a:off x="571500" y="2032000"/>
            <a:ext cx="5143500" cy="2857500"/>
          </a:xfrm>
          <a:prstGeom prst="roundRect">
            <a:avLst/>
          </a:prstGeom>
          <a:solidFill>
            <a:srgbClr val="0C1828"/>
          </a:solidFill>
          <a:ln w="19050">
            <a:solidFill>
              <a:srgbClr val="273D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5500" y="2286000"/>
            <a:ext cx="4064000" cy="533400"/>
          </a:xfrm>
          <a:prstGeom prst="rect">
            <a:avLst/>
          </a:prstGeom>
          <a:noFill/>
        </p:spPr>
        <p:txBody>
          <a:bodyPr wrap="square" anchor="t" lIns="25400" rIns="25400" tIns="0" bIns="0">
            <a:noAutofit/>
          </a:bodyPr>
          <a:lstStyle/>
          <a:p>
            <a:pPr algn="l">
              <a:lnSpc>
                <a:spcPct val="95000"/>
              </a:lnSpc>
            </a:pPr>
            <a:r>
              <a:rPr sz="3000" b="1">
                <a:solidFill>
                  <a:srgbClr val="F6F1E8"/>
                </a:solidFill>
                <a:latin typeface="Arial Narrow"/>
              </a:rPr>
              <a:t>1. Harvey bearer /</a:t>
            </a:r>
          </a:p>
          <a:p>
            <a:pPr algn="l">
              <a:lnSpc>
                <a:spcPct val="95000"/>
              </a:lnSpc>
            </a:pPr>
            <a:r>
              <a:rPr sz="3000" b="1">
                <a:solidFill>
                  <a:srgbClr val="F6F1E8"/>
                </a:solidFill>
                <a:latin typeface="Arial Narrow"/>
              </a:rPr>
              <a:t>authentication token</a:t>
            </a:r>
          </a:p>
        </p:txBody>
      </p:sp>
      <p:sp>
        <p:nvSpPr>
          <p:cNvPr id="9" name="TextBox 8"/>
          <p:cNvSpPr txBox="1"/>
          <p:nvPr/>
        </p:nvSpPr>
        <p:spPr>
          <a:xfrm>
            <a:off x="825500" y="2870200"/>
            <a:ext cx="4190999" cy="749300"/>
          </a:xfrm>
          <a:prstGeom prst="rect">
            <a:avLst/>
          </a:prstGeom>
          <a:noFill/>
        </p:spPr>
        <p:txBody>
          <a:bodyPr wrap="square" anchor="t" lIns="25400" rIns="25400" tIns="0" bIns="0">
            <a:noAutofit/>
          </a:bodyPr>
          <a:lstStyle/>
          <a:p>
            <a:pPr algn="l">
              <a:lnSpc>
                <a:spcPct val="100000"/>
              </a:lnSpc>
            </a:pPr>
            <a:r>
              <a:rPr sz="1600" b="1">
                <a:solidFill>
                  <a:srgbClr val="A8B5C8"/>
                </a:solidFill>
                <a:latin typeface="Arial"/>
              </a:rPr>
              <a:t>That would allow EmmaNeigh to plug into a reasoning layer with stronger legal performance than a free foundation model, while preserving the model-agnostic execution architecture.</a:t>
            </a:r>
          </a:p>
        </p:txBody>
      </p:sp>
      <p:sp>
        <p:nvSpPr>
          <p:cNvPr id="10" name="Rounded Rectangle 9"/>
          <p:cNvSpPr/>
          <p:nvPr/>
        </p:nvSpPr>
        <p:spPr>
          <a:xfrm>
            <a:off x="825500" y="3746500"/>
            <a:ext cx="1079500" cy="292100"/>
          </a:xfrm>
          <a:prstGeom prst="roundRect">
            <a:avLst/>
          </a:prstGeom>
          <a:solidFill>
            <a:srgbClr val="171315"/>
          </a:solidFill>
          <a:ln w="15875">
            <a:solidFill>
              <a:srgbClr val="2D2A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harvey.png"/>
          <p:cNvPicPr>
            <a:picLocks noChangeAspect="1"/>
          </p:cNvPicPr>
          <p:nvPr/>
        </p:nvPicPr>
        <p:blipFill>
          <a:blip r:embed="rId2"/>
          <a:stretch>
            <a:fillRect/>
          </a:stretch>
        </p:blipFill>
        <p:spPr>
          <a:xfrm>
            <a:off x="901700" y="3784600"/>
            <a:ext cx="215900" cy="215900"/>
          </a:xfrm>
          <a:prstGeom prst="rect">
            <a:avLst/>
          </a:prstGeom>
        </p:spPr>
      </p:pic>
      <p:sp>
        <p:nvSpPr>
          <p:cNvPr id="12" name="TextBox 11"/>
          <p:cNvSpPr txBox="1"/>
          <p:nvPr/>
        </p:nvSpPr>
        <p:spPr>
          <a:xfrm>
            <a:off x="1181100" y="3778250"/>
            <a:ext cx="685800" cy="228600"/>
          </a:xfrm>
          <a:prstGeom prst="rect">
            <a:avLst/>
          </a:prstGeom>
          <a:noFill/>
        </p:spPr>
        <p:txBody>
          <a:bodyPr wrap="none" anchor="ctr" lIns="25400" rIns="25400" tIns="12700" bIns="12700">
            <a:noAutofit/>
          </a:bodyPr>
          <a:lstStyle/>
          <a:p>
            <a:pPr algn="l">
              <a:lnSpc>
                <a:spcPct val="100000"/>
              </a:lnSpc>
            </a:pPr>
            <a:r>
              <a:rPr sz="1500" b="1">
                <a:solidFill>
                  <a:srgbClr val="F6F1E8"/>
                </a:solidFill>
                <a:latin typeface="Arial"/>
              </a:rPr>
              <a:t>Harvey</a:t>
            </a:r>
          </a:p>
        </p:txBody>
      </p:sp>
      <p:sp>
        <p:nvSpPr>
          <p:cNvPr id="13" name="Rounded Rectangle 12"/>
          <p:cNvSpPr/>
          <p:nvPr/>
        </p:nvSpPr>
        <p:spPr>
          <a:xfrm>
            <a:off x="825500" y="4127500"/>
            <a:ext cx="3746500" cy="584200"/>
          </a:xfrm>
          <a:prstGeom prst="roundRect">
            <a:avLst/>
          </a:prstGeom>
          <a:solidFill>
            <a:srgbClr val="17304B"/>
          </a:solidFill>
          <a:ln w="19050">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16000" y="4279900"/>
            <a:ext cx="1143000" cy="152400"/>
          </a:xfrm>
          <a:prstGeom prst="rect">
            <a:avLst/>
          </a:prstGeom>
          <a:noFill/>
        </p:spPr>
        <p:txBody>
          <a:bodyPr wrap="square" anchor="t" lIns="25400" rIns="25400" tIns="0" bIns="0">
            <a:noAutofit/>
          </a:bodyPr>
          <a:lstStyle/>
          <a:p>
            <a:pPr algn="l">
              <a:lnSpc>
                <a:spcPct val="100000"/>
              </a:lnSpc>
            </a:pPr>
            <a:r>
              <a:rPr sz="1400" b="1">
                <a:solidFill>
                  <a:srgbClr val="67E8F9"/>
                </a:solidFill>
                <a:latin typeface="Arial"/>
              </a:rPr>
              <a:t>Why it matters</a:t>
            </a:r>
          </a:p>
        </p:txBody>
      </p:sp>
      <p:sp>
        <p:nvSpPr>
          <p:cNvPr id="15" name="TextBox 14"/>
          <p:cNvSpPr txBox="1"/>
          <p:nvPr/>
        </p:nvSpPr>
        <p:spPr>
          <a:xfrm>
            <a:off x="1016000" y="4483100"/>
            <a:ext cx="3302000" cy="266700"/>
          </a:xfrm>
          <a:prstGeom prst="rect">
            <a:avLst/>
          </a:prstGeom>
          <a:noFill/>
        </p:spPr>
        <p:txBody>
          <a:bodyPr wrap="square" anchor="t" lIns="25400" rIns="25400" tIns="0" bIns="0">
            <a:noAutofit/>
          </a:bodyPr>
          <a:lstStyle/>
          <a:p>
            <a:pPr algn="l">
              <a:lnSpc>
                <a:spcPct val="100000"/>
              </a:lnSpc>
            </a:pPr>
            <a:r>
              <a:rPr sz="1400" b="1">
                <a:solidFill>
                  <a:srgbClr val="F6F1E8"/>
                </a:solidFill>
                <a:latin typeface="Arial"/>
              </a:rPr>
              <a:t>Better planning, better task routing, better explanation quality — without changing the execution engine underneath.</a:t>
            </a:r>
          </a:p>
        </p:txBody>
      </p:sp>
      <p:sp>
        <p:nvSpPr>
          <p:cNvPr id="16" name="Rounded Rectangle 15"/>
          <p:cNvSpPr/>
          <p:nvPr/>
        </p:nvSpPr>
        <p:spPr>
          <a:xfrm>
            <a:off x="6477000" y="2032000"/>
            <a:ext cx="5143500" cy="2857500"/>
          </a:xfrm>
          <a:prstGeom prst="roundRect">
            <a:avLst/>
          </a:prstGeom>
          <a:solidFill>
            <a:srgbClr val="0C1828"/>
          </a:solidFill>
          <a:ln w="19050">
            <a:solidFill>
              <a:srgbClr val="273D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31000" y="2286000"/>
            <a:ext cx="4064000" cy="533400"/>
          </a:xfrm>
          <a:prstGeom prst="rect">
            <a:avLst/>
          </a:prstGeom>
          <a:noFill/>
        </p:spPr>
        <p:txBody>
          <a:bodyPr wrap="square" anchor="t" lIns="25400" rIns="25400" tIns="0" bIns="0">
            <a:noAutofit/>
          </a:bodyPr>
          <a:lstStyle/>
          <a:p>
            <a:pPr algn="l">
              <a:lnSpc>
                <a:spcPct val="95000"/>
              </a:lnSpc>
            </a:pPr>
            <a:r>
              <a:rPr sz="3000" b="1">
                <a:solidFill>
                  <a:srgbClr val="F6F1E8"/>
                </a:solidFill>
                <a:latin typeface="Arial Narrow"/>
              </a:rPr>
              <a:t>2. Unrestricted iManage API</a:t>
            </a:r>
          </a:p>
          <a:p>
            <a:pPr algn="l">
              <a:lnSpc>
                <a:spcPct val="95000"/>
              </a:lnSpc>
            </a:pPr>
            <a:r>
              <a:rPr sz="3000" b="1">
                <a:solidFill>
                  <a:srgbClr val="F6F1E8"/>
                </a:solidFill>
                <a:latin typeface="Arial Narrow"/>
              </a:rPr>
              <a:t>surface</a:t>
            </a:r>
          </a:p>
        </p:txBody>
      </p:sp>
      <p:sp>
        <p:nvSpPr>
          <p:cNvPr id="18" name="TextBox 17"/>
          <p:cNvSpPr txBox="1"/>
          <p:nvPr/>
        </p:nvSpPr>
        <p:spPr>
          <a:xfrm>
            <a:off x="6731000" y="2870200"/>
            <a:ext cx="4190999" cy="749300"/>
          </a:xfrm>
          <a:prstGeom prst="rect">
            <a:avLst/>
          </a:prstGeom>
          <a:noFill/>
        </p:spPr>
        <p:txBody>
          <a:bodyPr wrap="square" anchor="t" lIns="25400" rIns="25400" tIns="0" bIns="0">
            <a:noAutofit/>
          </a:bodyPr>
          <a:lstStyle/>
          <a:p>
            <a:pPr algn="l">
              <a:lnSpc>
                <a:spcPct val="100000"/>
              </a:lnSpc>
            </a:pPr>
            <a:r>
              <a:rPr sz="1600" b="1">
                <a:solidFill>
                  <a:srgbClr val="A8B5C8"/>
                </a:solidFill>
                <a:latin typeface="Arial"/>
              </a:rPr>
              <a:t>Right now the accessible interface is constrained. That limits browse, version-aware workflows, and redlining across versions. A richer surface would let the product operate far more seamlessly inside the document system.</a:t>
            </a:r>
          </a:p>
        </p:txBody>
      </p:sp>
      <p:sp>
        <p:nvSpPr>
          <p:cNvPr id="19" name="Rounded Rectangle 18"/>
          <p:cNvSpPr/>
          <p:nvPr/>
        </p:nvSpPr>
        <p:spPr>
          <a:xfrm>
            <a:off x="6731000" y="3746500"/>
            <a:ext cx="1333500" cy="292100"/>
          </a:xfrm>
          <a:prstGeom prst="roundRect">
            <a:avLst/>
          </a:prstGeom>
          <a:solidFill>
            <a:srgbClr val="0E1D30"/>
          </a:solidFill>
          <a:ln w="15875">
            <a:solidFill>
              <a:srgbClr val="3046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imanage.png"/>
          <p:cNvPicPr>
            <a:picLocks noChangeAspect="1"/>
          </p:cNvPicPr>
          <p:nvPr/>
        </p:nvPicPr>
        <p:blipFill>
          <a:blip r:embed="rId3"/>
          <a:stretch>
            <a:fillRect/>
          </a:stretch>
        </p:blipFill>
        <p:spPr>
          <a:xfrm>
            <a:off x="6807200" y="3851330"/>
            <a:ext cx="215900" cy="82438"/>
          </a:xfrm>
          <a:prstGeom prst="rect">
            <a:avLst/>
          </a:prstGeom>
        </p:spPr>
      </p:pic>
      <p:sp>
        <p:nvSpPr>
          <p:cNvPr id="21" name="TextBox 20"/>
          <p:cNvSpPr txBox="1"/>
          <p:nvPr/>
        </p:nvSpPr>
        <p:spPr>
          <a:xfrm>
            <a:off x="7086600" y="3778250"/>
            <a:ext cx="939799" cy="228600"/>
          </a:xfrm>
          <a:prstGeom prst="rect">
            <a:avLst/>
          </a:prstGeom>
          <a:noFill/>
        </p:spPr>
        <p:txBody>
          <a:bodyPr wrap="none" anchor="ctr" lIns="25400" rIns="25400" tIns="12700" bIns="12700">
            <a:noAutofit/>
          </a:bodyPr>
          <a:lstStyle/>
          <a:p>
            <a:pPr algn="l">
              <a:lnSpc>
                <a:spcPct val="100000"/>
              </a:lnSpc>
            </a:pPr>
            <a:r>
              <a:rPr sz="1500" b="1">
                <a:solidFill>
                  <a:srgbClr val="F6F1E8"/>
                </a:solidFill>
                <a:latin typeface="Arial"/>
              </a:rPr>
              <a:t>iManage</a:t>
            </a:r>
          </a:p>
        </p:txBody>
      </p:sp>
      <p:sp>
        <p:nvSpPr>
          <p:cNvPr id="22" name="Rounded Rectangle 21"/>
          <p:cNvSpPr/>
          <p:nvPr/>
        </p:nvSpPr>
        <p:spPr>
          <a:xfrm>
            <a:off x="6731000" y="4127500"/>
            <a:ext cx="4254500" cy="584200"/>
          </a:xfrm>
          <a:prstGeom prst="roundRect">
            <a:avLst/>
          </a:prstGeom>
          <a:solidFill>
            <a:srgbClr val="17304B"/>
          </a:solidFill>
          <a:ln w="19050">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21500" y="4279900"/>
            <a:ext cx="1143000" cy="152400"/>
          </a:xfrm>
          <a:prstGeom prst="rect">
            <a:avLst/>
          </a:prstGeom>
          <a:noFill/>
        </p:spPr>
        <p:txBody>
          <a:bodyPr wrap="square" anchor="t" lIns="25400" rIns="25400" tIns="0" bIns="0">
            <a:noAutofit/>
          </a:bodyPr>
          <a:lstStyle/>
          <a:p>
            <a:pPr algn="l">
              <a:lnSpc>
                <a:spcPct val="100000"/>
              </a:lnSpc>
            </a:pPr>
            <a:r>
              <a:rPr sz="1400" b="1">
                <a:solidFill>
                  <a:srgbClr val="67E8F9"/>
                </a:solidFill>
                <a:latin typeface="Arial"/>
              </a:rPr>
              <a:t>Why it matters</a:t>
            </a:r>
          </a:p>
        </p:txBody>
      </p:sp>
      <p:sp>
        <p:nvSpPr>
          <p:cNvPr id="24" name="TextBox 23"/>
          <p:cNvSpPr txBox="1"/>
          <p:nvPr/>
        </p:nvSpPr>
        <p:spPr>
          <a:xfrm>
            <a:off x="6921500" y="4483100"/>
            <a:ext cx="3810000" cy="266700"/>
          </a:xfrm>
          <a:prstGeom prst="rect">
            <a:avLst/>
          </a:prstGeom>
          <a:noFill/>
        </p:spPr>
        <p:txBody>
          <a:bodyPr wrap="square" anchor="t" lIns="25400" rIns="25400" tIns="0" bIns="0">
            <a:noAutofit/>
          </a:bodyPr>
          <a:lstStyle/>
          <a:p>
            <a:pPr algn="l">
              <a:lnSpc>
                <a:spcPct val="100000"/>
              </a:lnSpc>
            </a:pPr>
            <a:r>
              <a:rPr sz="1400" b="1">
                <a:solidFill>
                  <a:srgbClr val="F6F1E8"/>
                </a:solidFill>
                <a:latin typeface="Arial"/>
              </a:rPr>
              <a:t>The product gets closer to full browse / save / version / compare workflows instead of stopping at partial desktop integration.</a:t>
            </a:r>
          </a:p>
        </p:txBody>
      </p:sp>
      <p:sp>
        <p:nvSpPr>
          <p:cNvPr id="25" name="TextBox 24"/>
          <p:cNvSpPr txBox="1"/>
          <p:nvPr/>
        </p:nvSpPr>
        <p:spPr>
          <a:xfrm>
            <a:off x="571500" y="5829300"/>
            <a:ext cx="10795000" cy="254000"/>
          </a:xfrm>
          <a:prstGeom prst="rect">
            <a:avLst/>
          </a:prstGeom>
          <a:noFill/>
        </p:spPr>
        <p:txBody>
          <a:bodyPr wrap="square" anchor="t" lIns="25400" rIns="25400" tIns="0" bIns="0">
            <a:noAutofit/>
          </a:bodyPr>
          <a:lstStyle/>
          <a:p>
            <a:pPr algn="l">
              <a:lnSpc>
                <a:spcPct val="100000"/>
              </a:lnSpc>
            </a:pPr>
            <a:r>
              <a:rPr sz="1500" b="1">
                <a:solidFill>
                  <a:srgbClr val="FBBF24"/>
                </a:solidFill>
                <a:latin typeface="Arial"/>
              </a:rPr>
              <a:t>If Kirkland AI wants to evaluate whether this can become a real operating layer rather than just another demo, these are the leverage points.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917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10800000">
            <a:off x="9271000" y="-63500"/>
            <a:ext cx="2984500" cy="2032000"/>
          </a:xfrm>
          <a:prstGeom prst="rtTriangl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ight Triangle 3"/>
          <p:cNvSpPr/>
          <p:nvPr/>
        </p:nvSpPr>
        <p:spPr>
          <a:xfrm>
            <a:off x="-127000" y="5207000"/>
            <a:ext cx="2286000" cy="1778000"/>
          </a:xfrm>
          <a:prstGeom prst="rtTriangle">
            <a:avLst/>
          </a:prstGeom>
          <a:solidFill>
            <a:srgbClr val="67E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71500" y="355600"/>
            <a:ext cx="10160000" cy="977900"/>
          </a:xfrm>
          <a:prstGeom prst="rect">
            <a:avLst/>
          </a:prstGeom>
          <a:noFill/>
        </p:spPr>
        <p:txBody>
          <a:bodyPr wrap="square" anchor="t" lIns="25400" rIns="25400" tIns="0" bIns="0">
            <a:noAutofit/>
          </a:bodyPr>
          <a:lstStyle/>
          <a:p>
            <a:pPr algn="l">
              <a:lnSpc>
                <a:spcPct val="95000"/>
              </a:lnSpc>
            </a:pPr>
            <a:r>
              <a:rPr sz="4200" b="1">
                <a:solidFill>
                  <a:srgbClr val="F6F1E8"/>
                </a:solidFill>
                <a:latin typeface="Arial Narrow"/>
              </a:rPr>
              <a:t>A sensible next step is a narrow pilot, not a</a:t>
            </a:r>
          </a:p>
          <a:p>
            <a:pPr algn="l">
              <a:lnSpc>
                <a:spcPct val="95000"/>
              </a:lnSpc>
            </a:pPr>
            <a:r>
              <a:rPr sz="4200" b="1">
                <a:solidFill>
                  <a:srgbClr val="F6F1E8"/>
                </a:solidFill>
                <a:latin typeface="Arial Narrow"/>
              </a:rPr>
              <a:t>broad rollout.</a:t>
            </a:r>
          </a:p>
        </p:txBody>
      </p:sp>
      <p:sp>
        <p:nvSpPr>
          <p:cNvPr id="6" name="TextBox 5"/>
          <p:cNvSpPr txBox="1"/>
          <p:nvPr/>
        </p:nvSpPr>
        <p:spPr>
          <a:xfrm>
            <a:off x="571500" y="1435100"/>
            <a:ext cx="10160000" cy="482600"/>
          </a:xfrm>
          <a:prstGeom prst="rect">
            <a:avLst/>
          </a:prstGeom>
          <a:noFill/>
        </p:spPr>
        <p:txBody>
          <a:bodyPr wrap="square" anchor="t" lIns="25400" rIns="25400" tIns="0" bIns="0">
            <a:noAutofit/>
          </a:bodyPr>
          <a:lstStyle/>
          <a:p>
            <a:pPr algn="l">
              <a:lnSpc>
                <a:spcPct val="100000"/>
              </a:lnSpc>
            </a:pPr>
            <a:r>
              <a:rPr sz="1800" b="1">
                <a:solidFill>
                  <a:srgbClr val="A8B5C8"/>
                </a:solidFill>
                <a:latin typeface="Arial"/>
              </a:rPr>
              <a:t>The product is strongest when evaluated against a handful of real transaction workflows with the right system access.</a:t>
            </a:r>
          </a:p>
        </p:txBody>
      </p:sp>
      <p:sp>
        <p:nvSpPr>
          <p:cNvPr id="7" name="Rounded Rectangle 6"/>
          <p:cNvSpPr/>
          <p:nvPr/>
        </p:nvSpPr>
        <p:spPr>
          <a:xfrm>
            <a:off x="571500" y="2032000"/>
            <a:ext cx="6921500" cy="3429000"/>
          </a:xfrm>
          <a:prstGeom prst="roundRect">
            <a:avLst/>
          </a:prstGeom>
          <a:solidFill>
            <a:srgbClr val="0C1828"/>
          </a:solidFill>
          <a:ln w="19050">
            <a:solidFill>
              <a:srgbClr val="273D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5500" y="2260600"/>
            <a:ext cx="3302000" cy="266700"/>
          </a:xfrm>
          <a:prstGeom prst="rect">
            <a:avLst/>
          </a:prstGeom>
          <a:noFill/>
        </p:spPr>
        <p:txBody>
          <a:bodyPr wrap="square" anchor="t" lIns="25400" rIns="25400" tIns="0" bIns="0">
            <a:noAutofit/>
          </a:bodyPr>
          <a:lstStyle/>
          <a:p>
            <a:pPr algn="l">
              <a:lnSpc>
                <a:spcPct val="100000"/>
              </a:lnSpc>
            </a:pPr>
            <a:r>
              <a:rPr sz="2800" b="1">
                <a:solidFill>
                  <a:srgbClr val="F6F1E8"/>
                </a:solidFill>
                <a:latin typeface="Arial Narrow"/>
              </a:rPr>
              <a:t>Suggested pilot structure</a:t>
            </a:r>
          </a:p>
        </p:txBody>
      </p:sp>
      <p:sp>
        <p:nvSpPr>
          <p:cNvPr id="9" name="Rounded Rectangle 8"/>
          <p:cNvSpPr/>
          <p:nvPr/>
        </p:nvSpPr>
        <p:spPr>
          <a:xfrm>
            <a:off x="952500" y="2870200"/>
            <a:ext cx="114300" cy="114300"/>
          </a:xfrm>
          <a:prstGeom prst="roundRect">
            <a:avLst/>
          </a:prstGeom>
          <a:solidFill>
            <a:srgbClr val="67E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a:off x="1009650" y="2984500"/>
            <a:ext cx="0" cy="393700"/>
          </a:xfrm>
          <a:prstGeom prst="line">
            <a:avLst/>
          </a:prstGeom>
          <a:ln w="38100">
            <a:solidFill>
              <a:srgbClr val="67E8F9"/>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333500" y="2806700"/>
            <a:ext cx="1397000" cy="203200"/>
          </a:xfrm>
          <a:prstGeom prst="rect">
            <a:avLst/>
          </a:prstGeom>
          <a:noFill/>
        </p:spPr>
        <p:txBody>
          <a:bodyPr wrap="square" anchor="t" lIns="25400" rIns="25400" tIns="0" bIns="0">
            <a:noAutofit/>
          </a:bodyPr>
          <a:lstStyle/>
          <a:p>
            <a:pPr algn="l">
              <a:lnSpc>
                <a:spcPct val="100000"/>
              </a:lnSpc>
            </a:pPr>
            <a:r>
              <a:rPr sz="2200" b="1">
                <a:solidFill>
                  <a:srgbClr val="F6F1E8"/>
                </a:solidFill>
                <a:latin typeface="Arial Narrow"/>
              </a:rPr>
              <a:t>Week 1</a:t>
            </a:r>
          </a:p>
        </p:txBody>
      </p:sp>
      <p:sp>
        <p:nvSpPr>
          <p:cNvPr id="12" name="TextBox 11"/>
          <p:cNvSpPr txBox="1"/>
          <p:nvPr/>
        </p:nvSpPr>
        <p:spPr>
          <a:xfrm>
            <a:off x="1333500" y="3073400"/>
            <a:ext cx="5016500" cy="368300"/>
          </a:xfrm>
          <a:prstGeom prst="rect">
            <a:avLst/>
          </a:prstGeom>
          <a:noFill/>
        </p:spPr>
        <p:txBody>
          <a:bodyPr wrap="square" anchor="t" lIns="25400" rIns="25400" tIns="0" bIns="0">
            <a:noAutofit/>
          </a:bodyPr>
          <a:lstStyle/>
          <a:p>
            <a:pPr algn="l">
              <a:lnSpc>
                <a:spcPct val="100000"/>
              </a:lnSpc>
            </a:pPr>
            <a:r>
              <a:rPr sz="1500" b="1">
                <a:solidFill>
                  <a:srgbClr val="A8B5C8"/>
                </a:solidFill>
                <a:latin typeface="Arial"/>
              </a:rPr>
              <a:t>Connect model layer + target integrations</a:t>
            </a:r>
          </a:p>
        </p:txBody>
      </p:sp>
      <p:sp>
        <p:nvSpPr>
          <p:cNvPr id="13" name="Rounded Rectangle 12"/>
          <p:cNvSpPr/>
          <p:nvPr/>
        </p:nvSpPr>
        <p:spPr>
          <a:xfrm>
            <a:off x="952500" y="3683000"/>
            <a:ext cx="114300" cy="114300"/>
          </a:xfrm>
          <a:prstGeom prst="round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1009650" y="3797300"/>
            <a:ext cx="0" cy="393699"/>
          </a:xfrm>
          <a:prstGeom prst="line">
            <a:avLst/>
          </a:prstGeom>
          <a:ln w="38100">
            <a:solidFill>
              <a:srgbClr val="FBBF24"/>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333500" y="3619500"/>
            <a:ext cx="1397000" cy="203200"/>
          </a:xfrm>
          <a:prstGeom prst="rect">
            <a:avLst/>
          </a:prstGeom>
          <a:noFill/>
        </p:spPr>
        <p:txBody>
          <a:bodyPr wrap="square" anchor="t" lIns="25400" rIns="25400" tIns="0" bIns="0">
            <a:noAutofit/>
          </a:bodyPr>
          <a:lstStyle/>
          <a:p>
            <a:pPr algn="l">
              <a:lnSpc>
                <a:spcPct val="100000"/>
              </a:lnSpc>
            </a:pPr>
            <a:r>
              <a:rPr sz="2200" b="1">
                <a:solidFill>
                  <a:srgbClr val="F6F1E8"/>
                </a:solidFill>
                <a:latin typeface="Arial Narrow"/>
              </a:rPr>
              <a:t>Week 2</a:t>
            </a:r>
          </a:p>
        </p:txBody>
      </p:sp>
      <p:sp>
        <p:nvSpPr>
          <p:cNvPr id="16" name="TextBox 15"/>
          <p:cNvSpPr txBox="1"/>
          <p:nvPr/>
        </p:nvSpPr>
        <p:spPr>
          <a:xfrm>
            <a:off x="1333500" y="3886200"/>
            <a:ext cx="5016500" cy="368300"/>
          </a:xfrm>
          <a:prstGeom prst="rect">
            <a:avLst/>
          </a:prstGeom>
          <a:noFill/>
        </p:spPr>
        <p:txBody>
          <a:bodyPr wrap="square" anchor="t" lIns="25400" rIns="25400" tIns="0" bIns="0">
            <a:noAutofit/>
          </a:bodyPr>
          <a:lstStyle/>
          <a:p>
            <a:pPr algn="l">
              <a:lnSpc>
                <a:spcPct val="100000"/>
              </a:lnSpc>
            </a:pPr>
            <a:r>
              <a:rPr sz="1500" b="1">
                <a:solidFill>
                  <a:srgbClr val="A8B5C8"/>
                </a:solidFill>
                <a:latin typeface="Arial"/>
              </a:rPr>
              <a:t>Validate 3 workflows end-to-end on sample matters</a:t>
            </a:r>
          </a:p>
        </p:txBody>
      </p:sp>
      <p:sp>
        <p:nvSpPr>
          <p:cNvPr id="17" name="Rounded Rectangle 16"/>
          <p:cNvSpPr/>
          <p:nvPr/>
        </p:nvSpPr>
        <p:spPr>
          <a:xfrm>
            <a:off x="952500" y="4495800"/>
            <a:ext cx="114300" cy="114300"/>
          </a:xfrm>
          <a:prstGeom prst="roundRect">
            <a:avLst/>
          </a:prstGeom>
          <a:solidFill>
            <a:srgbClr val="FB9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333500" y="4432300"/>
            <a:ext cx="1397000" cy="203200"/>
          </a:xfrm>
          <a:prstGeom prst="rect">
            <a:avLst/>
          </a:prstGeom>
          <a:noFill/>
        </p:spPr>
        <p:txBody>
          <a:bodyPr wrap="square" anchor="t" lIns="25400" rIns="25400" tIns="0" bIns="0">
            <a:noAutofit/>
          </a:bodyPr>
          <a:lstStyle/>
          <a:p>
            <a:pPr algn="l">
              <a:lnSpc>
                <a:spcPct val="100000"/>
              </a:lnSpc>
            </a:pPr>
            <a:r>
              <a:rPr sz="2200" b="1">
                <a:solidFill>
                  <a:srgbClr val="F6F1E8"/>
                </a:solidFill>
                <a:latin typeface="Arial Narrow"/>
              </a:rPr>
              <a:t>Weeks 3–5</a:t>
            </a:r>
          </a:p>
        </p:txBody>
      </p:sp>
      <p:sp>
        <p:nvSpPr>
          <p:cNvPr id="19" name="TextBox 18"/>
          <p:cNvSpPr txBox="1"/>
          <p:nvPr/>
        </p:nvSpPr>
        <p:spPr>
          <a:xfrm>
            <a:off x="1333500" y="4699000"/>
            <a:ext cx="5016500" cy="368300"/>
          </a:xfrm>
          <a:prstGeom prst="rect">
            <a:avLst/>
          </a:prstGeom>
          <a:noFill/>
        </p:spPr>
        <p:txBody>
          <a:bodyPr wrap="square" anchor="t" lIns="25400" rIns="25400" tIns="0" bIns="0">
            <a:noAutofit/>
          </a:bodyPr>
          <a:lstStyle/>
          <a:p>
            <a:pPr algn="l">
              <a:lnSpc>
                <a:spcPct val="100000"/>
              </a:lnSpc>
            </a:pPr>
            <a:r>
              <a:rPr sz="1500" b="1">
                <a:solidFill>
                  <a:srgbClr val="A8B5C8"/>
                </a:solidFill>
                <a:latin typeface="Arial"/>
              </a:rPr>
              <a:t>Run a small user group, measure cycle-time reduction, and identify the permissions that unlock the next tier of value.</a:t>
            </a:r>
          </a:p>
        </p:txBody>
      </p:sp>
      <p:sp>
        <p:nvSpPr>
          <p:cNvPr id="20" name="Rounded Rectangle 19"/>
          <p:cNvSpPr/>
          <p:nvPr/>
        </p:nvSpPr>
        <p:spPr>
          <a:xfrm>
            <a:off x="7874000" y="2032000"/>
            <a:ext cx="3746500" cy="3429000"/>
          </a:xfrm>
          <a:prstGeom prst="roundRect">
            <a:avLst/>
          </a:prstGeom>
          <a:solidFill>
            <a:srgbClr val="0C1828"/>
          </a:solidFill>
          <a:ln w="19050">
            <a:solidFill>
              <a:srgbClr val="273D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28000" y="2260600"/>
            <a:ext cx="2857500" cy="571500"/>
          </a:xfrm>
          <a:prstGeom prst="rect">
            <a:avLst/>
          </a:prstGeom>
          <a:noFill/>
        </p:spPr>
        <p:txBody>
          <a:bodyPr wrap="square" anchor="t" lIns="25400" rIns="25400" tIns="0" bIns="0">
            <a:noAutofit/>
          </a:bodyPr>
          <a:lstStyle/>
          <a:p>
            <a:pPr algn="l">
              <a:lnSpc>
                <a:spcPct val="95000"/>
              </a:lnSpc>
            </a:pPr>
            <a:r>
              <a:rPr sz="2600" b="1">
                <a:solidFill>
                  <a:srgbClr val="F6F1E8"/>
                </a:solidFill>
                <a:latin typeface="Arial Narrow"/>
              </a:rPr>
              <a:t>What success would look</a:t>
            </a:r>
          </a:p>
          <a:p>
            <a:pPr algn="l">
              <a:lnSpc>
                <a:spcPct val="95000"/>
              </a:lnSpc>
            </a:pPr>
            <a:r>
              <a:rPr sz="2600" b="1">
                <a:solidFill>
                  <a:srgbClr val="F6F1E8"/>
                </a:solidFill>
                <a:latin typeface="Arial Narrow"/>
              </a:rPr>
              <a:t>like</a:t>
            </a:r>
          </a:p>
        </p:txBody>
      </p:sp>
      <p:sp>
        <p:nvSpPr>
          <p:cNvPr id="22" name="Rounded Rectangle 21"/>
          <p:cNvSpPr/>
          <p:nvPr/>
        </p:nvSpPr>
        <p:spPr>
          <a:xfrm>
            <a:off x="8128000" y="2857500"/>
            <a:ext cx="3175000" cy="596900"/>
          </a:xfrm>
          <a:prstGeom prst="roundRect">
            <a:avLst/>
          </a:prstGeom>
          <a:solidFill>
            <a:srgbClr val="17304B"/>
          </a:solidFill>
          <a:ln w="19050">
            <a:solidFill>
              <a:srgbClr val="3046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05800" y="2933700"/>
            <a:ext cx="2730500" cy="190500"/>
          </a:xfrm>
          <a:prstGeom prst="rect">
            <a:avLst/>
          </a:prstGeom>
          <a:noFill/>
        </p:spPr>
        <p:txBody>
          <a:bodyPr wrap="square" anchor="t" lIns="25400" rIns="25400" tIns="0" bIns="0">
            <a:noAutofit/>
          </a:bodyPr>
          <a:lstStyle/>
          <a:p>
            <a:pPr algn="l">
              <a:lnSpc>
                <a:spcPct val="100000"/>
              </a:lnSpc>
            </a:pPr>
            <a:r>
              <a:rPr sz="2100" b="1">
                <a:solidFill>
                  <a:srgbClr val="F6F1E8"/>
                </a:solidFill>
                <a:latin typeface="Arial Narrow"/>
              </a:rPr>
              <a:t>Faster checklist maintenance</a:t>
            </a:r>
          </a:p>
        </p:txBody>
      </p:sp>
      <p:sp>
        <p:nvSpPr>
          <p:cNvPr id="24" name="TextBox 23"/>
          <p:cNvSpPr txBox="1"/>
          <p:nvPr/>
        </p:nvSpPr>
        <p:spPr>
          <a:xfrm>
            <a:off x="8305800" y="3149600"/>
            <a:ext cx="2730500" cy="215900"/>
          </a:xfrm>
          <a:prstGeom prst="rect">
            <a:avLst/>
          </a:prstGeom>
          <a:noFill/>
        </p:spPr>
        <p:txBody>
          <a:bodyPr wrap="square" anchor="t" lIns="25400" rIns="25400" tIns="0" bIns="0">
            <a:noAutofit/>
          </a:bodyPr>
          <a:lstStyle/>
          <a:p>
            <a:pPr algn="l">
              <a:lnSpc>
                <a:spcPct val="100000"/>
              </a:lnSpc>
            </a:pPr>
            <a:r>
              <a:rPr sz="1300" b="1">
                <a:solidFill>
                  <a:srgbClr val="A8B5C8"/>
                </a:solidFill>
                <a:latin typeface="Arial"/>
              </a:rPr>
              <a:t>Comments and status updated from actual matter activity</a:t>
            </a:r>
          </a:p>
        </p:txBody>
      </p:sp>
      <p:sp>
        <p:nvSpPr>
          <p:cNvPr id="25" name="Rounded Rectangle 24"/>
          <p:cNvSpPr/>
          <p:nvPr/>
        </p:nvSpPr>
        <p:spPr>
          <a:xfrm>
            <a:off x="8128000" y="3530600"/>
            <a:ext cx="3175000" cy="596900"/>
          </a:xfrm>
          <a:prstGeom prst="roundRect">
            <a:avLst/>
          </a:prstGeom>
          <a:solidFill>
            <a:srgbClr val="17304B"/>
          </a:solidFill>
          <a:ln w="19050">
            <a:solidFill>
              <a:srgbClr val="3046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05800" y="3606800"/>
            <a:ext cx="2730500" cy="190500"/>
          </a:xfrm>
          <a:prstGeom prst="rect">
            <a:avLst/>
          </a:prstGeom>
          <a:noFill/>
        </p:spPr>
        <p:txBody>
          <a:bodyPr wrap="square" anchor="t" lIns="25400" rIns="25400" tIns="0" bIns="0">
            <a:noAutofit/>
          </a:bodyPr>
          <a:lstStyle/>
          <a:p>
            <a:pPr algn="l">
              <a:lnSpc>
                <a:spcPct val="100000"/>
              </a:lnSpc>
            </a:pPr>
            <a:r>
              <a:rPr sz="2100" b="1">
                <a:solidFill>
                  <a:srgbClr val="F6F1E8"/>
                </a:solidFill>
                <a:latin typeface="Arial Narrow"/>
              </a:rPr>
              <a:t>Less manual packet work</a:t>
            </a:r>
          </a:p>
        </p:txBody>
      </p:sp>
      <p:sp>
        <p:nvSpPr>
          <p:cNvPr id="27" name="TextBox 26"/>
          <p:cNvSpPr txBox="1"/>
          <p:nvPr/>
        </p:nvSpPr>
        <p:spPr>
          <a:xfrm>
            <a:off x="8305800" y="3822700"/>
            <a:ext cx="2730500" cy="215900"/>
          </a:xfrm>
          <a:prstGeom prst="rect">
            <a:avLst/>
          </a:prstGeom>
          <a:noFill/>
        </p:spPr>
        <p:txBody>
          <a:bodyPr wrap="square" anchor="t" lIns="25400" rIns="25400" tIns="0" bIns="0">
            <a:noAutofit/>
          </a:bodyPr>
          <a:lstStyle/>
          <a:p>
            <a:pPr algn="l">
              <a:lnSpc>
                <a:spcPct val="100000"/>
              </a:lnSpc>
            </a:pPr>
            <a:r>
              <a:rPr sz="1300" b="1">
                <a:solidFill>
                  <a:srgbClr val="A8B5C8"/>
                </a:solidFill>
                <a:latin typeface="Arial"/>
              </a:rPr>
              <a:t>Signature and executed-version assembly compressed materially</a:t>
            </a:r>
          </a:p>
        </p:txBody>
      </p:sp>
      <p:sp>
        <p:nvSpPr>
          <p:cNvPr id="28" name="Rounded Rectangle 27"/>
          <p:cNvSpPr/>
          <p:nvPr/>
        </p:nvSpPr>
        <p:spPr>
          <a:xfrm>
            <a:off x="8128000" y="4203700"/>
            <a:ext cx="3175000" cy="596900"/>
          </a:xfrm>
          <a:prstGeom prst="roundRect">
            <a:avLst/>
          </a:prstGeom>
          <a:solidFill>
            <a:srgbClr val="17304B"/>
          </a:solidFill>
          <a:ln w="19050">
            <a:solidFill>
              <a:srgbClr val="3046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05800" y="4279900"/>
            <a:ext cx="2730500" cy="190500"/>
          </a:xfrm>
          <a:prstGeom prst="rect">
            <a:avLst/>
          </a:prstGeom>
          <a:noFill/>
        </p:spPr>
        <p:txBody>
          <a:bodyPr wrap="square" anchor="t" lIns="25400" rIns="25400" tIns="0" bIns="0">
            <a:noAutofit/>
          </a:bodyPr>
          <a:lstStyle/>
          <a:p>
            <a:pPr algn="l">
              <a:lnSpc>
                <a:spcPct val="100000"/>
              </a:lnSpc>
            </a:pPr>
            <a:r>
              <a:rPr sz="2100" b="1">
                <a:solidFill>
                  <a:srgbClr val="F6F1E8"/>
                </a:solidFill>
                <a:latin typeface="Arial Narrow"/>
              </a:rPr>
              <a:t>Lower write-off pressure</a:t>
            </a:r>
          </a:p>
        </p:txBody>
      </p:sp>
      <p:sp>
        <p:nvSpPr>
          <p:cNvPr id="30" name="TextBox 29"/>
          <p:cNvSpPr txBox="1"/>
          <p:nvPr/>
        </p:nvSpPr>
        <p:spPr>
          <a:xfrm>
            <a:off x="8305800" y="4495800"/>
            <a:ext cx="2730500" cy="215900"/>
          </a:xfrm>
          <a:prstGeom prst="rect">
            <a:avLst/>
          </a:prstGeom>
          <a:noFill/>
        </p:spPr>
        <p:txBody>
          <a:bodyPr wrap="square" anchor="t" lIns="25400" rIns="25400" tIns="0" bIns="0">
            <a:noAutofit/>
          </a:bodyPr>
          <a:lstStyle/>
          <a:p>
            <a:pPr algn="l">
              <a:lnSpc>
                <a:spcPct val="100000"/>
              </a:lnSpc>
            </a:pPr>
            <a:r>
              <a:rPr sz="1300" b="1">
                <a:solidFill>
                  <a:srgbClr val="A8B5C8"/>
                </a:solidFill>
                <a:latin typeface="Arial"/>
              </a:rPr>
              <a:t>Less lawyer time spent on operational execution</a:t>
            </a:r>
          </a:p>
        </p:txBody>
      </p:sp>
      <p:sp>
        <p:nvSpPr>
          <p:cNvPr id="31" name="Rounded Rectangle 30"/>
          <p:cNvSpPr/>
          <p:nvPr/>
        </p:nvSpPr>
        <p:spPr>
          <a:xfrm>
            <a:off x="8128000" y="4876800"/>
            <a:ext cx="3175000" cy="596900"/>
          </a:xfrm>
          <a:prstGeom prst="roundRect">
            <a:avLst/>
          </a:prstGeom>
          <a:solidFill>
            <a:srgbClr val="17304B"/>
          </a:solidFill>
          <a:ln w="19050">
            <a:solidFill>
              <a:srgbClr val="3046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305800" y="4953000"/>
            <a:ext cx="2730500" cy="190500"/>
          </a:xfrm>
          <a:prstGeom prst="rect">
            <a:avLst/>
          </a:prstGeom>
          <a:noFill/>
        </p:spPr>
        <p:txBody>
          <a:bodyPr wrap="square" anchor="t" lIns="25400" rIns="25400" tIns="0" bIns="0">
            <a:noAutofit/>
          </a:bodyPr>
          <a:lstStyle/>
          <a:p>
            <a:pPr algn="l">
              <a:lnSpc>
                <a:spcPct val="100000"/>
              </a:lnSpc>
            </a:pPr>
            <a:r>
              <a:rPr sz="2100" b="1">
                <a:solidFill>
                  <a:srgbClr val="F6F1E8"/>
                </a:solidFill>
                <a:latin typeface="Arial Narrow"/>
              </a:rPr>
              <a:t>Clear integration roadmap</a:t>
            </a:r>
          </a:p>
        </p:txBody>
      </p:sp>
      <p:sp>
        <p:nvSpPr>
          <p:cNvPr id="33" name="TextBox 32"/>
          <p:cNvSpPr txBox="1"/>
          <p:nvPr/>
        </p:nvSpPr>
        <p:spPr>
          <a:xfrm>
            <a:off x="8305800" y="5168900"/>
            <a:ext cx="2730500" cy="215900"/>
          </a:xfrm>
          <a:prstGeom prst="rect">
            <a:avLst/>
          </a:prstGeom>
          <a:noFill/>
        </p:spPr>
        <p:txBody>
          <a:bodyPr wrap="square" anchor="t" lIns="25400" rIns="25400" tIns="0" bIns="0">
            <a:noAutofit/>
          </a:bodyPr>
          <a:lstStyle/>
          <a:p>
            <a:pPr algn="l">
              <a:lnSpc>
                <a:spcPct val="100000"/>
              </a:lnSpc>
            </a:pPr>
            <a:r>
              <a:rPr sz="1300" b="1">
                <a:solidFill>
                  <a:srgbClr val="A8B5C8"/>
                </a:solidFill>
                <a:latin typeface="Arial"/>
              </a:rPr>
              <a:t>Know exactly which permissions unlock the next tier of value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